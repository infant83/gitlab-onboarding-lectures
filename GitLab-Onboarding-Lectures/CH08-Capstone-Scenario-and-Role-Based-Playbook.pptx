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embeddedFontLst>
    <p:embeddedFont>
      <p:font typeface="Noto Sans KR"/>
      <p:regular r:id="rId201314"/>
      <p:bold r:id="rId301314"/>
    </p:embeddedFont>
    <p:embeddedFont>
      <p:font typeface="TimesNewRomanPS-ItalicMT"/>
      <p:regular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301314" Target="fonts/301314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png"/><Relationship Id="rId13" Type="http://schemas.openxmlformats.org/officeDocument/2006/relationships/image" Target="../media/image-12-13.png"/><Relationship Id="rId14" Type="http://schemas.openxmlformats.org/officeDocument/2006/relationships/image" Target="../media/image-12-14.png"/><Relationship Id="rId15" Type="http://schemas.openxmlformats.org/officeDocument/2006/relationships/image" Target="../media/image-12-15.png"/><Relationship Id="rId16" Type="http://schemas.openxmlformats.org/officeDocument/2006/relationships/image" Target="../media/image-12-16.png"/><Relationship Id="rId17" Type="http://schemas.openxmlformats.org/officeDocument/2006/relationships/image" Target="../media/image-12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image" Target="../media/image-14-10.png"/><Relationship Id="rId11" Type="http://schemas.openxmlformats.org/officeDocument/2006/relationships/image" Target="../media/image-14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image" Target="../media/image-15-10.png"/><Relationship Id="rId11" Type="http://schemas.openxmlformats.org/officeDocument/2006/relationships/image" Target="../media/image-15-11.png"/><Relationship Id="rId12" Type="http://schemas.openxmlformats.org/officeDocument/2006/relationships/image" Target="../media/image-15-12.png"/><Relationship Id="rId13" Type="http://schemas.openxmlformats.org/officeDocument/2006/relationships/image" Target="../media/image-15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905125" y="1219200"/>
            <a:ext cx="6034980" cy="97482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838"/>
              </a:lnSpc>
              <a:buNone/>
            </a:pPr>
            <a:r>
              <a:rPr lang="en-US" sz="3225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GitLab 협업 전체 흐름을 하나로</a:t>
            </a:r>
            <a:pPr indent="0" marL="0">
              <a:lnSpc>
                <a:spcPts val="3838"/>
              </a:lnSpc>
              <a:buNone/>
            </a:pPr>
            <a:r>
              <a:rPr lang="en-US" sz="3225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3838"/>
              </a:lnSpc>
              <a:buNone/>
            </a:pPr>
            <a:r>
              <a:rPr lang="en-US" sz="3225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연결하는 capstone</a:t>
            </a:r>
            <a:endParaRPr lang="en-US" sz="3225" dirty="0"/>
          </a:p>
        </p:txBody>
      </p:sp>
      <p:sp>
        <p:nvSpPr>
          <p:cNvPr id="4" name="Text 1"/>
          <p:cNvSpPr/>
          <p:nvPr/>
        </p:nvSpPr>
        <p:spPr>
          <a:xfrm>
            <a:off x="1655862" y="1476375"/>
            <a:ext cx="660053" cy="38531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3035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개요</a:t>
            </a:r>
            <a:endParaRPr lang="en-US" sz="2550" dirty="0"/>
          </a:p>
        </p:txBody>
      </p:sp>
      <p:sp>
        <p:nvSpPr>
          <p:cNvPr id="5" name="Text 2"/>
          <p:cNvSpPr/>
          <p:nvPr/>
        </p:nvSpPr>
        <p:spPr>
          <a:xfrm>
            <a:off x="2181225" y="2924175"/>
            <a:ext cx="1600200" cy="3173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99"/>
              </a:lnSpc>
              <a:buNone/>
            </a:pPr>
            <a:r>
              <a:rPr lang="en-US" sz="2100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개념 통합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2181225" y="4067175"/>
            <a:ext cx="4800600" cy="3173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99"/>
              </a:lnSpc>
              <a:buNone/>
            </a:pPr>
            <a:r>
              <a:rPr lang="en-US" sz="2100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End-to-End 시나리오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2181225" y="5286375"/>
            <a:ext cx="1920240" cy="3173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99"/>
              </a:lnSpc>
              <a:buNone/>
            </a:pPr>
            <a:r>
              <a:rPr lang="en-US" sz="2100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역할별 정의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7172325" y="2924175"/>
            <a:ext cx="3520440" cy="3173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99"/>
              </a:lnSpc>
              <a:buNone/>
            </a:pPr>
            <a:r>
              <a:rPr lang="en-US" sz="2100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추적성 및 준비 상태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7172325" y="4067175"/>
            <a:ext cx="2240280" cy="3173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99"/>
              </a:lnSpc>
              <a:buNone/>
            </a:pPr>
            <a:r>
              <a:rPr lang="en-US" sz="2100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돌백 플레이북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7172325" y="5267325"/>
            <a:ext cx="3200400" cy="3173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99"/>
              </a:lnSpc>
              <a:buNone/>
            </a:pPr>
            <a:r>
              <a:rPr lang="en-US" sz="2100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 운영 체크리스트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2181225" y="3295650"/>
            <a:ext cx="3216473" cy="52149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53"/>
              </a:lnSpc>
              <a:buNone/>
            </a:pPr>
            <a:r>
              <a:rPr lang="en-US" sz="172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Git·CI·리뷰·승인·장애 대응을</a:t>
            </a:r>
            <a:pPr indent="0" marL="0">
              <a:lnSpc>
                <a:spcPts val="2053"/>
              </a:lnSpc>
              <a:buNone/>
            </a:pPr>
            <a:r>
              <a:rPr lang="en-US" sz="172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53"/>
              </a:lnSpc>
              <a:buNone/>
            </a:pPr>
            <a:r>
              <a:rPr lang="en-US" sz="172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단일 흐름으로 연결</a:t>
            </a:r>
            <a:endParaRPr lang="en-US" sz="1725" dirty="0"/>
          </a:p>
        </p:txBody>
      </p:sp>
      <p:sp>
        <p:nvSpPr>
          <p:cNvPr id="12" name="Text 9"/>
          <p:cNvSpPr/>
          <p:nvPr/>
        </p:nvSpPr>
        <p:spPr>
          <a:xfrm>
            <a:off x="2181225" y="4438650"/>
            <a:ext cx="4316611" cy="52149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53"/>
              </a:lnSpc>
              <a:buNone/>
            </a:pPr>
            <a:r>
              <a:rPr lang="en-US" sz="172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계획→구현→리뷰→승인→파이프라인→</a:t>
            </a:r>
            <a:pPr indent="0" marL="0">
              <a:lnSpc>
                <a:spcPts val="2053"/>
              </a:lnSpc>
              <a:buNone/>
            </a:pPr>
            <a:r>
              <a:rPr lang="en-US" sz="172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53"/>
              </a:lnSpc>
              <a:buNone/>
            </a:pPr>
            <a:r>
              <a:rPr lang="en-US" sz="172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배포→돌백 전 과정 수행</a:t>
            </a:r>
            <a:endParaRPr lang="en-US" sz="1725" dirty="0"/>
          </a:p>
        </p:txBody>
      </p:sp>
      <p:sp>
        <p:nvSpPr>
          <p:cNvPr id="13" name="Text 10"/>
          <p:cNvSpPr/>
          <p:nvPr/>
        </p:nvSpPr>
        <p:spPr>
          <a:xfrm>
            <a:off x="2181225" y="5657850"/>
            <a:ext cx="3509963" cy="52149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53"/>
              </a:lnSpc>
              <a:buNone/>
            </a:pPr>
            <a:r>
              <a:rPr lang="en-US" sz="172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Owner·Maintainer·Developer</a:t>
            </a:r>
            <a:pPr indent="0" marL="0">
              <a:lnSpc>
                <a:spcPts val="2053"/>
              </a:lnSpc>
              <a:buNone/>
            </a:pPr>
            <a:r>
              <a:rPr lang="en-US" sz="172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53"/>
              </a:lnSpc>
              <a:buNone/>
            </a:pPr>
            <a:r>
              <a:rPr lang="en-US" sz="172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 역할의 행동 기준 명확화</a:t>
            </a:r>
            <a:endParaRPr lang="en-US" sz="1725" dirty="0"/>
          </a:p>
        </p:txBody>
      </p:sp>
      <p:sp>
        <p:nvSpPr>
          <p:cNvPr id="14" name="Text 11"/>
          <p:cNvSpPr/>
          <p:nvPr/>
        </p:nvSpPr>
        <p:spPr>
          <a:xfrm>
            <a:off x="7172325" y="3295650"/>
            <a:ext cx="3530798" cy="52149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53"/>
              </a:lnSpc>
              <a:buNone/>
            </a:pPr>
            <a:r>
              <a:rPr lang="en-US" sz="172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이슈·MR·파이프라인을 연결하는</a:t>
            </a:r>
            <a:pPr indent="0" marL="0">
              <a:lnSpc>
                <a:spcPts val="2053"/>
              </a:lnSpc>
              <a:buNone/>
            </a:pPr>
            <a:r>
              <a:rPr lang="en-US" sz="172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53"/>
              </a:lnSpc>
              <a:buNone/>
            </a:pPr>
            <a:r>
              <a:rPr lang="en-US" sz="172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추적 체계 구축</a:t>
            </a:r>
            <a:endParaRPr lang="en-US" sz="1725" dirty="0"/>
          </a:p>
        </p:txBody>
      </p:sp>
      <p:sp>
        <p:nvSpPr>
          <p:cNvPr id="15" name="Text 12"/>
          <p:cNvSpPr/>
          <p:nvPr/>
        </p:nvSpPr>
        <p:spPr>
          <a:xfrm>
            <a:off x="7172325" y="4438650"/>
            <a:ext cx="3771900" cy="52149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53"/>
              </a:lnSpc>
              <a:buNone/>
            </a:pPr>
            <a:r>
              <a:rPr lang="en-US" sz="172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장애 시 코드·모델 돌백 결정 기준과</a:t>
            </a:r>
            <a:pPr indent="0" marL="0">
              <a:lnSpc>
                <a:spcPts val="2053"/>
              </a:lnSpc>
              <a:buNone/>
            </a:pPr>
            <a:r>
              <a:rPr lang="en-US" sz="172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53"/>
              </a:lnSpc>
              <a:buNone/>
            </a:pPr>
            <a:r>
              <a:rPr lang="en-US" sz="172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복구 절차 안내</a:t>
            </a:r>
            <a:endParaRPr lang="en-US" sz="1725" dirty="0"/>
          </a:p>
        </p:txBody>
      </p:sp>
      <p:sp>
        <p:nvSpPr>
          <p:cNvPr id="16" name="Text 13"/>
          <p:cNvSpPr/>
          <p:nvPr/>
        </p:nvSpPr>
        <p:spPr>
          <a:xfrm>
            <a:off x="7172325" y="5638800"/>
            <a:ext cx="5019675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53"/>
              </a:lnSpc>
              <a:buNone/>
            </a:pPr>
            <a:r>
              <a:rPr lang="en-US" sz="172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브랜치·CI·장애 규칙 팀별 기준 전환</a:t>
            </a:r>
            <a:endParaRPr lang="en-US" sz="1725" dirty="0"/>
          </a:p>
        </p:txBody>
      </p:sp>
      <p:sp>
        <p:nvSpPr>
          <p:cNvPr id="17" name="Text 14"/>
          <p:cNvSpPr/>
          <p:nvPr/>
        </p:nvSpPr>
        <p:spPr>
          <a:xfrm>
            <a:off x="9648825" y="6467475"/>
            <a:ext cx="1943100" cy="16028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262"/>
              </a:lnSpc>
              <a:buNone/>
            </a:pPr>
            <a:r>
              <a:rPr lang="en-US" sz="1275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275" dirty="0"/>
          </a:p>
        </p:txBody>
      </p:sp>
      <p:sp>
        <p:nvSpPr>
          <p:cNvPr id="18" name="Text 15"/>
          <p:cNvSpPr/>
          <p:nvPr/>
        </p:nvSpPr>
        <p:spPr>
          <a:xfrm>
            <a:off x="9144000" y="6467475"/>
            <a:ext cx="822960" cy="11310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891"/>
              </a:lnSpc>
              <a:buNone/>
            </a:pPr>
            <a:r>
              <a:rPr lang="en-US" sz="900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Tandem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0841831" y="190500"/>
            <a:ext cx="1204913" cy="30182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188"/>
              </a:lnSpc>
              <a:buNone/>
            </a:pPr>
            <a:r>
              <a:rPr lang="en-US" sz="1200" b="1" dirty="0">
                <a:solidFill>
                  <a:srgbClr val="B5004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You Dream,</a:t>
            </a:r>
            <a:pPr algn="ctr" indent="0" marL="0">
              <a:lnSpc>
                <a:spcPts val="1188"/>
              </a:lnSpc>
              <a:buNone/>
            </a:pPr>
            <a:r>
              <a:rPr lang="en-US" sz="1200" b="1" dirty="0">
                <a:solidFill>
                  <a:srgbClr val="B5004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188"/>
              </a:lnSpc>
              <a:buNone/>
            </a:pPr>
            <a:r>
              <a:rPr lang="en-US" sz="1200" b="1" dirty="0">
                <a:solidFill>
                  <a:srgbClr val="B5004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 Display.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820668" y="6734175"/>
            <a:ext cx="607665" cy="977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770"/>
              </a:lnSpc>
              <a:buNone/>
            </a:pPr>
            <a:r>
              <a:rPr lang="en-US" sz="97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PUBLIC</a:t>
            </a:r>
            <a:endParaRPr lang="en-US" sz="9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6652171"/>
            <a:ext cx="268188" cy="20568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1953" y="6638479"/>
            <a:ext cx="280392" cy="219373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557" y="6604248"/>
            <a:ext cx="255984" cy="253603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082" y="1652736"/>
            <a:ext cx="5254675" cy="4334173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590550" y="142875"/>
            <a:ext cx="11601450" cy="34007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678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시나리오 맵 / end-to-end capstone map</a:t>
            </a:r>
            <a:endParaRPr lang="en-US" sz="2250" dirty="0"/>
          </a:p>
        </p:txBody>
      </p:sp>
      <p:sp>
        <p:nvSpPr>
          <p:cNvPr id="8" name="Text 1"/>
          <p:cNvSpPr/>
          <p:nvPr/>
        </p:nvSpPr>
        <p:spPr>
          <a:xfrm>
            <a:off x="352425" y="781050"/>
            <a:ext cx="5554980" cy="30867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30"/>
              </a:lnSpc>
              <a:buNone/>
            </a:pPr>
            <a:r>
              <a:rPr lang="en-US" sz="20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협업 흐름과 주요 체크포인트</a:t>
            </a:r>
            <a:endParaRPr lang="en-US" sz="2025" dirty="0"/>
          </a:p>
        </p:txBody>
      </p:sp>
      <p:sp>
        <p:nvSpPr>
          <p:cNvPr id="9" name="Text 2"/>
          <p:cNvSpPr/>
          <p:nvPr/>
        </p:nvSpPr>
        <p:spPr>
          <a:xfrm>
            <a:off x="6443067" y="1514475"/>
            <a:ext cx="115193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428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3"/>
          <p:cNvSpPr/>
          <p:nvPr/>
        </p:nvSpPr>
        <p:spPr>
          <a:xfrm>
            <a:off x="6443067" y="2362200"/>
            <a:ext cx="115193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428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4"/>
          <p:cNvSpPr/>
          <p:nvPr/>
        </p:nvSpPr>
        <p:spPr>
          <a:xfrm>
            <a:off x="6443067" y="3162300"/>
            <a:ext cx="115193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428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5"/>
          <p:cNvSpPr/>
          <p:nvPr/>
        </p:nvSpPr>
        <p:spPr>
          <a:xfrm>
            <a:off x="6443067" y="3990975"/>
            <a:ext cx="115193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428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200" dirty="0"/>
          </a:p>
        </p:txBody>
      </p:sp>
      <p:sp>
        <p:nvSpPr>
          <p:cNvPr id="13" name="Text 6"/>
          <p:cNvSpPr/>
          <p:nvPr/>
        </p:nvSpPr>
        <p:spPr>
          <a:xfrm>
            <a:off x="6753225" y="1495425"/>
            <a:ext cx="3086100" cy="20404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07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계획 ~ 코드 구현 및 리뷰</a:t>
            </a:r>
            <a:endParaRPr lang="en-US" sz="1350" dirty="0"/>
          </a:p>
        </p:txBody>
      </p:sp>
      <p:sp>
        <p:nvSpPr>
          <p:cNvPr id="14" name="Text 7"/>
          <p:cNvSpPr/>
          <p:nvPr/>
        </p:nvSpPr>
        <p:spPr>
          <a:xfrm>
            <a:off x="6753225" y="3133725"/>
            <a:ext cx="3086100" cy="20404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07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배포 ~ 장애 대응 및 복구</a:t>
            </a:r>
            <a:endParaRPr lang="en-US" sz="1350" dirty="0"/>
          </a:p>
        </p:txBody>
      </p:sp>
      <p:sp>
        <p:nvSpPr>
          <p:cNvPr id="15" name="Text 8"/>
          <p:cNvSpPr/>
          <p:nvPr/>
        </p:nvSpPr>
        <p:spPr>
          <a:xfrm>
            <a:off x="6810375" y="4743450"/>
            <a:ext cx="3703320" cy="20404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07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 단계 추적성 및 의사결정 기록</a:t>
            </a:r>
            <a:endParaRPr lang="en-US" sz="1350" dirty="0"/>
          </a:p>
        </p:txBody>
      </p:sp>
      <p:sp>
        <p:nvSpPr>
          <p:cNvPr id="16" name="Text 9"/>
          <p:cNvSpPr/>
          <p:nvPr/>
        </p:nvSpPr>
        <p:spPr>
          <a:xfrm>
            <a:off x="6701730" y="1838325"/>
            <a:ext cx="5490270" cy="20404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0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fork feature 브랜치 분기 후 코드 구현 (permissions.js 변경 등)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6810375" y="2362200"/>
            <a:ext cx="5381625" cy="20404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0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Merge Request 통한 코드 품질 확보 (리뷰/승인)</a:t>
            </a:r>
            <a:endParaRPr lang="en-US" sz="1350" dirty="0"/>
          </a:p>
        </p:txBody>
      </p:sp>
      <p:sp>
        <p:nvSpPr>
          <p:cNvPr id="18" name="Text 11"/>
          <p:cNvSpPr/>
          <p:nvPr/>
        </p:nvSpPr>
        <p:spPr>
          <a:xfrm>
            <a:off x="6810375" y="3448050"/>
            <a:ext cx="5280571" cy="81617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0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fork main 브랜치 분기 후 자동 배포 (release)</a:t>
            </a:r>
            <a:pPr indent="0" marL="0">
              <a:lnSpc>
                <a:spcPts val="160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60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배포 후 이상 징후 모니터링 및 즉시 감지 (장애)</a:t>
            </a:r>
            <a:pPr indent="0" marL="0">
              <a:lnSpc>
                <a:spcPts val="160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60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Owner 승인 하에 git revert로 안전하게 이전 상태 복구 (복구)</a:t>
            </a:r>
            <a:pPr indent="0" marL="0">
              <a:lnSpc>
                <a:spcPts val="160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60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*운영 환경의 안정성 확보 및 사고 복구*</a:t>
            </a:r>
            <a:endParaRPr lang="en-US" sz="1350" dirty="0"/>
          </a:p>
        </p:txBody>
      </p:sp>
      <p:sp>
        <p:nvSpPr>
          <p:cNvPr id="19" name="Text 12"/>
          <p:cNvSpPr/>
          <p:nvPr/>
        </p:nvSpPr>
        <p:spPr>
          <a:xfrm>
            <a:off x="6810375" y="5057775"/>
            <a:ext cx="4201418" cy="81617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0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fork 이슈-MR-파이프라인-태그의 단일 흐름 연결</a:t>
            </a:r>
            <a:pPr indent="0" marL="0">
              <a:lnSpc>
                <a:spcPts val="160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60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 발생 시 원인 분석 및 신속 대응의 기반</a:t>
            </a:r>
            <a:pPr indent="0" marL="0">
              <a:lnSpc>
                <a:spcPts val="160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60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배포 및 롤백 의사결정의 명확한 기록 (traceability)</a:t>
            </a:r>
            <a:pPr indent="0" marL="0">
              <a:lnSpc>
                <a:spcPts val="160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60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*협업 전제 과정의 가시성과 투명성 증대*</a:t>
            </a:r>
            <a:endParaRPr lang="en-US" sz="1350" dirty="0"/>
          </a:p>
        </p:txBody>
      </p:sp>
      <p:sp>
        <p:nvSpPr>
          <p:cNvPr id="20" name="Text 13"/>
          <p:cNvSpPr/>
          <p:nvPr/>
        </p:nvSpPr>
        <p:spPr>
          <a:xfrm>
            <a:off x="8399115" y="152400"/>
            <a:ext cx="3792736" cy="36284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428"/>
              </a:lnSpc>
              <a:buNone/>
            </a:pPr>
            <a:r>
              <a:rPr lang="en-US" sz="1200" dirty="0">
                <a:solidFill>
                  <a:srgbClr val="787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Capstone Scenario and Role-Based Playbook</a:t>
            </a:r>
            <a:pPr algn="r" indent="0" marL="0">
              <a:lnSpc>
                <a:spcPts val="1428"/>
              </a:lnSpc>
              <a:buNone/>
            </a:pPr>
            <a:r>
              <a:rPr lang="en-US" sz="1200" dirty="0">
                <a:solidFill>
                  <a:srgbClr val="787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r" indent="0" marL="0">
              <a:lnSpc>
                <a:spcPts val="1428"/>
              </a:lnSpc>
              <a:buNone/>
            </a:pPr>
            <a:r>
              <a:rPr lang="en-US" sz="1200" dirty="0">
                <a:solidFill>
                  <a:srgbClr val="787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캡스톤 시나리오 및 역할 기반 가이드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5813524" y="6734175"/>
            <a:ext cx="555278" cy="9435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743"/>
              </a:lnSpc>
              <a:buNone/>
            </a:pPr>
            <a:r>
              <a:rPr lang="en-US" sz="750" dirty="0">
                <a:solidFill>
                  <a:srgbClr val="787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PUBLIC |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5796" y="6659017"/>
            <a:ext cx="292596" cy="191988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1953" y="6645325"/>
            <a:ext cx="280392" cy="212527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557" y="6617940"/>
            <a:ext cx="268188" cy="239911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098" y="1604665"/>
            <a:ext cx="11265396" cy="4183261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638175" y="523875"/>
            <a:ext cx="8846820" cy="51196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4031"/>
              </a:lnSpc>
              <a:buNone/>
            </a:pPr>
            <a:r>
              <a:rPr lang="en-US" sz="3225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 역할을 시나리오 안에 배치하기</a:t>
            </a:r>
            <a:endParaRPr lang="en-US" sz="3225" dirty="0"/>
          </a:p>
        </p:txBody>
      </p:sp>
      <p:sp>
        <p:nvSpPr>
          <p:cNvPr id="8" name="Text 1"/>
          <p:cNvSpPr/>
          <p:nvPr/>
        </p:nvSpPr>
        <p:spPr>
          <a:xfrm>
            <a:off x="9525000" y="171450"/>
            <a:ext cx="2577405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You Dream,</a:t>
            </a:r>
            <a:pPr algn="r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r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 Display.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6659017"/>
            <a:ext cx="292596" cy="191988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1953" y="6645325"/>
            <a:ext cx="280392" cy="212527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557" y="6617940"/>
            <a:ext cx="255984" cy="239911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09498" y="3518148"/>
            <a:ext cx="536377" cy="54858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82894" y="3483769"/>
            <a:ext cx="609600" cy="61719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29365" y="3524994"/>
            <a:ext cx="524173" cy="521196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42063" y="3531840"/>
            <a:ext cx="499765" cy="521196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54588" y="3538686"/>
            <a:ext cx="670471" cy="486817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49875" y="3524994"/>
            <a:ext cx="499765" cy="528042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950369" y="3531840"/>
            <a:ext cx="475357" cy="534888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35969" y="3483769"/>
            <a:ext cx="475357" cy="61719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84957" y="3518148"/>
            <a:ext cx="572988" cy="541734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70557" y="150763"/>
            <a:ext cx="475357" cy="466279"/>
          </a:xfrm>
          <a:prstGeom prst="rect">
            <a:avLst/>
          </a:prstGeom>
        </p:spPr>
      </p:pic>
      <p:sp>
        <p:nvSpPr>
          <p:cNvPr id="16" name="Text 0"/>
          <p:cNvSpPr/>
          <p:nvPr/>
        </p:nvSpPr>
        <p:spPr>
          <a:xfrm>
            <a:off x="838200" y="142875"/>
            <a:ext cx="11353800" cy="33144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610"/>
              </a:lnSpc>
              <a:buNone/>
            </a:pPr>
            <a:r>
              <a:rPr lang="en-US" sz="21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issue 또는 work package에서 branch와 MR로 연결하기</a:t>
            </a:r>
            <a:endParaRPr lang="en-US" sz="2175" dirty="0"/>
          </a:p>
        </p:txBody>
      </p:sp>
      <p:sp>
        <p:nvSpPr>
          <p:cNvPr id="17" name="Text 1"/>
          <p:cNvSpPr/>
          <p:nvPr/>
        </p:nvSpPr>
        <p:spPr>
          <a:xfrm>
            <a:off x="352425" y="781050"/>
            <a:ext cx="3943350" cy="26283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70"/>
              </a:lnSpc>
              <a:buNone/>
            </a:pPr>
            <a:r>
              <a:rPr lang="en-US" sz="1725" b="1" dirty="0">
                <a:solidFill>
                  <a:srgbClr val="49494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 전 과정의 추적성 확보</a:t>
            </a:r>
            <a:endParaRPr lang="en-US" sz="1725" dirty="0"/>
          </a:p>
        </p:txBody>
      </p:sp>
      <p:sp>
        <p:nvSpPr>
          <p:cNvPr id="18" name="Text 2"/>
          <p:cNvSpPr/>
          <p:nvPr/>
        </p:nvSpPr>
        <p:spPr>
          <a:xfrm>
            <a:off x="1762125" y="2314575"/>
            <a:ext cx="10477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시작 및 식별</a:t>
            </a:r>
            <a:endParaRPr lang="en-US" sz="1500" dirty="0"/>
          </a:p>
        </p:txBody>
      </p:sp>
      <p:sp>
        <p:nvSpPr>
          <p:cNvPr id="19" name="Text 3"/>
          <p:cNvSpPr/>
          <p:nvPr/>
        </p:nvSpPr>
        <p:spPr>
          <a:xfrm>
            <a:off x="5543550" y="2314575"/>
            <a:ext cx="10477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구현 및 병합</a:t>
            </a:r>
            <a:endParaRPr lang="en-US" sz="1500" dirty="0"/>
          </a:p>
        </p:txBody>
      </p:sp>
      <p:sp>
        <p:nvSpPr>
          <p:cNvPr id="20" name="Text 4"/>
          <p:cNvSpPr/>
          <p:nvPr/>
        </p:nvSpPr>
        <p:spPr>
          <a:xfrm>
            <a:off x="9309199" y="2314575"/>
            <a:ext cx="1183928" cy="21714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10"/>
              </a:lnSpc>
              <a:buNone/>
            </a:pPr>
            <a:r>
              <a:rPr lang="en-US" sz="14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추적 및 일관성</a:t>
            </a:r>
            <a:endParaRPr lang="en-US" sz="1425" dirty="0"/>
          </a:p>
        </p:txBody>
      </p:sp>
      <p:sp>
        <p:nvSpPr>
          <p:cNvPr id="21" name="Text 5"/>
          <p:cNvSpPr/>
          <p:nvPr/>
        </p:nvSpPr>
        <p:spPr>
          <a:xfrm>
            <a:off x="838200" y="4638675"/>
            <a:ext cx="2468880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이슈: 추적성의 출발점</a:t>
            </a:r>
            <a:endParaRPr lang="en-US" sz="1350" dirty="0"/>
          </a:p>
        </p:txBody>
      </p:sp>
      <p:sp>
        <p:nvSpPr>
          <p:cNvPr id="22" name="Text 6"/>
          <p:cNvSpPr/>
          <p:nvPr/>
        </p:nvSpPr>
        <p:spPr>
          <a:xfrm>
            <a:off x="4629150" y="4638675"/>
            <a:ext cx="1851660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커밋 메시지 연결</a:t>
            </a:r>
            <a:endParaRPr lang="en-US" sz="1350" dirty="0"/>
          </a:p>
        </p:txBody>
      </p:sp>
      <p:sp>
        <p:nvSpPr>
          <p:cNvPr id="23" name="Text 7"/>
          <p:cNvSpPr/>
          <p:nvPr/>
        </p:nvSpPr>
        <p:spPr>
          <a:xfrm>
            <a:off x="8515350" y="4638675"/>
            <a:ext cx="1165860" cy="19437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추적성 확보</a:t>
            </a:r>
            <a:endParaRPr lang="en-US" sz="1275" dirty="0"/>
          </a:p>
        </p:txBody>
      </p:sp>
      <p:sp>
        <p:nvSpPr>
          <p:cNvPr id="24" name="Text 8"/>
          <p:cNvSpPr/>
          <p:nvPr/>
        </p:nvSpPr>
        <p:spPr>
          <a:xfrm>
            <a:off x="838200" y="4895850"/>
            <a:ext cx="3394621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작업은 GitLab Issue 또는 OpenProject</a:t>
            </a:r>
            <a:pPr indent="0" marL="0">
              <a:lnSpc>
                <a:spcPts val="1350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350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Work Package에서 시작</a:t>
            </a:r>
            <a:endParaRPr lang="en-US" sz="1125" dirty="0"/>
          </a:p>
        </p:txBody>
      </p:sp>
      <p:sp>
        <p:nvSpPr>
          <p:cNvPr id="25" name="Text 9"/>
          <p:cNvSpPr/>
          <p:nvPr/>
        </p:nvSpPr>
        <p:spPr>
          <a:xfrm>
            <a:off x="4629150" y="4895850"/>
            <a:ext cx="57721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이슈 번호 참조 시 (#101) GitLab이 자동 연결</a:t>
            </a:r>
            <a:endParaRPr lang="en-US" sz="1125" dirty="0"/>
          </a:p>
        </p:txBody>
      </p:sp>
      <p:sp>
        <p:nvSpPr>
          <p:cNvPr id="26" name="Text 10"/>
          <p:cNvSpPr/>
          <p:nvPr/>
        </p:nvSpPr>
        <p:spPr>
          <a:xfrm>
            <a:off x="8515350" y="4895850"/>
            <a:ext cx="320605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이슈 → 브랜치 → 커밋 → MR 흐름이 끊기면</a:t>
            </a:r>
            <a:pPr indent="0" marL="0">
              <a:lnSpc>
                <a:spcPts val="1350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350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추적 불가</a:t>
            </a:r>
            <a:endParaRPr lang="en-US" sz="1125" dirty="0"/>
          </a:p>
        </p:txBody>
      </p:sp>
      <p:sp>
        <p:nvSpPr>
          <p:cNvPr id="27" name="Text 11"/>
          <p:cNvSpPr/>
          <p:nvPr/>
        </p:nvSpPr>
        <p:spPr>
          <a:xfrm>
            <a:off x="838200" y="5372100"/>
            <a:ext cx="1851660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브랜치 명명 규칙</a:t>
            </a:r>
            <a:endParaRPr lang="en-US" sz="1350" dirty="0"/>
          </a:p>
        </p:txBody>
      </p:sp>
      <p:sp>
        <p:nvSpPr>
          <p:cNvPr id="28" name="Text 12"/>
          <p:cNvSpPr/>
          <p:nvPr/>
        </p:nvSpPr>
        <p:spPr>
          <a:xfrm>
            <a:off x="4629150" y="5372100"/>
            <a:ext cx="3291840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MR 생성 시 이슈 참조 필수</a:t>
            </a:r>
            <a:endParaRPr lang="en-US" sz="1350" dirty="0"/>
          </a:p>
        </p:txBody>
      </p:sp>
      <p:sp>
        <p:nvSpPr>
          <p:cNvPr id="29" name="Text 13"/>
          <p:cNvSpPr/>
          <p:nvPr/>
        </p:nvSpPr>
        <p:spPr>
          <a:xfrm>
            <a:off x="8515350" y="5372100"/>
            <a:ext cx="3676650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OpenProject 연동 일관성</a:t>
            </a:r>
            <a:endParaRPr lang="en-US" sz="1350" dirty="0"/>
          </a:p>
        </p:txBody>
      </p:sp>
      <p:sp>
        <p:nvSpPr>
          <p:cNvPr id="30" name="Text 14"/>
          <p:cNvSpPr/>
          <p:nvPr/>
        </p:nvSpPr>
        <p:spPr>
          <a:xfrm>
            <a:off x="838200" y="5629275"/>
            <a:ext cx="3216473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feature/101-sample-action 또는</a:t>
            </a:r>
            <a:pPr indent="0" marL="0">
              <a:lnSpc>
                <a:spcPts val="1350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350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feature/op-123-sample-action 형식 준수</a:t>
            </a:r>
            <a:pPr indent="0" marL="0">
              <a:lnSpc>
                <a:spcPts val="1350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350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(이슈 번호 포함)</a:t>
            </a:r>
            <a:endParaRPr lang="en-US" sz="1125" dirty="0"/>
          </a:p>
        </p:txBody>
      </p:sp>
      <p:sp>
        <p:nvSpPr>
          <p:cNvPr id="31" name="Text 15"/>
          <p:cNvSpPr/>
          <p:nvPr/>
        </p:nvSpPr>
        <p:spPr>
          <a:xfrm>
            <a:off x="4629150" y="5629275"/>
            <a:ext cx="35623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'Closes #101' 또는 'Resolves OP#123' 명시로</a:t>
            </a:r>
            <a:pPr indent="0" marL="0">
              <a:lnSpc>
                <a:spcPts val="1350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350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종료</a:t>
            </a:r>
            <a:endParaRPr lang="en-US" sz="1125" dirty="0"/>
          </a:p>
        </p:txBody>
      </p:sp>
      <p:sp>
        <p:nvSpPr>
          <p:cNvPr id="32" name="Text 16"/>
          <p:cNvSpPr/>
          <p:nvPr/>
        </p:nvSpPr>
        <p:spPr>
          <a:xfrm>
            <a:off x="8515350" y="5629275"/>
            <a:ext cx="36766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Work Package ID를 전 단계에 동일하게 기입</a:t>
            </a:r>
            <a:endParaRPr lang="en-US" sz="1125" dirty="0"/>
          </a:p>
        </p:txBody>
      </p:sp>
      <p:sp>
        <p:nvSpPr>
          <p:cNvPr id="33" name="Text 17"/>
          <p:cNvSpPr/>
          <p:nvPr/>
        </p:nvSpPr>
        <p:spPr>
          <a:xfrm>
            <a:off x="8252371" y="200025"/>
            <a:ext cx="3939480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125"/>
              </a:lnSpc>
              <a:buNone/>
            </a:pPr>
            <a:r>
              <a:rPr lang="en-US" sz="1125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CH08 캠프톤 시나리오 및 역할 기반 플레이북</a:t>
            </a:r>
            <a:pPr algn="r" indent="0" marL="0">
              <a:lnSpc>
                <a:spcPts val="1125"/>
              </a:lnSpc>
              <a:buNone/>
            </a:pPr>
            <a:r>
              <a:rPr lang="en-US" sz="1125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r" indent="0" marL="0">
              <a:lnSpc>
                <a:spcPts val="1125"/>
              </a:lnSpc>
              <a:buNone/>
            </a:pPr>
            <a:r>
              <a:rPr lang="en-US" sz="1125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You Dream,</a:t>
            </a:r>
            <a:pPr algn="r" indent="0" marL="0">
              <a:lnSpc>
                <a:spcPts val="1125"/>
              </a:lnSpc>
              <a:buNone/>
            </a:pPr>
            <a:r>
              <a:rPr lang="en-US" sz="1125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r" indent="0" marL="0">
              <a:lnSpc>
                <a:spcPts val="1125"/>
              </a:lnSpc>
              <a:buNone/>
            </a:pPr>
            <a:r>
              <a:rPr lang="en-US" sz="1125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 Display.</a:t>
            </a:r>
            <a:endParaRPr lang="en-US" sz="11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6652171"/>
            <a:ext cx="292596" cy="20568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9898" y="6638479"/>
            <a:ext cx="292596" cy="219373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353" y="6604248"/>
            <a:ext cx="268188" cy="253603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6784" y="5424636"/>
            <a:ext cx="475357" cy="479971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6784" y="3861048"/>
            <a:ext cx="475357" cy="383977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56784" y="2386459"/>
            <a:ext cx="475357" cy="438894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3859" y="5452021"/>
            <a:ext cx="633859" cy="438894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3859" y="3812977"/>
            <a:ext cx="731490" cy="411361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3859" y="2304157"/>
            <a:ext cx="731490" cy="610344"/>
          </a:xfrm>
          <a:prstGeom prst="rect">
            <a:avLst/>
          </a:prstGeom>
        </p:spPr>
      </p:pic>
      <p:sp>
        <p:nvSpPr>
          <p:cNvPr id="12" name="Text 0"/>
          <p:cNvSpPr/>
          <p:nvPr/>
        </p:nvSpPr>
        <p:spPr>
          <a:xfrm>
            <a:off x="285750" y="142875"/>
            <a:ext cx="11906250" cy="36909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906"/>
              </a:lnSpc>
              <a:buNone/>
            </a:pPr>
            <a:r>
              <a:rPr lang="en-US" sz="2325" b="1" dirty="0">
                <a:solidFill>
                  <a:srgbClr val="38383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페이지 제목 / branch -&gt; MR -&gt; review -&gt; approval -&gt; merge</a:t>
            </a:r>
            <a:endParaRPr lang="en-US" sz="2325" dirty="0"/>
          </a:p>
        </p:txBody>
      </p:sp>
      <p:sp>
        <p:nvSpPr>
          <p:cNvPr id="13" name="Text 1"/>
          <p:cNvSpPr/>
          <p:nvPr/>
        </p:nvSpPr>
        <p:spPr>
          <a:xfrm>
            <a:off x="381000" y="742950"/>
            <a:ext cx="9212580" cy="34423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11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GitLab 워크플로우: 브랜치에서 병합까지의 필수 단계</a:t>
            </a:r>
            <a:endParaRPr lang="en-US" sz="1950" dirty="0"/>
          </a:p>
        </p:txBody>
      </p:sp>
      <p:sp>
        <p:nvSpPr>
          <p:cNvPr id="14" name="Text 2"/>
          <p:cNvSpPr/>
          <p:nvPr/>
        </p:nvSpPr>
        <p:spPr>
          <a:xfrm>
            <a:off x="1571625" y="2152650"/>
            <a:ext cx="1783080" cy="30956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38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브랜치 생성</a:t>
            </a:r>
            <a:endParaRPr lang="en-US" sz="1950" dirty="0"/>
          </a:p>
        </p:txBody>
      </p:sp>
      <p:sp>
        <p:nvSpPr>
          <p:cNvPr id="15" name="Text 3"/>
          <p:cNvSpPr/>
          <p:nvPr/>
        </p:nvSpPr>
        <p:spPr>
          <a:xfrm>
            <a:off x="1571625" y="3667125"/>
            <a:ext cx="1783080" cy="30956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38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리뷰 게이트</a:t>
            </a:r>
            <a:endParaRPr lang="en-US" sz="1950" dirty="0"/>
          </a:p>
        </p:txBody>
      </p:sp>
      <p:sp>
        <p:nvSpPr>
          <p:cNvPr id="16" name="Text 4"/>
          <p:cNvSpPr/>
          <p:nvPr/>
        </p:nvSpPr>
        <p:spPr>
          <a:xfrm>
            <a:off x="1571625" y="5200650"/>
            <a:ext cx="2377440" cy="30956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38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파이프라인 통과</a:t>
            </a:r>
            <a:endParaRPr lang="en-US" sz="1950" dirty="0"/>
          </a:p>
        </p:txBody>
      </p:sp>
      <p:sp>
        <p:nvSpPr>
          <p:cNvPr id="17" name="Text 5"/>
          <p:cNvSpPr/>
          <p:nvPr/>
        </p:nvSpPr>
        <p:spPr>
          <a:xfrm>
            <a:off x="7448550" y="2152650"/>
            <a:ext cx="1543050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31"/>
              </a:lnSpc>
              <a:buNone/>
            </a:pPr>
            <a:r>
              <a:rPr lang="en-US" sz="20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MR 작성</a:t>
            </a:r>
            <a:endParaRPr lang="en-US" sz="2025" dirty="0"/>
          </a:p>
        </p:txBody>
      </p:sp>
      <p:sp>
        <p:nvSpPr>
          <p:cNvPr id="18" name="Text 6"/>
          <p:cNvSpPr/>
          <p:nvPr/>
        </p:nvSpPr>
        <p:spPr>
          <a:xfrm>
            <a:off x="7448550" y="3667125"/>
            <a:ext cx="1851660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31"/>
              </a:lnSpc>
              <a:buNone/>
            </a:pPr>
            <a:r>
              <a:rPr lang="en-US" sz="20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승인 게이트</a:t>
            </a:r>
            <a:endParaRPr lang="en-US" sz="2025" dirty="0"/>
          </a:p>
        </p:txBody>
      </p:sp>
      <p:sp>
        <p:nvSpPr>
          <p:cNvPr id="19" name="Text 7"/>
          <p:cNvSpPr/>
          <p:nvPr/>
        </p:nvSpPr>
        <p:spPr>
          <a:xfrm>
            <a:off x="7448550" y="5200650"/>
            <a:ext cx="4743450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31"/>
              </a:lnSpc>
              <a:buNone/>
            </a:pPr>
            <a:r>
              <a:rPr lang="en-US" sz="20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병합 후 main 파이프라인 확인</a:t>
            </a:r>
            <a:endParaRPr lang="en-US" sz="2025" dirty="0"/>
          </a:p>
        </p:txBody>
      </p:sp>
      <p:sp>
        <p:nvSpPr>
          <p:cNvPr id="20" name="Text 8"/>
          <p:cNvSpPr/>
          <p:nvPr/>
        </p:nvSpPr>
        <p:spPr>
          <a:xfrm>
            <a:off x="1571625" y="2533650"/>
            <a:ext cx="4505325" cy="52387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63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main에서 분기.</a:t>
            </a:r>
            <a:pPr indent="0" marL="0">
              <a:lnSpc>
                <a:spcPts val="2063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63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예: git switch -c feature/101-sample-action</a:t>
            </a:r>
            <a:endParaRPr lang="en-US" sz="1650" dirty="0"/>
          </a:p>
        </p:txBody>
      </p:sp>
      <p:sp>
        <p:nvSpPr>
          <p:cNvPr id="21" name="Text 9"/>
          <p:cNvSpPr/>
          <p:nvPr/>
        </p:nvSpPr>
        <p:spPr>
          <a:xfrm>
            <a:off x="1571625" y="4048125"/>
            <a:ext cx="3761333" cy="52387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63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Maintainer 코드 검토.</a:t>
            </a:r>
            <a:pPr indent="0" marL="0">
              <a:lnSpc>
                <a:spcPts val="2063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63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요구사항 충족 및 테스트 커버리지 확인</a:t>
            </a:r>
            <a:endParaRPr lang="en-US" sz="1650" dirty="0"/>
          </a:p>
        </p:txBody>
      </p:sp>
      <p:sp>
        <p:nvSpPr>
          <p:cNvPr id="22" name="Text 10"/>
          <p:cNvSpPr/>
          <p:nvPr/>
        </p:nvSpPr>
        <p:spPr>
          <a:xfrm>
            <a:off x="1571625" y="5572125"/>
            <a:ext cx="3426023" cy="52387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63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CI 모든 잠 Success 필수.</a:t>
            </a:r>
            <a:pPr indent="0" marL="0">
              <a:lnSpc>
                <a:spcPts val="2063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63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실패 시 코드·인프라 원인 즉시 구분</a:t>
            </a:r>
            <a:endParaRPr lang="en-US" sz="1650" dirty="0"/>
          </a:p>
        </p:txBody>
      </p:sp>
      <p:sp>
        <p:nvSpPr>
          <p:cNvPr id="23" name="Text 11"/>
          <p:cNvSpPr/>
          <p:nvPr/>
        </p:nvSpPr>
        <p:spPr>
          <a:xfrm>
            <a:off x="7448550" y="2533650"/>
            <a:ext cx="3761333" cy="52387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63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변경 의도 명확히 기술.</a:t>
            </a:r>
            <a:pPr indent="0" marL="0">
              <a:lnSpc>
                <a:spcPts val="2063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63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What·How·검증·롤백 계획 필수 포함</a:t>
            </a:r>
            <a:endParaRPr lang="en-US" sz="1650" dirty="0"/>
          </a:p>
        </p:txBody>
      </p:sp>
      <p:sp>
        <p:nvSpPr>
          <p:cNvPr id="24" name="Text 12"/>
          <p:cNvSpPr/>
          <p:nvPr/>
        </p:nvSpPr>
        <p:spPr>
          <a:xfrm>
            <a:off x="7448550" y="4048125"/>
            <a:ext cx="3499396" cy="52387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63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Owner 운영 리스크 판단.</a:t>
            </a:r>
            <a:pPr indent="0" marL="0">
              <a:lnSpc>
                <a:spcPts val="2063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63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Approval Rule로 병합 전 강제 적용</a:t>
            </a:r>
            <a:endParaRPr lang="en-US" sz="1650" dirty="0"/>
          </a:p>
        </p:txBody>
      </p:sp>
      <p:sp>
        <p:nvSpPr>
          <p:cNvPr id="25" name="Text 13"/>
          <p:cNvSpPr/>
          <p:nvPr/>
        </p:nvSpPr>
        <p:spPr>
          <a:xfrm>
            <a:off x="7448550" y="5572125"/>
            <a:ext cx="3227040" cy="54768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56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게이트 충족 후 Merge 실행.</a:t>
            </a:r>
            <a:pPr indent="0" marL="0">
              <a:lnSpc>
                <a:spcPts val="2156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156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main 파이프라인 최종 확인</a:t>
            </a:r>
            <a:endParaRPr lang="en-US" sz="1725" dirty="0"/>
          </a:p>
        </p:txBody>
      </p:sp>
      <p:sp>
        <p:nvSpPr>
          <p:cNvPr id="26" name="Text 14"/>
          <p:cNvSpPr/>
          <p:nvPr/>
        </p:nvSpPr>
        <p:spPr>
          <a:xfrm>
            <a:off x="9427815" y="219075"/>
            <a:ext cx="1508671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891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Capstone Scenario and</a:t>
            </a:r>
            <a:pPr algn="ctr" indent="0" marL="0">
              <a:lnSpc>
                <a:spcPts val="891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891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Role-Based Playbook</a:t>
            </a:r>
            <a:endParaRPr lang="en-US" sz="900" dirty="0"/>
          </a:p>
        </p:txBody>
      </p:sp>
      <p:sp>
        <p:nvSpPr>
          <p:cNvPr id="27" name="Text 15"/>
          <p:cNvSpPr/>
          <p:nvPr/>
        </p:nvSpPr>
        <p:spPr>
          <a:xfrm>
            <a:off x="10953750" y="190500"/>
            <a:ext cx="953393" cy="28277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114"/>
              </a:lnSpc>
              <a:buNone/>
            </a:pPr>
            <a:r>
              <a:rPr lang="en-US" sz="1125" b="1" dirty="0">
                <a:solidFill>
                  <a:srgbClr val="B6212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You Dream,</a:t>
            </a:r>
            <a:pPr indent="0" marL="0">
              <a:lnSpc>
                <a:spcPts val="1114"/>
              </a:lnSpc>
              <a:buNone/>
            </a:pPr>
            <a:r>
              <a:rPr lang="en-US" sz="1125" b="1" dirty="0">
                <a:solidFill>
                  <a:srgbClr val="B6212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114"/>
              </a:lnSpc>
              <a:buNone/>
            </a:pPr>
            <a:r>
              <a:rPr lang="en-US" sz="1125" b="1" dirty="0">
                <a:solidFill>
                  <a:srgbClr val="B6212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 Display.</a:t>
            </a:r>
            <a:endParaRPr lang="en-US" sz="11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6659017"/>
            <a:ext cx="292596" cy="198834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1953" y="6645325"/>
            <a:ext cx="280392" cy="212527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557" y="6604248"/>
            <a:ext cx="268188" cy="253603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1584" y="4978896"/>
            <a:ext cx="524173" cy="500509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73788" y="3922663"/>
            <a:ext cx="475357" cy="425053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37177" y="2523679"/>
            <a:ext cx="560784" cy="562273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6290" y="5006280"/>
            <a:ext cx="524173" cy="493663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6290" y="3744367"/>
            <a:ext cx="511969" cy="521196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4086" y="2523679"/>
            <a:ext cx="536377" cy="541734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0"/>
            <a:ext cx="694879" cy="1124694"/>
          </a:xfrm>
          <a:prstGeom prst="rect">
            <a:avLst/>
          </a:prstGeom>
        </p:spPr>
      </p:pic>
      <p:sp>
        <p:nvSpPr>
          <p:cNvPr id="13" name="Text 0"/>
          <p:cNvSpPr/>
          <p:nvPr/>
        </p:nvSpPr>
        <p:spPr>
          <a:xfrm>
            <a:off x="838200" y="123825"/>
            <a:ext cx="11353800" cy="39722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128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conflict가 생겼을 때 capstone 흐름은 어떻게 흔들리는가</a:t>
            </a:r>
            <a:endParaRPr lang="en-US" sz="2250" dirty="0"/>
          </a:p>
        </p:txBody>
      </p:sp>
      <p:sp>
        <p:nvSpPr>
          <p:cNvPr id="14" name="Text 1"/>
          <p:cNvSpPr/>
          <p:nvPr/>
        </p:nvSpPr>
        <p:spPr>
          <a:xfrm>
            <a:off x="895350" y="742950"/>
            <a:ext cx="9715500" cy="33813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663"/>
              </a:lnSpc>
              <a:buNone/>
            </a:pPr>
            <a:r>
              <a:rPr lang="en-US" sz="18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시나리오 진행 중 conflict 발생 시 영향 및 대응 절차</a:t>
            </a:r>
            <a:endParaRPr lang="en-US" sz="1875" dirty="0"/>
          </a:p>
        </p:txBody>
      </p:sp>
      <p:sp>
        <p:nvSpPr>
          <p:cNvPr id="15" name="Text 2"/>
          <p:cNvSpPr/>
          <p:nvPr/>
        </p:nvSpPr>
        <p:spPr>
          <a:xfrm>
            <a:off x="1809750" y="2524125"/>
            <a:ext cx="4994910" cy="34170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691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충돌 발생 시 흐름 중단 지점 식별</a:t>
            </a:r>
            <a:endParaRPr lang="en-US" sz="1725" dirty="0"/>
          </a:p>
        </p:txBody>
      </p:sp>
      <p:sp>
        <p:nvSpPr>
          <p:cNvPr id="16" name="Text 3"/>
          <p:cNvSpPr/>
          <p:nvPr/>
        </p:nvSpPr>
        <p:spPr>
          <a:xfrm>
            <a:off x="1809750" y="3724275"/>
            <a:ext cx="3680460" cy="34170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691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충돌 해결 후 재검증 필수</a:t>
            </a:r>
            <a:endParaRPr lang="en-US" sz="1725" dirty="0"/>
          </a:p>
        </p:txBody>
      </p:sp>
      <p:sp>
        <p:nvSpPr>
          <p:cNvPr id="17" name="Text 4"/>
          <p:cNvSpPr/>
          <p:nvPr/>
        </p:nvSpPr>
        <p:spPr>
          <a:xfrm>
            <a:off x="1809750" y="4943475"/>
            <a:ext cx="3943350" cy="34170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691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재승인 필요 여부 판단 기준</a:t>
            </a:r>
            <a:endParaRPr lang="en-US" sz="1725" dirty="0"/>
          </a:p>
        </p:txBody>
      </p:sp>
      <p:sp>
        <p:nvSpPr>
          <p:cNvPr id="18" name="Text 5"/>
          <p:cNvSpPr/>
          <p:nvPr/>
        </p:nvSpPr>
        <p:spPr>
          <a:xfrm>
            <a:off x="7724775" y="2524125"/>
            <a:ext cx="4467225" cy="34170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691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파이프라인 재실행 및 상태 확인</a:t>
            </a:r>
            <a:endParaRPr lang="en-US" sz="1725" dirty="0"/>
          </a:p>
        </p:txBody>
      </p:sp>
      <p:sp>
        <p:nvSpPr>
          <p:cNvPr id="19" name="Text 6"/>
          <p:cNvSpPr/>
          <p:nvPr/>
        </p:nvSpPr>
        <p:spPr>
          <a:xfrm>
            <a:off x="7724775" y="3724275"/>
            <a:ext cx="4467225" cy="34170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691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OpenProject 워크패키지 상태 동기화</a:t>
            </a:r>
            <a:endParaRPr lang="en-US" sz="1725" dirty="0"/>
          </a:p>
        </p:txBody>
      </p:sp>
      <p:sp>
        <p:nvSpPr>
          <p:cNvPr id="20" name="Text 7"/>
          <p:cNvSpPr/>
          <p:nvPr/>
        </p:nvSpPr>
        <p:spPr>
          <a:xfrm>
            <a:off x="7724775" y="4943475"/>
            <a:ext cx="4467225" cy="34170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691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흐름 복원 불가 시 롤백 결정 기준</a:t>
            </a:r>
            <a:endParaRPr lang="en-US" sz="1725" dirty="0"/>
          </a:p>
        </p:txBody>
      </p:sp>
      <p:sp>
        <p:nvSpPr>
          <p:cNvPr id="21" name="Text 8"/>
          <p:cNvSpPr/>
          <p:nvPr/>
        </p:nvSpPr>
        <p:spPr>
          <a:xfrm>
            <a:off x="1809750" y="2847975"/>
            <a:ext cx="3866108" cy="52804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79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 status-log로 충돌 위치와 영향 범위를</a:t>
            </a:r>
            <a:pPr indent="0" marL="0">
              <a:lnSpc>
                <a:spcPts val="2079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79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먼저 파악</a:t>
            </a:r>
            <a:endParaRPr lang="en-US" sz="1650" dirty="0"/>
          </a:p>
        </p:txBody>
      </p:sp>
      <p:sp>
        <p:nvSpPr>
          <p:cNvPr id="22" name="Text 9"/>
          <p:cNvSpPr/>
          <p:nvPr/>
        </p:nvSpPr>
        <p:spPr>
          <a:xfrm>
            <a:off x="1809750" y="4067175"/>
            <a:ext cx="3625155" cy="52804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79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해결 커밋은 단독 커밋으로 분리, diff로</a:t>
            </a:r>
            <a:pPr indent="0" marL="0">
              <a:lnSpc>
                <a:spcPts val="2079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79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의도치 않은 변경 확인</a:t>
            </a:r>
            <a:endParaRPr lang="en-US" sz="1650" dirty="0"/>
          </a:p>
        </p:txBody>
      </p:sp>
      <p:sp>
        <p:nvSpPr>
          <p:cNvPr id="23" name="Text 10"/>
          <p:cNvSpPr/>
          <p:nvPr/>
        </p:nvSpPr>
        <p:spPr>
          <a:xfrm>
            <a:off x="1809750" y="5286375"/>
            <a:ext cx="3551783" cy="5039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85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로직 변경 수반 시 Maintainer-Owner</a:t>
            </a:r>
            <a:pPr indent="0" marL="0">
              <a:lnSpc>
                <a:spcPts val="1985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85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재승인 트리거</a:t>
            </a:r>
            <a:endParaRPr lang="en-US" sz="1575" dirty="0"/>
          </a:p>
        </p:txBody>
      </p:sp>
      <p:sp>
        <p:nvSpPr>
          <p:cNvPr id="24" name="Text 11"/>
          <p:cNvSpPr/>
          <p:nvPr/>
        </p:nvSpPr>
        <p:spPr>
          <a:xfrm>
            <a:off x="7724775" y="2847975"/>
            <a:ext cx="3845123" cy="5039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85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충돌 해결 push 후 CI 전 단계 재통과 여부</a:t>
            </a:r>
            <a:pPr indent="0" marL="0">
              <a:lnSpc>
                <a:spcPts val="1985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85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여부 점검</a:t>
            </a:r>
            <a:endParaRPr lang="en-US" sz="1575" dirty="0"/>
          </a:p>
        </p:txBody>
      </p:sp>
      <p:sp>
        <p:nvSpPr>
          <p:cNvPr id="25" name="Text 12"/>
          <p:cNvSpPr/>
          <p:nvPr/>
        </p:nvSpPr>
        <p:spPr>
          <a:xfrm>
            <a:off x="7724775" y="4067175"/>
            <a:ext cx="2818358" cy="5039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85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충돌로 지연된 경우 OP 상태를</a:t>
            </a:r>
            <a:pPr indent="0" marL="0">
              <a:lnSpc>
                <a:spcPts val="1985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85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 Progress로 수동 갱신</a:t>
            </a:r>
            <a:endParaRPr lang="en-US" sz="1575" dirty="0"/>
          </a:p>
        </p:txBody>
      </p:sp>
      <p:sp>
        <p:nvSpPr>
          <p:cNvPr id="26" name="Text 13"/>
          <p:cNvSpPr/>
          <p:nvPr/>
        </p:nvSpPr>
        <p:spPr>
          <a:xfrm>
            <a:off x="7724775" y="5286375"/>
            <a:ext cx="3866108" cy="5039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85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해결 비용 &gt; 롤백 비용이면 Owner 승인 후</a:t>
            </a:r>
            <a:pPr indent="0" marL="0">
              <a:lnSpc>
                <a:spcPts val="1985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85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revert 수행</a:t>
            </a:r>
            <a:endParaRPr lang="en-US" sz="1575" dirty="0"/>
          </a:p>
        </p:txBody>
      </p:sp>
      <p:sp>
        <p:nvSpPr>
          <p:cNvPr id="27" name="Text 14"/>
          <p:cNvSpPr/>
          <p:nvPr/>
        </p:nvSpPr>
        <p:spPr>
          <a:xfrm>
            <a:off x="2516981" y="1752600"/>
            <a:ext cx="785813" cy="17918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411"/>
              </a:lnSpc>
              <a:buNone/>
            </a:pPr>
            <a:r>
              <a:rPr lang="en-US" sz="14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충돌 영향</a:t>
            </a:r>
            <a:endParaRPr lang="en-US" sz="1425" dirty="0"/>
          </a:p>
        </p:txBody>
      </p:sp>
      <p:sp>
        <p:nvSpPr>
          <p:cNvPr id="28" name="Text 15"/>
          <p:cNvSpPr/>
          <p:nvPr/>
        </p:nvSpPr>
        <p:spPr>
          <a:xfrm>
            <a:off x="8660606" y="1752600"/>
            <a:ext cx="785813" cy="17918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411"/>
              </a:lnSpc>
              <a:buNone/>
            </a:pPr>
            <a:r>
              <a:rPr lang="en-US" sz="14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충돌 대응</a:t>
            </a:r>
            <a:endParaRPr lang="en-US" sz="1425" dirty="0"/>
          </a:p>
        </p:txBody>
      </p:sp>
      <p:sp>
        <p:nvSpPr>
          <p:cNvPr id="29" name="Text 16"/>
          <p:cNvSpPr/>
          <p:nvPr/>
        </p:nvSpPr>
        <p:spPr>
          <a:xfrm>
            <a:off x="8241953" y="209550"/>
            <a:ext cx="3950047" cy="25762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2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Capstone Scenario and Role-Based Playbook</a:t>
            </a:r>
            <a:endParaRPr lang="en-US" sz="1200" dirty="0"/>
          </a:p>
        </p:txBody>
      </p:sp>
      <p:sp>
        <p:nvSpPr>
          <p:cNvPr id="30" name="Text 17"/>
          <p:cNvSpPr/>
          <p:nvPr/>
        </p:nvSpPr>
        <p:spPr>
          <a:xfrm>
            <a:off x="10972800" y="209550"/>
            <a:ext cx="1037183" cy="51524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2028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You Dream,</a:t>
            </a:r>
            <a:pPr algn="r" indent="0" marL="0">
              <a:lnSpc>
                <a:spcPts val="2028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r" indent="0" marL="0">
              <a:lnSpc>
                <a:spcPts val="2028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 Display.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6652171"/>
            <a:ext cx="292596" cy="20568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1953" y="6638479"/>
            <a:ext cx="280392" cy="219373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557" y="6604248"/>
            <a:ext cx="255984" cy="253603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4894" y="4800600"/>
            <a:ext cx="560784" cy="582811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4894" y="3950196"/>
            <a:ext cx="560784" cy="562273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0173" y="3086100"/>
            <a:ext cx="402282" cy="54858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7788" y="4821138"/>
            <a:ext cx="548580" cy="555427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2196" y="3963888"/>
            <a:ext cx="487561" cy="528042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5584" y="3086100"/>
            <a:ext cx="560784" cy="548580"/>
          </a:xfrm>
          <a:prstGeom prst="rect">
            <a:avLst/>
          </a:prstGeom>
        </p:spPr>
      </p:pic>
      <p:sp>
        <p:nvSpPr>
          <p:cNvPr id="12" name="Text 0"/>
          <p:cNvSpPr/>
          <p:nvPr/>
        </p:nvSpPr>
        <p:spPr>
          <a:xfrm>
            <a:off x="676275" y="647700"/>
            <a:ext cx="11515725" cy="4274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366"/>
              </a:lnSpc>
              <a:buNone/>
            </a:pPr>
            <a:r>
              <a:rPr lang="en-US" sz="2550" b="1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pipeline과 deploy readiness를 최종 판단에 연결하기</a:t>
            </a:r>
            <a:endParaRPr lang="en-US" sz="2550" dirty="0"/>
          </a:p>
        </p:txBody>
      </p:sp>
      <p:sp>
        <p:nvSpPr>
          <p:cNvPr id="13" name="Text 1"/>
          <p:cNvSpPr/>
          <p:nvPr/>
        </p:nvSpPr>
        <p:spPr>
          <a:xfrm>
            <a:off x="676275" y="1143000"/>
            <a:ext cx="7715250" cy="33099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606"/>
              </a:lnSpc>
              <a:buNone/>
            </a:pPr>
            <a:r>
              <a:rPr lang="en-US" sz="1875" b="1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안정적인 배포를 위한 최종 검증 및 결정 프로세스</a:t>
            </a:r>
            <a:endParaRPr lang="en-US" sz="1875" dirty="0"/>
          </a:p>
        </p:txBody>
      </p:sp>
      <p:sp>
        <p:nvSpPr>
          <p:cNvPr id="14" name="Text 2"/>
          <p:cNvSpPr/>
          <p:nvPr/>
        </p:nvSpPr>
        <p:spPr>
          <a:xfrm>
            <a:off x="2657921" y="2314575"/>
            <a:ext cx="124673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기술 검증</a:t>
            </a:r>
            <a:endParaRPr lang="en-US" sz="1500" dirty="0"/>
          </a:p>
        </p:txBody>
      </p:sp>
      <p:sp>
        <p:nvSpPr>
          <p:cNvPr id="15" name="Text 3"/>
          <p:cNvSpPr/>
          <p:nvPr/>
        </p:nvSpPr>
        <p:spPr>
          <a:xfrm>
            <a:off x="8236744" y="2314575"/>
            <a:ext cx="151923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배포 승인 및 확인</a:t>
            </a:r>
            <a:endParaRPr lang="en-US" sz="1500" dirty="0"/>
          </a:p>
        </p:txBody>
      </p:sp>
      <p:sp>
        <p:nvSpPr>
          <p:cNvPr id="16" name="Text 4"/>
          <p:cNvSpPr/>
          <p:nvPr/>
        </p:nvSpPr>
        <p:spPr>
          <a:xfrm>
            <a:off x="1571625" y="3067050"/>
            <a:ext cx="4431953" cy="56018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05"/>
              </a:lnSpc>
              <a:buNone/>
            </a:pPr>
            <a:r>
              <a:rPr lang="en-US" sz="1575" b="1" dirty="0">
                <a:solidFill>
                  <a:srgbClr val="221F20"/>
                </a:solidFill>
              </a:rPr>
              <a:t>파이프라인 전체 잠 Success 여부 확인</a:t>
            </a:r>
            <a:pPr indent="0" marL="0">
              <a:lnSpc>
                <a:spcPts val="2205"/>
              </a:lnSpc>
              <a:buNone/>
            </a:pPr>
            <a:r>
              <a:rPr lang="en-US" sz="1575" b="1" dirty="0">
                <a:solidFill>
                  <a:srgbClr val="221F20"/>
                </a:solidFill>
              </a:rPr>
              <a:t>
</a:t>
            </a:r>
            <a:pPr indent="0" marL="0">
              <a:lnSpc>
                <a:spcPts val="2205"/>
              </a:lnSpc>
              <a:buNone/>
            </a:pPr>
            <a:r>
              <a:rPr lang="en-US" sz="1575" b="1" dirty="0">
                <a:solidFill>
                  <a:srgbClr val="221F20"/>
                </a:solidFill>
              </a:rPr>
              <a:t>CI 파이프라인 전체 성공 확인 (모든 잠이 녹색일 때 병합)</a:t>
            </a:r>
            <a:endParaRPr lang="en-US" sz="1575" dirty="0"/>
          </a:p>
        </p:txBody>
      </p:sp>
      <p:sp>
        <p:nvSpPr>
          <p:cNvPr id="17" name="Text 5"/>
          <p:cNvSpPr/>
          <p:nvPr/>
        </p:nvSpPr>
        <p:spPr>
          <a:xfrm>
            <a:off x="1571625" y="3943350"/>
            <a:ext cx="4191000" cy="56018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05"/>
              </a:lnSpc>
              <a:buNone/>
            </a:pPr>
            <a:r>
              <a:rPr lang="en-US" sz="1575" b="1" dirty="0">
                <a:solidFill>
                  <a:srgbClr val="221F20"/>
                </a:solidFill>
              </a:rPr>
              <a:t>아티팩트 및 테스트 결과 검토</a:t>
            </a:r>
            <a:pPr indent="0" marL="0">
              <a:lnSpc>
                <a:spcPts val="2205"/>
              </a:lnSpc>
              <a:buNone/>
            </a:pPr>
            <a:r>
              <a:rPr lang="en-US" sz="1575" b="1" dirty="0">
                <a:solidFill>
                  <a:srgbClr val="221F20"/>
                </a:solidFill>
              </a:rPr>
              <a:t>
</a:t>
            </a:r>
            <a:pPr indent="0" marL="0">
              <a:lnSpc>
                <a:spcPts val="2205"/>
              </a:lnSpc>
              <a:buNone/>
            </a:pPr>
            <a:r>
              <a:rPr lang="en-US" sz="1575" b="1" dirty="0">
                <a:solidFill>
                  <a:srgbClr val="221F20"/>
                </a:solidFill>
              </a:rPr>
              <a:t>빌드 산출물 및 테스터 결과 직접 검증 (MR에서 확인)</a:t>
            </a:r>
            <a:endParaRPr lang="en-US" sz="1575" dirty="0"/>
          </a:p>
        </p:txBody>
      </p:sp>
      <p:sp>
        <p:nvSpPr>
          <p:cNvPr id="18" name="Text 6"/>
          <p:cNvSpPr/>
          <p:nvPr/>
        </p:nvSpPr>
        <p:spPr>
          <a:xfrm>
            <a:off x="1571625" y="4810125"/>
            <a:ext cx="4662488" cy="56018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05"/>
              </a:lnSpc>
              <a:buNone/>
            </a:pPr>
            <a:r>
              <a:rPr lang="en-US" sz="1575" b="1" dirty="0">
                <a:solidFill>
                  <a:srgbClr val="221F20"/>
                </a:solidFill>
              </a:rPr>
              <a:t>실패 원인 식별 분류: 코드 vs 인프라</a:t>
            </a:r>
            <a:pPr indent="0" marL="0">
              <a:lnSpc>
                <a:spcPts val="2205"/>
              </a:lnSpc>
              <a:buNone/>
            </a:pPr>
            <a:r>
              <a:rPr lang="en-US" sz="1575" b="1" dirty="0">
                <a:solidFill>
                  <a:srgbClr val="221F20"/>
                </a:solidFill>
              </a:rPr>
              <a:t>
</a:t>
            </a:r>
            <a:pPr indent="0" marL="0">
              <a:lnSpc>
                <a:spcPts val="2205"/>
              </a:lnSpc>
              <a:buNone/>
            </a:pPr>
            <a:r>
              <a:rPr lang="en-US" sz="1575" b="1" dirty="0">
                <a:solidFill>
                  <a:srgbClr val="221F20"/>
                </a:solidFill>
              </a:rPr>
              <a:t>파이프라인 실패 원인 즉시 판별 (코드 문제 vs 인프라 문제)</a:t>
            </a:r>
            <a:endParaRPr lang="en-US" sz="1575" dirty="0"/>
          </a:p>
        </p:txBody>
      </p:sp>
      <p:sp>
        <p:nvSpPr>
          <p:cNvPr id="19" name="Text 7"/>
          <p:cNvSpPr/>
          <p:nvPr/>
        </p:nvSpPr>
        <p:spPr>
          <a:xfrm>
            <a:off x="7239000" y="3067050"/>
            <a:ext cx="4840486" cy="56018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05"/>
              </a:lnSpc>
              <a:buNone/>
            </a:pPr>
            <a:r>
              <a:rPr lang="en-US" sz="1575" b="1" dirty="0">
                <a:solidFill>
                  <a:srgbClr val="221F20"/>
                </a:solidFill>
              </a:rPr>
              <a:t>배포 준비 체크리스트 통과 필수</a:t>
            </a:r>
            <a:pPr indent="0" marL="0">
              <a:lnSpc>
                <a:spcPts val="2205"/>
              </a:lnSpc>
              <a:buNone/>
            </a:pPr>
            <a:r>
              <a:rPr lang="en-US" sz="1575" b="1" dirty="0">
                <a:solidFill>
                  <a:srgbClr val="221F20"/>
                </a:solidFill>
              </a:rPr>
              <a:t>
</a:t>
            </a:r>
            <a:pPr indent="0" marL="0">
              <a:lnSpc>
                <a:spcPts val="2205"/>
              </a:lnSpc>
              <a:buNone/>
            </a:pPr>
            <a:r>
              <a:rPr lang="en-US" sz="1575" b="1" dirty="0">
                <a:solidFill>
                  <a:srgbClr val="221F20"/>
                </a:solidFill>
              </a:rPr>
              <a:t>배포 준비 체크리스트 100% 충족 필수 (리뷰·승인·파이프라인)</a:t>
            </a:r>
            <a:endParaRPr lang="en-US" sz="1575" dirty="0"/>
          </a:p>
        </p:txBody>
      </p:sp>
      <p:sp>
        <p:nvSpPr>
          <p:cNvPr id="20" name="Text 8"/>
          <p:cNvSpPr/>
          <p:nvPr/>
        </p:nvSpPr>
        <p:spPr>
          <a:xfrm>
            <a:off x="7239000" y="3943350"/>
            <a:ext cx="4934843" cy="56018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05"/>
              </a:lnSpc>
              <a:buNone/>
            </a:pPr>
            <a:r>
              <a:rPr lang="en-US" sz="1575" b="1" dirty="0">
                <a:solidFill>
                  <a:srgbClr val="221F20"/>
                </a:solidFill>
              </a:rPr>
              <a:t>Owner 최종 배포 허가 판단 기준</a:t>
            </a:r>
            <a:pPr indent="0" marL="0">
              <a:lnSpc>
                <a:spcPts val="2205"/>
              </a:lnSpc>
              <a:buNone/>
            </a:pPr>
            <a:r>
              <a:rPr lang="en-US" sz="1575" b="1" dirty="0">
                <a:solidFill>
                  <a:srgbClr val="221F20"/>
                </a:solidFill>
              </a:rPr>
              <a:t>
</a:t>
            </a:r>
            <a:pPr indent="0" marL="0">
              <a:lnSpc>
                <a:spcPts val="2205"/>
              </a:lnSpc>
              <a:buNone/>
            </a:pPr>
            <a:r>
              <a:rPr lang="en-US" sz="1575" b="1" dirty="0">
                <a:solidFill>
                  <a:srgbClr val="221F20"/>
                </a:solidFill>
              </a:rPr>
              <a:t>Owner의 최종 배포 승인 (운영 리스크 및 비즈니스 영향도 검토)</a:t>
            </a:r>
            <a:endParaRPr lang="en-US" sz="1575" dirty="0"/>
          </a:p>
        </p:txBody>
      </p:sp>
      <p:sp>
        <p:nvSpPr>
          <p:cNvPr id="21" name="Text 9"/>
          <p:cNvSpPr/>
          <p:nvPr/>
        </p:nvSpPr>
        <p:spPr>
          <a:xfrm>
            <a:off x="7239000" y="4810125"/>
            <a:ext cx="3656558" cy="56018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05"/>
              </a:lnSpc>
              <a:buNone/>
            </a:pPr>
            <a:r>
              <a:rPr lang="en-US" sz="1575" b="1" dirty="0">
                <a:solidFill>
                  <a:srgbClr val="221F20"/>
                </a:solidFill>
              </a:rPr>
              <a:t>병합 후 main 파이프라인 재확인</a:t>
            </a:r>
            <a:pPr indent="0" marL="0">
              <a:lnSpc>
                <a:spcPts val="2205"/>
              </a:lnSpc>
              <a:buNone/>
            </a:pPr>
            <a:r>
              <a:rPr lang="en-US" sz="1575" b="1" dirty="0">
                <a:solidFill>
                  <a:srgbClr val="221F20"/>
                </a:solidFill>
              </a:rPr>
              <a:t>
</a:t>
            </a:r>
            <a:pPr indent="0" marL="0">
              <a:lnSpc>
                <a:spcPts val="2205"/>
              </a:lnSpc>
              <a:buNone/>
            </a:pPr>
            <a:r>
              <a:rPr lang="en-US" sz="1575" b="1" dirty="0">
                <a:solidFill>
                  <a:srgbClr val="221F20"/>
                </a:solidFill>
              </a:rPr>
              <a:t>병합 완료 후 main 파이프라인 정상 실행 검증</a:t>
            </a:r>
            <a:endParaRPr lang="en-US" sz="1575" dirty="0"/>
          </a:p>
        </p:txBody>
      </p:sp>
      <p:sp>
        <p:nvSpPr>
          <p:cNvPr id="22" name="Text 10"/>
          <p:cNvSpPr/>
          <p:nvPr/>
        </p:nvSpPr>
        <p:spPr>
          <a:xfrm>
            <a:off x="10610850" y="190500"/>
            <a:ext cx="140389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You Dream,</a:t>
            </a:r>
            <a:pPr algn="r" indent="0" marL="0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r" indent="0" marL="0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 Display.</a:t>
            </a:r>
            <a:endParaRPr lang="en-US" sz="1350" dirty="0"/>
          </a:p>
        </p:txBody>
      </p:sp>
      <p:sp>
        <p:nvSpPr>
          <p:cNvPr id="23" name="Text 11"/>
          <p:cNvSpPr/>
          <p:nvPr/>
        </p:nvSpPr>
        <p:spPr>
          <a:xfrm>
            <a:off x="7848600" y="257175"/>
            <a:ext cx="4343400" cy="1337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053"/>
              </a:lnSpc>
              <a:buNone/>
            </a:pPr>
            <a:r>
              <a:rPr lang="en-US" sz="975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챔티명: Capstone Scenario and Role-Based Playbook</a:t>
            </a:r>
            <a:endParaRPr lang="en-US" sz="9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5796" y="6659017"/>
            <a:ext cx="292596" cy="185142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1953" y="6645325"/>
            <a:ext cx="280392" cy="212527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557" y="6604248"/>
            <a:ext cx="255984" cy="253603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0" y="5211961"/>
            <a:ext cx="280392" cy="260598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9286" y="5211961"/>
            <a:ext cx="243780" cy="260598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68988" y="5211961"/>
            <a:ext cx="255984" cy="260598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30180" y="5095429"/>
            <a:ext cx="633859" cy="521196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72086" y="5218807"/>
            <a:ext cx="255984" cy="260598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67694" y="5211961"/>
            <a:ext cx="24259" cy="260598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5192" y="5218807"/>
            <a:ext cx="255984" cy="267444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65263" y="4807446"/>
            <a:ext cx="280392" cy="27429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02282" y="1940719"/>
            <a:ext cx="11314063" cy="1947565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70557" y="164455"/>
            <a:ext cx="755898" cy="1330375"/>
          </a:xfrm>
          <a:prstGeom prst="rect">
            <a:avLst/>
          </a:prstGeom>
        </p:spPr>
      </p:pic>
      <p:sp>
        <p:nvSpPr>
          <p:cNvPr id="16" name="Text 0"/>
          <p:cNvSpPr/>
          <p:nvPr/>
        </p:nvSpPr>
        <p:spPr>
          <a:xfrm>
            <a:off x="714375" y="647700"/>
            <a:ext cx="10858500" cy="4342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420"/>
              </a:lnSpc>
              <a:buNone/>
            </a:pPr>
            <a:r>
              <a:rPr lang="en-US" sz="2850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incident 발생 시 코드·설정·모델 롤백</a:t>
            </a:r>
            <a:endParaRPr lang="en-US" sz="2850" dirty="0"/>
          </a:p>
        </p:txBody>
      </p:sp>
      <p:sp>
        <p:nvSpPr>
          <p:cNvPr id="17" name="Text 1"/>
          <p:cNvSpPr/>
          <p:nvPr/>
        </p:nvSpPr>
        <p:spPr>
          <a:xfrm>
            <a:off x="2279303" y="4800600"/>
            <a:ext cx="1822996" cy="26610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095"/>
              </a:lnSpc>
              <a:buNone/>
            </a:pPr>
            <a:r>
              <a:rPr lang="en-US" sz="14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롤백 유형별 세부 내용</a:t>
            </a:r>
            <a:endParaRPr lang="en-US" sz="1425" dirty="0"/>
          </a:p>
        </p:txBody>
      </p:sp>
      <p:sp>
        <p:nvSpPr>
          <p:cNvPr id="18" name="Text 2"/>
          <p:cNvSpPr/>
          <p:nvPr/>
        </p:nvSpPr>
        <p:spPr>
          <a:xfrm>
            <a:off x="8205788" y="4800600"/>
            <a:ext cx="1781175" cy="26610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095"/>
              </a:lnSpc>
              <a:buNone/>
            </a:pPr>
            <a:r>
              <a:rPr lang="en-US" sz="14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의사결정 및 승인 절차</a:t>
            </a:r>
            <a:endParaRPr lang="en-US" sz="1425" dirty="0"/>
          </a:p>
        </p:txBody>
      </p:sp>
      <p:sp>
        <p:nvSpPr>
          <p:cNvPr id="19" name="Text 3"/>
          <p:cNvSpPr/>
          <p:nvPr/>
        </p:nvSpPr>
        <p:spPr>
          <a:xfrm>
            <a:off x="7780883" y="142875"/>
            <a:ext cx="4410968" cy="30867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215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CH08 캠톤 시나리오 및 역할 기반 플레이북</a:t>
            </a:r>
            <a:pPr algn="r" indent="0" marL="0">
              <a:lnSpc>
                <a:spcPts val="1215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r" indent="0" marL="0">
              <a:lnSpc>
                <a:spcPts val="1215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 Display.</a:t>
            </a:r>
            <a:endParaRPr lang="en-US" sz="1350" dirty="0"/>
          </a:p>
        </p:txBody>
      </p:sp>
      <p:sp>
        <p:nvSpPr>
          <p:cNvPr id="20" name="Text 4"/>
          <p:cNvSpPr/>
          <p:nvPr/>
        </p:nvSpPr>
        <p:spPr>
          <a:xfrm>
            <a:off x="495300" y="5210175"/>
            <a:ext cx="1676400" cy="72032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롤백 (Code)</a:t>
            </a:r>
            <a:pPr algn="ctr"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 revert로 안전하게</a:t>
            </a:r>
            <a:pPr algn="ctr"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Merge Commit SHA 기준</a:t>
            </a:r>
            <a:pPr algn="ctr"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revert 커밋 생성</a:t>
            </a:r>
            <a:endParaRPr lang="en-US" sz="1050" dirty="0"/>
          </a:p>
        </p:txBody>
      </p:sp>
      <p:sp>
        <p:nvSpPr>
          <p:cNvPr id="21" name="Text 5"/>
          <p:cNvSpPr/>
          <p:nvPr/>
        </p:nvSpPr>
        <p:spPr>
          <a:xfrm>
            <a:off x="2215455" y="5210175"/>
            <a:ext cx="1760190" cy="7715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519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설정 롤백 (Config)</a:t>
            </a:r>
            <a:pPr algn="ctr" indent="0" marL="0">
              <a:lnSpc>
                <a:spcPts val="1519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519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환경변수/인프라 구성 복원</a:t>
            </a:r>
            <a:pPr algn="ctr" indent="0" marL="0">
              <a:lnSpc>
                <a:spcPts val="1519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519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배포 설정 오류 시 이전</a:t>
            </a:r>
            <a:pPr algn="ctr" indent="0" marL="0">
              <a:lnSpc>
                <a:spcPts val="1519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519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config 버전으로 복구</a:t>
            </a:r>
            <a:endParaRPr lang="en-US" sz="1125" dirty="0"/>
          </a:p>
        </p:txBody>
      </p:sp>
      <p:sp>
        <p:nvSpPr>
          <p:cNvPr id="22" name="Text 6"/>
          <p:cNvSpPr/>
          <p:nvPr/>
        </p:nvSpPr>
        <p:spPr>
          <a:xfrm>
            <a:off x="3998565" y="5210175"/>
            <a:ext cx="1718221" cy="7715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519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롤백 (Model)</a:t>
            </a:r>
            <a:pPr algn="ctr" indent="0" marL="0">
              <a:lnSpc>
                <a:spcPts val="1519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519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이전 모델 아티팩트 재배포</a:t>
            </a:r>
            <a:pPr algn="ctr" indent="0" marL="0">
              <a:lnSpc>
                <a:spcPts val="1519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519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Model Registry 활용,</a:t>
            </a:r>
            <a:pPr algn="ctr" indent="0" marL="0">
              <a:lnSpc>
                <a:spcPts val="1519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519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성능 저하·예측 편향 해결</a:t>
            </a:r>
            <a:endParaRPr lang="en-US" sz="1125" dirty="0"/>
          </a:p>
        </p:txBody>
      </p:sp>
      <p:sp>
        <p:nvSpPr>
          <p:cNvPr id="23" name="Text 7"/>
          <p:cNvSpPr/>
          <p:nvPr/>
        </p:nvSpPr>
        <p:spPr>
          <a:xfrm>
            <a:off x="6465540" y="5210175"/>
            <a:ext cx="1718221" cy="96440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519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장애 원인 분류</a:t>
            </a:r>
            <a:pPr algn="ctr" indent="0" marL="0">
              <a:lnSpc>
                <a:spcPts val="1519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519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질문: 코드 문제인가</a:t>
            </a:r>
            <a:pPr algn="ctr" indent="0" marL="0">
              <a:lnSpc>
                <a:spcPts val="1519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519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모듈 문제인가</a:t>
            </a:r>
            <a:pPr algn="ctr" indent="0" marL="0">
              <a:lnSpc>
                <a:spcPts val="1519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519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원인 분석 결과를 바탕으로</a:t>
            </a:r>
            <a:pPr algn="ctr" indent="0" marL="0">
              <a:lnSpc>
                <a:spcPts val="1519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519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롤백 대상 결정</a:t>
            </a:r>
            <a:endParaRPr lang="en-US" sz="1125" dirty="0"/>
          </a:p>
        </p:txBody>
      </p:sp>
      <p:sp>
        <p:nvSpPr>
          <p:cNvPr id="24" name="Text 8"/>
          <p:cNvSpPr/>
          <p:nvPr/>
        </p:nvSpPr>
        <p:spPr>
          <a:xfrm>
            <a:off x="8194328" y="5210175"/>
            <a:ext cx="1822996" cy="7715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519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롤백 제안 및 검토</a:t>
            </a:r>
            <a:pPr algn="ctr" indent="0" marL="0">
              <a:lnSpc>
                <a:spcPts val="1519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519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영향 분석 및 복구 전략 검토</a:t>
            </a:r>
            <a:pPr algn="ctr" indent="0" marL="0">
              <a:lnSpc>
                <a:spcPts val="1519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519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결정된 롤백 유형에 대한</a:t>
            </a:r>
            <a:pPr algn="ctr" indent="0" marL="0">
              <a:lnSpc>
                <a:spcPts val="1519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519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 계획 수립</a:t>
            </a:r>
            <a:endParaRPr lang="en-US" sz="1125" dirty="0"/>
          </a:p>
        </p:txBody>
      </p:sp>
      <p:sp>
        <p:nvSpPr>
          <p:cNvPr id="25" name="Text 9"/>
          <p:cNvSpPr/>
          <p:nvPr/>
        </p:nvSpPr>
        <p:spPr>
          <a:xfrm>
            <a:off x="10048280" y="5210175"/>
            <a:ext cx="1686818" cy="7715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519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승인 및 실행</a:t>
            </a:r>
            <a:pPr algn="ctr" indent="0" marL="0">
              <a:lnSpc>
                <a:spcPts val="1519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519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Owner 최종 승인 필수</a:t>
            </a:r>
            <a:pPr algn="ctr" indent="0" marL="0">
              <a:lnSpc>
                <a:spcPts val="1519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519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승인 후 GitLab 또는</a:t>
            </a:r>
            <a:pPr algn="ctr" indent="0" marL="0">
              <a:lnSpc>
                <a:spcPts val="1519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519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배포 파이프라인에서 실행</a:t>
            </a:r>
            <a:endParaRPr lang="en-US" sz="1125" dirty="0"/>
          </a:p>
        </p:txBody>
      </p:sp>
      <p:sp>
        <p:nvSpPr>
          <p:cNvPr id="26" name="Text 10"/>
          <p:cNvSpPr/>
          <p:nvPr/>
        </p:nvSpPr>
        <p:spPr>
          <a:xfrm>
            <a:off x="10006013" y="6686550"/>
            <a:ext cx="523875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911"/>
              </a:lnSpc>
              <a:buNone/>
            </a:pPr>
            <a:r>
              <a:rPr lang="en-US" sz="6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Tondem</a:t>
            </a:r>
            <a:pPr algn="ctr" indent="0" marL="0">
              <a:lnSpc>
                <a:spcPts val="911"/>
              </a:lnSpc>
              <a:buNone/>
            </a:pPr>
            <a:r>
              <a:rPr lang="en-US" sz="6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911"/>
              </a:lnSpc>
              <a:buNone/>
            </a:pPr>
            <a:r>
              <a:rPr lang="en-US" sz="6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WOLED</a:t>
            </a:r>
            <a:endParaRPr lang="en-US" sz="675" dirty="0"/>
          </a:p>
        </p:txBody>
      </p:sp>
      <p:sp>
        <p:nvSpPr>
          <p:cNvPr id="27" name="Text 11"/>
          <p:cNvSpPr/>
          <p:nvPr/>
        </p:nvSpPr>
        <p:spPr>
          <a:xfrm>
            <a:off x="10896600" y="6686550"/>
            <a:ext cx="419100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911"/>
              </a:lnSpc>
              <a:buNone/>
            </a:pPr>
            <a:r>
              <a:rPr lang="en-US" sz="6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Tondem</a:t>
            </a:r>
            <a:pPr algn="ctr" indent="0" marL="0">
              <a:lnSpc>
                <a:spcPts val="911"/>
              </a:lnSpc>
              <a:buNone/>
            </a:pPr>
            <a:r>
              <a:rPr lang="en-US" sz="6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911"/>
              </a:lnSpc>
              <a:buNone/>
            </a:pPr>
            <a:r>
              <a:rPr lang="en-US" sz="6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OLED</a:t>
            </a:r>
            <a:endParaRPr lang="en-US" sz="675" dirty="0"/>
          </a:p>
        </p:txBody>
      </p:sp>
      <p:sp>
        <p:nvSpPr>
          <p:cNvPr id="28" name="Text 12"/>
          <p:cNvSpPr/>
          <p:nvPr/>
        </p:nvSpPr>
        <p:spPr>
          <a:xfrm>
            <a:off x="466725" y="6667500"/>
            <a:ext cx="1828800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260"/>
              </a:lnSpc>
              <a:buNone/>
            </a:pPr>
            <a:r>
              <a:rPr lang="en-US" sz="1200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200" dirty="0"/>
          </a:p>
        </p:txBody>
      </p:sp>
      <p:sp>
        <p:nvSpPr>
          <p:cNvPr id="29" name="Text 13"/>
          <p:cNvSpPr/>
          <p:nvPr/>
        </p:nvSpPr>
        <p:spPr>
          <a:xfrm>
            <a:off x="5872609" y="6734175"/>
            <a:ext cx="513308" cy="9510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749"/>
              </a:lnSpc>
              <a:buNone/>
            </a:pPr>
            <a:r>
              <a:rPr lang="en-US" sz="675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PUBLIC</a:t>
            </a:r>
            <a:endParaRPr lang="en-US" sz="6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5796" y="6652171"/>
            <a:ext cx="292596" cy="20568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1953" y="6638479"/>
            <a:ext cx="280392" cy="219373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353" y="6604248"/>
            <a:ext cx="268188" cy="253603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70455" y="4718298"/>
            <a:ext cx="292596" cy="425053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43765" y="4731990"/>
            <a:ext cx="377875" cy="425053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7082" y="4786759"/>
            <a:ext cx="329059" cy="308521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82894" y="3566071"/>
            <a:ext cx="585192" cy="575965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52071" y="4731990"/>
            <a:ext cx="377875" cy="418207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10980" y="4759375"/>
            <a:ext cx="329059" cy="322213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27663" y="3593455"/>
            <a:ext cx="524173" cy="521196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84784" y="4656534"/>
            <a:ext cx="694879" cy="493663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87153" y="3566071"/>
            <a:ext cx="572988" cy="575965"/>
          </a:xfrm>
          <a:prstGeom prst="rect">
            <a:avLst/>
          </a:prstGeom>
        </p:spPr>
      </p:pic>
      <p:sp>
        <p:nvSpPr>
          <p:cNvPr id="15" name="Text 0"/>
          <p:cNvSpPr/>
          <p:nvPr/>
        </p:nvSpPr>
        <p:spPr>
          <a:xfrm>
            <a:off x="1019175" y="142875"/>
            <a:ext cx="10984230" cy="36909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906"/>
              </a:lnSpc>
              <a:buNone/>
            </a:pPr>
            <a:r>
              <a:rPr lang="en-US" sz="23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OpenProject 연동 capstone variant</a:t>
            </a:r>
            <a:endParaRPr lang="en-US" sz="2325" dirty="0"/>
          </a:p>
        </p:txBody>
      </p:sp>
      <p:sp>
        <p:nvSpPr>
          <p:cNvPr id="16" name="Text 1"/>
          <p:cNvSpPr/>
          <p:nvPr/>
        </p:nvSpPr>
        <p:spPr>
          <a:xfrm>
            <a:off x="3925193" y="2076450"/>
            <a:ext cx="4379565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053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GitLab ⇔ OpenProject 연동 시나리오</a:t>
            </a:r>
            <a:endParaRPr lang="en-US" sz="1725" dirty="0"/>
          </a:p>
        </p:txBody>
      </p:sp>
      <p:sp>
        <p:nvSpPr>
          <p:cNvPr id="17" name="Text 2"/>
          <p:cNvSpPr/>
          <p:nvPr/>
        </p:nvSpPr>
        <p:spPr>
          <a:xfrm>
            <a:off x="352425" y="742950"/>
            <a:ext cx="11041380" cy="3263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70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GitLab과 OpenProject의 유기적 결합으로 워크플로우 추적성 강화</a:t>
            </a:r>
            <a:endParaRPr lang="en-US" sz="1725" dirty="0"/>
          </a:p>
        </p:txBody>
      </p:sp>
      <p:sp>
        <p:nvSpPr>
          <p:cNvPr id="18" name="Text 3"/>
          <p:cNvSpPr/>
          <p:nvPr/>
        </p:nvSpPr>
        <p:spPr>
          <a:xfrm>
            <a:off x="1564928" y="2847975"/>
            <a:ext cx="1403896" cy="21535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96"/>
              </a:lnSpc>
              <a:buNone/>
            </a:pPr>
            <a:r>
              <a:rPr lang="en-US" sz="14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1단계: 연동 시작</a:t>
            </a:r>
            <a:endParaRPr lang="en-US" sz="1425" dirty="0"/>
          </a:p>
        </p:txBody>
      </p:sp>
      <p:sp>
        <p:nvSpPr>
          <p:cNvPr id="19" name="Text 4"/>
          <p:cNvSpPr/>
          <p:nvPr/>
        </p:nvSpPr>
        <p:spPr>
          <a:xfrm>
            <a:off x="5267771" y="2847975"/>
            <a:ext cx="1665833" cy="21535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96"/>
              </a:lnSpc>
              <a:buNone/>
            </a:pPr>
            <a:r>
              <a:rPr lang="en-US" sz="14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2단계: 상태 동기화</a:t>
            </a:r>
            <a:endParaRPr lang="en-US" sz="1425" dirty="0"/>
          </a:p>
        </p:txBody>
      </p:sp>
      <p:sp>
        <p:nvSpPr>
          <p:cNvPr id="20" name="Text 5"/>
          <p:cNvSpPr/>
          <p:nvPr/>
        </p:nvSpPr>
        <p:spPr>
          <a:xfrm>
            <a:off x="8983861" y="2847975"/>
            <a:ext cx="1843980" cy="21535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96"/>
              </a:lnSpc>
              <a:buNone/>
            </a:pPr>
            <a:r>
              <a:rPr lang="en-US" sz="14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3단계: 통제 및 가시성</a:t>
            </a:r>
            <a:endParaRPr lang="en-US" sz="1425" dirty="0"/>
          </a:p>
        </p:txBody>
      </p:sp>
      <p:sp>
        <p:nvSpPr>
          <p:cNvPr id="21" name="Text 6"/>
          <p:cNvSpPr/>
          <p:nvPr/>
        </p:nvSpPr>
        <p:spPr>
          <a:xfrm>
            <a:off x="681484" y="4600575"/>
            <a:ext cx="1351508" cy="67508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72"/>
              </a:lnSpc>
              <a:buNone/>
            </a:pPr>
            <a:r>
              <a:rPr lang="en-US" sz="12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OpenProject</a:t>
            </a:r>
            <a:pPr algn="ctr" indent="0" marL="0">
              <a:lnSpc>
                <a:spcPts val="1772"/>
              </a:lnSpc>
              <a:buNone/>
            </a:pPr>
            <a:r>
              <a:rPr lang="en-US" sz="12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772"/>
              </a:lnSpc>
              <a:buNone/>
            </a:pPr>
            <a:r>
              <a:rPr lang="en-US" sz="12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워크 패키지</a:t>
            </a:r>
            <a:pPr algn="ctr" indent="0" marL="0">
              <a:lnSpc>
                <a:spcPts val="1772"/>
              </a:lnSpc>
              <a:buNone/>
            </a:pPr>
            <a:r>
              <a:rPr lang="en-US" sz="12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772"/>
              </a:lnSpc>
              <a:buNone/>
            </a:pPr>
            <a:r>
              <a:rPr lang="en-US" sz="12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(WP#123)</a:t>
            </a:r>
            <a:endParaRPr lang="en-US" sz="1275" dirty="0"/>
          </a:p>
        </p:txBody>
      </p:sp>
      <p:sp>
        <p:nvSpPr>
          <p:cNvPr id="22" name="Text 7"/>
          <p:cNvSpPr/>
          <p:nvPr/>
        </p:nvSpPr>
        <p:spPr>
          <a:xfrm>
            <a:off x="2839343" y="4743450"/>
            <a:ext cx="817215" cy="39707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564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GitLab</a:t>
            </a:r>
            <a:pPr algn="ctr" indent="0" marL="0">
              <a:lnSpc>
                <a:spcPts val="1564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564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브랜치 생성</a:t>
            </a:r>
            <a:endParaRPr lang="en-US" sz="1125" dirty="0"/>
          </a:p>
        </p:txBody>
      </p:sp>
      <p:sp>
        <p:nvSpPr>
          <p:cNvPr id="23" name="Text 8"/>
          <p:cNvSpPr/>
          <p:nvPr/>
        </p:nvSpPr>
        <p:spPr>
          <a:xfrm>
            <a:off x="6453634" y="4743450"/>
            <a:ext cx="1141958" cy="45005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72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WP 상태</a:t>
            </a:r>
            <a:pPr algn="ctr" indent="0" marL="0">
              <a:lnSpc>
                <a:spcPts val="1772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772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업데이트</a:t>
            </a:r>
            <a:endParaRPr lang="en-US" sz="1275" dirty="0"/>
          </a:p>
        </p:txBody>
      </p:sp>
      <p:sp>
        <p:nvSpPr>
          <p:cNvPr id="24" name="Text 9"/>
          <p:cNvSpPr/>
          <p:nvPr/>
        </p:nvSpPr>
        <p:spPr>
          <a:xfrm>
            <a:off x="8725793" y="4743450"/>
            <a:ext cx="817215" cy="45005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72"/>
              </a:lnSpc>
              <a:buNone/>
            </a:pPr>
            <a:r>
              <a:rPr lang="en-US" sz="12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연결 규칙</a:t>
            </a:r>
            <a:pPr algn="ctr" indent="0" marL="0">
              <a:lnSpc>
                <a:spcPts val="1772"/>
              </a:lnSpc>
              <a:buNone/>
            </a:pPr>
            <a:r>
              <a:rPr lang="en-US" sz="12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772"/>
              </a:lnSpc>
              <a:buNone/>
            </a:pPr>
            <a:r>
              <a:rPr lang="en-US" sz="12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수립</a:t>
            </a:r>
            <a:endParaRPr lang="en-US" sz="1275" dirty="0"/>
          </a:p>
        </p:txBody>
      </p:sp>
      <p:sp>
        <p:nvSpPr>
          <p:cNvPr id="25" name="Text 10"/>
          <p:cNvSpPr/>
          <p:nvPr/>
        </p:nvSpPr>
        <p:spPr>
          <a:xfrm>
            <a:off x="10346978" y="4743450"/>
            <a:ext cx="984796" cy="45005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72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요구사항 to</a:t>
            </a:r>
            <a:pPr algn="ctr" indent="0" marL="0">
              <a:lnSpc>
                <a:spcPts val="1772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772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배포 가시성</a:t>
            </a:r>
            <a:endParaRPr lang="en-US" sz="1275" dirty="0"/>
          </a:p>
        </p:txBody>
      </p:sp>
      <p:sp>
        <p:nvSpPr>
          <p:cNvPr id="26" name="Text 11"/>
          <p:cNvSpPr/>
          <p:nvPr/>
        </p:nvSpPr>
        <p:spPr>
          <a:xfrm>
            <a:off x="742950" y="5467350"/>
            <a:ext cx="3405188" cy="48458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08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브랜치명에 OP#123 포함으로 추적 시작</a:t>
            </a:r>
            <a:pPr indent="0" marL="0">
              <a:lnSpc>
                <a:spcPts val="1908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08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'Resolves OP#123' 기재로 양방향 연결 확보</a:t>
            </a:r>
            <a:endParaRPr lang="en-US" sz="1200" dirty="0"/>
          </a:p>
        </p:txBody>
      </p:sp>
      <p:sp>
        <p:nvSpPr>
          <p:cNvPr id="27" name="Text 12"/>
          <p:cNvSpPr/>
          <p:nvPr/>
        </p:nvSpPr>
        <p:spPr>
          <a:xfrm>
            <a:off x="4495800" y="5467350"/>
            <a:ext cx="3834705" cy="45422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89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병합 시 OpenProject 상태 자동 업데이트 (동기화)</a:t>
            </a:r>
            <a:pPr indent="0" marL="0">
              <a:lnSpc>
                <a:spcPts val="1789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789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PM-기획자가 GitLab 미접속으로 진행 상황 파악 가능</a:t>
            </a:r>
            <a:endParaRPr lang="en-US" sz="1125" dirty="0"/>
          </a:p>
        </p:txBody>
      </p:sp>
      <p:sp>
        <p:nvSpPr>
          <p:cNvPr id="28" name="Text 13"/>
          <p:cNvSpPr/>
          <p:nvPr/>
        </p:nvSpPr>
        <p:spPr>
          <a:xfrm>
            <a:off x="8391525" y="5467350"/>
            <a:ext cx="3394621" cy="68133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89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이슈-MR 연결 강제 규칙으로 추적성 강화 (차단)</a:t>
            </a:r>
            <a:pPr indent="0" marL="0">
              <a:lnSpc>
                <a:spcPts val="1789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789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End-to-End 가시성: 요구사항부터 릴리즈까지</a:t>
            </a:r>
            <a:pPr indent="0" marL="0">
              <a:lnSpc>
                <a:spcPts val="1789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789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단일 흐름 관리</a:t>
            </a:r>
            <a:endParaRPr lang="en-US" sz="1125" dirty="0"/>
          </a:p>
        </p:txBody>
      </p:sp>
      <p:sp>
        <p:nvSpPr>
          <p:cNvPr id="29" name="Text 14"/>
          <p:cNvSpPr/>
          <p:nvPr/>
        </p:nvSpPr>
        <p:spPr>
          <a:xfrm>
            <a:off x="7319963" y="333375"/>
            <a:ext cx="4872038" cy="19853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564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CH08: Capstone Scenario and Role-Based Playbook </a:t>
            </a:r>
            <a:pPr algn="r" indent="0" marL="0">
              <a:lnSpc>
                <a:spcPts val="1564"/>
              </a:lnSpc>
              <a:buNone/>
            </a:pPr>
            <a:r>
              <a:rPr lang="en-US" sz="1125" b="1" i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 Display.</a:t>
            </a:r>
            <a:endParaRPr lang="en-US" sz="1125" dirty="0"/>
          </a:p>
        </p:txBody>
      </p:sp>
      <p:sp>
        <p:nvSpPr>
          <p:cNvPr id="30" name="Text 15"/>
          <p:cNvSpPr/>
          <p:nvPr/>
        </p:nvSpPr>
        <p:spPr>
          <a:xfrm>
            <a:off x="466725" y="6638925"/>
            <a:ext cx="1714500" cy="16996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39"/>
              </a:lnSpc>
              <a:buNone/>
            </a:pPr>
            <a:r>
              <a:rPr lang="en-US" sz="1125" b="1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125" dirty="0"/>
          </a:p>
        </p:txBody>
      </p:sp>
      <p:sp>
        <p:nvSpPr>
          <p:cNvPr id="31" name="Text 16"/>
          <p:cNvSpPr/>
          <p:nvPr/>
        </p:nvSpPr>
        <p:spPr>
          <a:xfrm>
            <a:off x="11077575" y="190500"/>
            <a:ext cx="796230" cy="14734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160"/>
              </a:lnSpc>
              <a:buNone/>
            </a:pPr>
            <a:r>
              <a:rPr lang="en-US" sz="975" b="1" dirty="0">
                <a:solidFill>
                  <a:srgbClr val="8080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You Dream,</a:t>
            </a:r>
            <a:endParaRPr lang="en-US" sz="975" dirty="0"/>
          </a:p>
        </p:txBody>
      </p:sp>
      <p:sp>
        <p:nvSpPr>
          <p:cNvPr id="32" name="Text 17"/>
          <p:cNvSpPr/>
          <p:nvPr/>
        </p:nvSpPr>
        <p:spPr>
          <a:xfrm>
            <a:off x="5872609" y="6705600"/>
            <a:ext cx="513308" cy="10373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817"/>
              </a:lnSpc>
              <a:buNone/>
            </a:pPr>
            <a:r>
              <a:rPr lang="en-US" sz="825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PUBLIC</a:t>
            </a:r>
            <a:endParaRPr lang="en-US" sz="8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6652171"/>
            <a:ext cx="292596" cy="20568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1953" y="6645325"/>
            <a:ext cx="280392" cy="212527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353" y="6604248"/>
            <a:ext cx="268188" cy="253603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0894" y="1501825"/>
            <a:ext cx="6668988" cy="4190107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4486" y="1501825"/>
            <a:ext cx="4364682" cy="4176415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228600" y="123825"/>
            <a:ext cx="9875520" cy="40808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213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MLOps 캡스톤 변형: 모델 승격 및 롤백</a:t>
            </a:r>
            <a:endParaRPr lang="en-US" sz="2700" dirty="0"/>
          </a:p>
        </p:txBody>
      </p:sp>
      <p:sp>
        <p:nvSpPr>
          <p:cNvPr id="9" name="Text 1"/>
          <p:cNvSpPr/>
          <p:nvPr/>
        </p:nvSpPr>
        <p:spPr>
          <a:xfrm>
            <a:off x="352425" y="742950"/>
            <a:ext cx="8949690" cy="35748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815"/>
              </a:lnSpc>
              <a:buNone/>
            </a:pPr>
            <a:r>
              <a:rPr lang="en-US" sz="20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MLOps 관점의 독립적인 운영 흐름과 복구 시나리오</a:t>
            </a:r>
            <a:endParaRPr lang="en-US" sz="2025" dirty="0"/>
          </a:p>
        </p:txBody>
      </p:sp>
      <p:sp>
        <p:nvSpPr>
          <p:cNvPr id="10" name="Text 2"/>
          <p:cNvSpPr/>
          <p:nvPr/>
        </p:nvSpPr>
        <p:spPr>
          <a:xfrm>
            <a:off x="11563350" y="161925"/>
            <a:ext cx="387548" cy="14198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118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Dream.</a:t>
            </a:r>
            <a:pPr algn="r" indent="0" marL="0">
              <a:lnSpc>
                <a:spcPts val="1118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endParaRPr lang="en-US" sz="750" dirty="0"/>
          </a:p>
        </p:txBody>
      </p:sp>
      <p:sp>
        <p:nvSpPr>
          <p:cNvPr id="11" name="Text 3"/>
          <p:cNvSpPr/>
          <p:nvPr/>
        </p:nvSpPr>
        <p:spPr>
          <a:xfrm>
            <a:off x="11391900" y="123825"/>
            <a:ext cx="293340" cy="15091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188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You</a:t>
            </a:r>
            <a:endParaRPr lang="en-US" sz="1200" dirty="0"/>
          </a:p>
        </p:txBody>
      </p:sp>
      <p:sp>
        <p:nvSpPr>
          <p:cNvPr id="12" name="Text 4"/>
          <p:cNvSpPr/>
          <p:nvPr/>
        </p:nvSpPr>
        <p:spPr>
          <a:xfrm>
            <a:off x="11563350" y="4962525"/>
            <a:ext cx="387548" cy="14198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118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Dream.</a:t>
            </a:r>
            <a:pPr algn="r" indent="0" marL="0">
              <a:lnSpc>
                <a:spcPts val="1118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5796" y="6659017"/>
            <a:ext cx="292596" cy="198834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1953" y="6645325"/>
            <a:ext cx="280392" cy="212527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557" y="6604248"/>
            <a:ext cx="255984" cy="253603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4173" y="5006280"/>
            <a:ext cx="585192" cy="541734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3498" y="4985742"/>
            <a:ext cx="511969" cy="589657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6063" y="5019973"/>
            <a:ext cx="585192" cy="51435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600" y="2942034"/>
            <a:ext cx="621655" cy="555427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74369" y="2948880"/>
            <a:ext cx="524173" cy="54858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2675" y="2955727"/>
            <a:ext cx="560784" cy="541734"/>
          </a:xfrm>
          <a:prstGeom prst="rect">
            <a:avLst/>
          </a:prstGeom>
        </p:spPr>
      </p:pic>
      <p:sp>
        <p:nvSpPr>
          <p:cNvPr id="12" name="Text 0"/>
          <p:cNvSpPr/>
          <p:nvPr/>
        </p:nvSpPr>
        <p:spPr>
          <a:xfrm>
            <a:off x="895350" y="142875"/>
            <a:ext cx="6606540" cy="38531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035"/>
              </a:lnSpc>
              <a:buNone/>
            </a:pPr>
            <a:r>
              <a:rPr lang="en-US" sz="2550" b="1" dirty="0">
                <a:solidFill>
                  <a:srgbClr val="40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사고 발생 시 역할별 즉시 행동</a:t>
            </a:r>
            <a:endParaRPr lang="en-US" sz="2550" dirty="0"/>
          </a:p>
        </p:txBody>
      </p:sp>
      <p:sp>
        <p:nvSpPr>
          <p:cNvPr id="13" name="Text 1"/>
          <p:cNvSpPr/>
          <p:nvPr/>
        </p:nvSpPr>
        <p:spPr>
          <a:xfrm>
            <a:off x="895350" y="742950"/>
            <a:ext cx="11296650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19"/>
              </a:lnSpc>
              <a:buNone/>
            </a:pPr>
            <a:r>
              <a:rPr lang="en-US" sz="1875" b="1" dirty="0">
                <a:solidFill>
                  <a:srgbClr val="7070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CH08: Capstone Scenario and Role-Based Playbook</a:t>
            </a:r>
            <a:endParaRPr lang="en-US" sz="1875" dirty="0"/>
          </a:p>
        </p:txBody>
      </p:sp>
      <p:sp>
        <p:nvSpPr>
          <p:cNvPr id="14" name="Text 2"/>
          <p:cNvSpPr/>
          <p:nvPr/>
        </p:nvSpPr>
        <p:spPr>
          <a:xfrm>
            <a:off x="1381125" y="2647950"/>
            <a:ext cx="2366010" cy="26283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70"/>
              </a:lnSpc>
              <a:buNone/>
            </a:pPr>
            <a:r>
              <a:rPr lang="en-US" sz="1725" b="1" dirty="0">
                <a:solidFill>
                  <a:srgbClr val="37C7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Developer</a:t>
            </a:r>
            <a:endParaRPr lang="en-US" sz="1725" dirty="0"/>
          </a:p>
        </p:txBody>
      </p:sp>
      <p:sp>
        <p:nvSpPr>
          <p:cNvPr id="15" name="Text 3"/>
          <p:cNvSpPr/>
          <p:nvPr/>
        </p:nvSpPr>
        <p:spPr>
          <a:xfrm>
            <a:off x="5210175" y="2647950"/>
            <a:ext cx="2628900" cy="26283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70"/>
              </a:lnSpc>
              <a:buNone/>
            </a:pPr>
            <a:r>
              <a:rPr lang="en-US" sz="1725" b="1" dirty="0">
                <a:solidFill>
                  <a:srgbClr val="005B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Maintainer</a:t>
            </a:r>
            <a:endParaRPr lang="en-US" sz="1725" dirty="0"/>
          </a:p>
        </p:txBody>
      </p:sp>
      <p:sp>
        <p:nvSpPr>
          <p:cNvPr id="16" name="Text 4"/>
          <p:cNvSpPr/>
          <p:nvPr/>
        </p:nvSpPr>
        <p:spPr>
          <a:xfrm>
            <a:off x="9039225" y="2647950"/>
            <a:ext cx="1314450" cy="26283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70"/>
              </a:lnSpc>
              <a:buNone/>
            </a:pPr>
            <a:r>
              <a:rPr lang="en-US" sz="1725" b="1" dirty="0">
                <a:solidFill>
                  <a:srgbClr val="E61F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Owner</a:t>
            </a:r>
            <a:endParaRPr lang="en-US" sz="1725" dirty="0"/>
          </a:p>
        </p:txBody>
      </p:sp>
      <p:sp>
        <p:nvSpPr>
          <p:cNvPr id="17" name="Text 5"/>
          <p:cNvSpPr/>
          <p:nvPr/>
        </p:nvSpPr>
        <p:spPr>
          <a:xfrm>
            <a:off x="1381125" y="2952750"/>
            <a:ext cx="2294483" cy="58251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94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즉시 재현 및 영향 범위</a:t>
            </a:r>
            <a:pPr indent="0" marL="0">
              <a:lnSpc>
                <a:spcPts val="2294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294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파악</a:t>
            </a:r>
            <a:endParaRPr lang="en-US" sz="1650" dirty="0"/>
          </a:p>
        </p:txBody>
      </p:sp>
      <p:sp>
        <p:nvSpPr>
          <p:cNvPr id="18" name="Text 6"/>
          <p:cNvSpPr/>
          <p:nvPr/>
        </p:nvSpPr>
        <p:spPr>
          <a:xfrm>
            <a:off x="5210175" y="2952750"/>
            <a:ext cx="1812578" cy="58251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94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원인 커밋 식별 및</a:t>
            </a:r>
            <a:pPr indent="0" marL="0">
              <a:lnSpc>
                <a:spcPts val="2294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294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롤백 방안 제시</a:t>
            </a:r>
            <a:endParaRPr lang="en-US" sz="1650" dirty="0"/>
          </a:p>
        </p:txBody>
      </p:sp>
      <p:sp>
        <p:nvSpPr>
          <p:cNvPr id="19" name="Text 7"/>
          <p:cNvSpPr/>
          <p:nvPr/>
        </p:nvSpPr>
        <p:spPr>
          <a:xfrm>
            <a:off x="9039225" y="2952750"/>
            <a:ext cx="1760190" cy="58251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94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롤백 최종 승인 및</a:t>
            </a:r>
            <a:pPr indent="0" marL="0">
              <a:lnSpc>
                <a:spcPts val="2294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294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서비스 중단 결정</a:t>
            </a:r>
            <a:endParaRPr lang="en-US" sz="1650" dirty="0"/>
          </a:p>
        </p:txBody>
      </p:sp>
      <p:sp>
        <p:nvSpPr>
          <p:cNvPr id="20" name="Text 8"/>
          <p:cNvSpPr/>
          <p:nvPr/>
        </p:nvSpPr>
        <p:spPr>
          <a:xfrm>
            <a:off x="1381125" y="4972050"/>
            <a:ext cx="2923133" cy="4569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99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커뮤니케이션: 채널·타임라인</a:t>
            </a:r>
            <a:pPr indent="0" marL="0">
              <a:lnSpc>
                <a:spcPts val="1799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799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즉시 공유</a:t>
            </a:r>
            <a:endParaRPr lang="en-US" sz="1650" dirty="0"/>
          </a:p>
        </p:txBody>
      </p:sp>
      <p:sp>
        <p:nvSpPr>
          <p:cNvPr id="21" name="Text 9"/>
          <p:cNvSpPr/>
          <p:nvPr/>
        </p:nvSpPr>
        <p:spPr>
          <a:xfrm>
            <a:off x="5124450" y="4943475"/>
            <a:ext cx="2776538" cy="4569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99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승인 체계: 롤백도 MR·승인</a:t>
            </a:r>
            <a:pPr indent="0" marL="0">
              <a:lnSpc>
                <a:spcPts val="1799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799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절차 준수</a:t>
            </a:r>
            <a:endParaRPr lang="en-US" sz="1650" dirty="0"/>
          </a:p>
        </p:txBody>
      </p:sp>
      <p:sp>
        <p:nvSpPr>
          <p:cNvPr id="22" name="Text 10"/>
          <p:cNvSpPr/>
          <p:nvPr/>
        </p:nvSpPr>
        <p:spPr>
          <a:xfrm>
            <a:off x="8905875" y="4924425"/>
            <a:ext cx="2776538" cy="4569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99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사후 조치: 장애 원인 기록 및</a:t>
            </a:r>
            <a:pPr indent="0" marL="0">
              <a:lnSpc>
                <a:spcPts val="1799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799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재발 방지 등록</a:t>
            </a:r>
            <a:endParaRPr lang="en-US" sz="1650" dirty="0"/>
          </a:p>
        </p:txBody>
      </p:sp>
      <p:sp>
        <p:nvSpPr>
          <p:cNvPr id="23" name="Text 11"/>
          <p:cNvSpPr/>
          <p:nvPr/>
        </p:nvSpPr>
        <p:spPr>
          <a:xfrm>
            <a:off x="5812036" y="1733550"/>
            <a:ext cx="586680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337"/>
              </a:lnSpc>
              <a:buNone/>
            </a:pPr>
            <a:r>
              <a:rPr lang="en-US" sz="1350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TITLE</a:t>
            </a:r>
            <a:endParaRPr lang="en-US" sz="1350" dirty="0"/>
          </a:p>
        </p:txBody>
      </p:sp>
      <p:sp>
        <p:nvSpPr>
          <p:cNvPr id="24" name="Text 12"/>
          <p:cNvSpPr/>
          <p:nvPr/>
        </p:nvSpPr>
        <p:spPr>
          <a:xfrm>
            <a:off x="1438275" y="3609975"/>
            <a:ext cx="2807940" cy="47654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버그 재현 후 영향 사용자 범위를</a:t>
            </a:r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Slack에 보고</a:t>
            </a:r>
            <a:endParaRPr lang="en-US" sz="1350" dirty="0"/>
          </a:p>
        </p:txBody>
      </p:sp>
      <p:sp>
        <p:nvSpPr>
          <p:cNvPr id="25" name="Text 13"/>
          <p:cNvSpPr/>
          <p:nvPr/>
        </p:nvSpPr>
        <p:spPr>
          <a:xfrm>
            <a:off x="5210175" y="3609975"/>
            <a:ext cx="2483048" cy="47654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git log로 문제 커밋 확인 후</a:t>
            </a:r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Revert vs Hotfix 판단</a:t>
            </a:r>
            <a:endParaRPr lang="en-US" sz="1350" dirty="0"/>
          </a:p>
        </p:txBody>
      </p:sp>
      <p:sp>
        <p:nvSpPr>
          <p:cNvPr id="26" name="Text 14"/>
          <p:cNvSpPr/>
          <p:nvPr/>
        </p:nvSpPr>
        <p:spPr>
          <a:xfrm>
            <a:off x="9039225" y="3609975"/>
            <a:ext cx="2126903" cy="47654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비즈니스 영향도 판단 후</a:t>
            </a:r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복구 방향 공식 승인</a:t>
            </a:r>
            <a:endParaRPr lang="en-US" sz="1350" dirty="0"/>
          </a:p>
        </p:txBody>
      </p:sp>
      <p:sp>
        <p:nvSpPr>
          <p:cNvPr id="27" name="Text 15"/>
          <p:cNvSpPr/>
          <p:nvPr/>
        </p:nvSpPr>
        <p:spPr>
          <a:xfrm>
            <a:off x="1381125" y="5543550"/>
            <a:ext cx="2661196" cy="47654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Slack·Teams 등 지정 채널에</a:t>
            </a:r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장애 상황 실시간 공지</a:t>
            </a:r>
            <a:endParaRPr lang="en-US" sz="1350" dirty="0"/>
          </a:p>
        </p:txBody>
      </p:sp>
      <p:sp>
        <p:nvSpPr>
          <p:cNvPr id="28" name="Text 16"/>
          <p:cNvSpPr/>
          <p:nvPr/>
        </p:nvSpPr>
        <p:spPr>
          <a:xfrm>
            <a:off x="5124450" y="5543550"/>
            <a:ext cx="3080296" cy="47654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긴급 상황이라도 Owner 승인 없이</a:t>
            </a:r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main 직접 Push 금지</a:t>
            </a:r>
            <a:endParaRPr lang="en-US" sz="1350" dirty="0"/>
          </a:p>
        </p:txBody>
      </p:sp>
      <p:sp>
        <p:nvSpPr>
          <p:cNvPr id="29" name="Text 17"/>
          <p:cNvSpPr/>
          <p:nvPr/>
        </p:nvSpPr>
        <p:spPr>
          <a:xfrm>
            <a:off x="8905875" y="5543550"/>
            <a:ext cx="2944118" cy="47654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Issue에 RCA 작성 후 파이프라인</a:t>
            </a:r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케이스 추가</a:t>
            </a:r>
            <a:endParaRPr lang="en-US" sz="1350" dirty="0"/>
          </a:p>
        </p:txBody>
      </p:sp>
      <p:sp>
        <p:nvSpPr>
          <p:cNvPr id="30" name="Text 18"/>
          <p:cNvSpPr/>
          <p:nvPr/>
        </p:nvSpPr>
        <p:spPr>
          <a:xfrm>
            <a:off x="5403056" y="2076450"/>
            <a:ext cx="1414463" cy="22115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42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즉시 행동 지침</a:t>
            </a:r>
            <a:endParaRPr lang="en-US" sz="1350" dirty="0"/>
          </a:p>
        </p:txBody>
      </p:sp>
      <p:sp>
        <p:nvSpPr>
          <p:cNvPr id="31" name="Text 19"/>
          <p:cNvSpPr/>
          <p:nvPr/>
        </p:nvSpPr>
        <p:spPr>
          <a:xfrm>
            <a:off x="9648825" y="180975"/>
            <a:ext cx="246221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125"/>
              </a:lnSpc>
              <a:buNone/>
            </a:pPr>
            <a:r>
              <a:rPr lang="en-US" sz="1125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You Dream,</a:t>
            </a:r>
            <a:pPr algn="r" indent="0" marL="0">
              <a:lnSpc>
                <a:spcPts val="1125"/>
              </a:lnSpc>
              <a:buNone/>
            </a:pPr>
            <a:r>
              <a:rPr lang="en-US" sz="1125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r" indent="0" marL="0">
              <a:lnSpc>
                <a:spcPts val="1125"/>
              </a:lnSpc>
              <a:buNone/>
            </a:pPr>
            <a:r>
              <a:rPr lang="en-US" sz="1125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 Display.</a:t>
            </a:r>
            <a:endParaRPr lang="en-US" sz="1125" dirty="0"/>
          </a:p>
        </p:txBody>
      </p:sp>
      <p:sp>
        <p:nvSpPr>
          <p:cNvPr id="32" name="Text 20"/>
          <p:cNvSpPr/>
          <p:nvPr/>
        </p:nvSpPr>
        <p:spPr>
          <a:xfrm>
            <a:off x="5871567" y="6705600"/>
            <a:ext cx="534293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899"/>
              </a:lnSpc>
              <a:buNone/>
            </a:pPr>
            <a:r>
              <a:rPr lang="en-US" sz="825" dirty="0">
                <a:solidFill>
                  <a:srgbClr val="7070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PUBLIC</a:t>
            </a:r>
            <a:endParaRPr lang="en-US" sz="8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3592" y="6659017"/>
            <a:ext cx="280392" cy="185142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1953" y="6645325"/>
            <a:ext cx="280392" cy="212527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557" y="6604248"/>
            <a:ext cx="255984" cy="253603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6667" y="3620988"/>
            <a:ext cx="853380" cy="397669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84855" y="3106638"/>
            <a:ext cx="463153" cy="397669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31153" y="2605980"/>
            <a:ext cx="329059" cy="329059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77686" y="2612827"/>
            <a:ext cx="341263" cy="322213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32957" y="4128492"/>
            <a:ext cx="1731169" cy="1735038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01788" y="4128492"/>
            <a:ext cx="1682353" cy="1735038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1655" y="4155877"/>
            <a:ext cx="1718965" cy="1700659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22863" y="3607296"/>
            <a:ext cx="353467" cy="356592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157192" y="3607296"/>
            <a:ext cx="353467" cy="356592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327898" y="3106638"/>
            <a:ext cx="414486" cy="349746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522863" y="2626519"/>
            <a:ext cx="365671" cy="329059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193655" y="2626519"/>
            <a:ext cx="329059" cy="335905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34094" y="164455"/>
            <a:ext cx="877788" cy="877788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1200150" y="314325"/>
            <a:ext cx="3426023" cy="36864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903"/>
              </a:lnSpc>
              <a:buNone/>
            </a:pPr>
            <a:r>
              <a:rPr lang="en-US" sz="2250" b="1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평가 루브릭</a:t>
            </a:r>
            <a:endParaRPr lang="en-US" sz="2250" dirty="0"/>
          </a:p>
        </p:txBody>
      </p:sp>
      <p:sp>
        <p:nvSpPr>
          <p:cNvPr id="20" name="Text 1"/>
          <p:cNvSpPr/>
          <p:nvPr/>
        </p:nvSpPr>
        <p:spPr>
          <a:xfrm>
            <a:off x="7118003" y="4895850"/>
            <a:ext cx="146596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TimesNewRomanPS-ItalicMT" pitchFamily="34" charset="0"/>
                <a:ea typeface="TimesNewRomanPS-ItalicMT" pitchFamily="34" charset="-122"/>
                <a:cs typeface="TimesNewRomanPS-ItalicMT" pitchFamily="34" charset="-120"/>
              </a:rPr>
              <a:t>4</a:t>
            </a:r>
            <a:endParaRPr lang="en-US" sz="1650" dirty="0"/>
          </a:p>
        </p:txBody>
      </p:sp>
      <p:sp>
        <p:nvSpPr>
          <p:cNvPr id="21" name="Text 2"/>
          <p:cNvSpPr/>
          <p:nvPr/>
        </p:nvSpPr>
        <p:spPr>
          <a:xfrm>
            <a:off x="8889653" y="4895850"/>
            <a:ext cx="146596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TimesNewRomanPS-ItalicMT" pitchFamily="34" charset="0"/>
                <a:ea typeface="TimesNewRomanPS-ItalicMT" pitchFamily="34" charset="-122"/>
                <a:cs typeface="TimesNewRomanPS-ItalicMT" pitchFamily="34" charset="-120"/>
              </a:rPr>
              <a:t>5</a:t>
            </a:r>
            <a:endParaRPr lang="en-US" sz="1650" dirty="0"/>
          </a:p>
        </p:txBody>
      </p:sp>
      <p:sp>
        <p:nvSpPr>
          <p:cNvPr id="22" name="Text 3"/>
          <p:cNvSpPr/>
          <p:nvPr/>
        </p:nvSpPr>
        <p:spPr>
          <a:xfrm>
            <a:off x="10632728" y="4895850"/>
            <a:ext cx="146596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TimesNewRomanPS-ItalicMT" pitchFamily="34" charset="0"/>
                <a:ea typeface="TimesNewRomanPS-ItalicMT" pitchFamily="34" charset="-122"/>
                <a:cs typeface="TimesNewRomanPS-ItalicMT" pitchFamily="34" charset="-120"/>
              </a:rPr>
              <a:t>6</a:t>
            </a:r>
            <a:endParaRPr lang="en-US" sz="1650" dirty="0"/>
          </a:p>
        </p:txBody>
      </p:sp>
      <p:sp>
        <p:nvSpPr>
          <p:cNvPr id="23" name="Text 4"/>
          <p:cNvSpPr/>
          <p:nvPr/>
        </p:nvSpPr>
        <p:spPr>
          <a:xfrm>
            <a:off x="838200" y="2619375"/>
            <a:ext cx="4934843" cy="172000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추적성 (Traceability):</a:t>
            </a:r>
            <a:pPr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이슈-MR-커밋 연결 고리 완전성 및 작업 내역 투명성 확보.</a:t>
            </a:r>
            <a:pPr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리뷰 품질 (Review Quality):</a:t>
            </a:r>
            <a:pPr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구체적인 코멘트 및 필수 리뷰 조건 충족 여부 점검.</a:t>
            </a:r>
            <a:pPr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배포 준비 상태 (Deploy Readiness):</a:t>
            </a:r>
            <a:pPr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CI/CD 파이프라인 성공 및 필수 승인 규칙(예: Maintainer</a:t>
            </a:r>
            <a:pPr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승인) 충족 확인.</a:t>
            </a:r>
            <a:endParaRPr lang="en-US" sz="1500" dirty="0"/>
          </a:p>
        </p:txBody>
      </p:sp>
      <p:sp>
        <p:nvSpPr>
          <p:cNvPr id="24" name="Text 5"/>
          <p:cNvSpPr/>
          <p:nvPr/>
        </p:nvSpPr>
        <p:spPr>
          <a:xfrm>
            <a:off x="6562725" y="2619375"/>
            <a:ext cx="4903440" cy="172000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롤백 준비 상태 (Rollback Readiness):</a:t>
            </a:r>
            <a:pPr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revert 절차 문서화 및 Owner 승인 기준의 명확성 확인.</a:t>
            </a:r>
            <a:pPr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코드 완성도 (Code Completeness):</a:t>
            </a:r>
            <a:pPr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기능 구현, 단위 테스트 커버리지, 권한 로직의 정확성 평가.</a:t>
            </a:r>
            <a:pPr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역할별 책임 이행 (Role Accountability):</a:t>
            </a:r>
            <a:pPr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Owner, Maintainer, Developer의 판단 근거 기록 및</a:t>
            </a:r>
            <a:pPr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책임 소재 명확화.</a:t>
            </a:r>
            <a:endParaRPr lang="en-US" sz="1500" dirty="0"/>
          </a:p>
        </p:txBody>
      </p:sp>
      <p:sp>
        <p:nvSpPr>
          <p:cNvPr id="25" name="Text 6"/>
          <p:cNvSpPr/>
          <p:nvPr/>
        </p:nvSpPr>
        <p:spPr>
          <a:xfrm>
            <a:off x="8277225" y="314325"/>
            <a:ext cx="3914775" cy="17204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55"/>
              </a:lnSpc>
              <a:buNone/>
            </a:pPr>
            <a:r>
              <a:rPr lang="en-US" sz="975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Capstone Scenario and Role-Based Playbook </a:t>
            </a:r>
            <a:pPr indent="0" marL="0">
              <a:lnSpc>
                <a:spcPts val="1355"/>
              </a:lnSpc>
              <a:buNone/>
            </a:pPr>
            <a:r>
              <a:rPr lang="en-US" sz="975" b="1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 Display.</a:t>
            </a:r>
            <a:endParaRPr lang="en-US" sz="975" dirty="0"/>
          </a:p>
        </p:txBody>
      </p:sp>
      <p:sp>
        <p:nvSpPr>
          <p:cNvPr id="26" name="Text 7"/>
          <p:cNvSpPr/>
          <p:nvPr/>
        </p:nvSpPr>
        <p:spPr>
          <a:xfrm>
            <a:off x="2337346" y="2314575"/>
            <a:ext cx="1802011" cy="19853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564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 지표 1 - 프로세스</a:t>
            </a:r>
            <a:endParaRPr lang="en-US" sz="1125" dirty="0"/>
          </a:p>
        </p:txBody>
      </p:sp>
      <p:sp>
        <p:nvSpPr>
          <p:cNvPr id="27" name="Text 8"/>
          <p:cNvSpPr/>
          <p:nvPr/>
        </p:nvSpPr>
        <p:spPr>
          <a:xfrm>
            <a:off x="7996684" y="2314575"/>
            <a:ext cx="1980158" cy="19853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564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 지표 2 - 품질 및 책임</a:t>
            </a:r>
            <a:endParaRPr lang="en-US" sz="1125" dirty="0"/>
          </a:p>
        </p:txBody>
      </p:sp>
      <p:sp>
        <p:nvSpPr>
          <p:cNvPr id="28" name="Text 9"/>
          <p:cNvSpPr/>
          <p:nvPr/>
        </p:nvSpPr>
        <p:spPr>
          <a:xfrm>
            <a:off x="11077575" y="180975"/>
            <a:ext cx="92199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125"/>
              </a:lnSpc>
              <a:buNone/>
            </a:pPr>
            <a:r>
              <a:rPr lang="en-US" sz="1125" dirty="0">
                <a:solidFill>
                  <a:srgbClr val="9E9E9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You Dream.</a:t>
            </a:r>
            <a:endParaRPr lang="en-US" sz="11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6652171"/>
            <a:ext cx="292596" cy="198834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1953" y="6645325"/>
            <a:ext cx="280392" cy="212527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557" y="6604248"/>
            <a:ext cx="268188" cy="253603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584" y="4245025"/>
            <a:ext cx="268188" cy="267444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177" y="3278088"/>
            <a:ext cx="292596" cy="287982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963067" cy="624036"/>
          </a:xfrm>
          <a:prstGeom prst="rect">
            <a:avLst/>
          </a:prstGeom>
        </p:spPr>
      </p:pic>
      <p:sp>
        <p:nvSpPr>
          <p:cNvPr id="9" name="Text 0"/>
          <p:cNvSpPr/>
          <p:nvPr/>
        </p:nvSpPr>
        <p:spPr>
          <a:xfrm>
            <a:off x="1076325" y="190500"/>
            <a:ext cx="3520440" cy="3173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99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협업 전이 체크리스트</a:t>
            </a:r>
            <a:endParaRPr lang="en-US" sz="2100" dirty="0"/>
          </a:p>
        </p:txBody>
      </p:sp>
      <p:sp>
        <p:nvSpPr>
          <p:cNvPr id="10" name="Text 1"/>
          <p:cNvSpPr/>
          <p:nvPr/>
        </p:nvSpPr>
        <p:spPr>
          <a:xfrm>
            <a:off x="4263777" y="1600200"/>
            <a:ext cx="3635573" cy="23797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874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운영을 위한 핵심 점검 사항</a:t>
            </a:r>
            <a:endParaRPr lang="en-US" sz="1575" dirty="0"/>
          </a:p>
        </p:txBody>
      </p:sp>
      <p:sp>
        <p:nvSpPr>
          <p:cNvPr id="11" name="Text 2"/>
          <p:cNvSpPr/>
          <p:nvPr/>
        </p:nvSpPr>
        <p:spPr>
          <a:xfrm>
            <a:off x="352425" y="742950"/>
            <a:ext cx="5943600" cy="3195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16"/>
              </a:lnSpc>
              <a:buNone/>
            </a:pPr>
            <a:r>
              <a:rPr lang="en-US" sz="1950" b="1" dirty="0">
                <a:solidFill>
                  <a:srgbClr val="49494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협업 전이를 위한 최종 점검</a:t>
            </a:r>
            <a:endParaRPr lang="en-US" sz="1950" dirty="0"/>
          </a:p>
        </p:txBody>
      </p:sp>
      <p:sp>
        <p:nvSpPr>
          <p:cNvPr id="12" name="Text 3"/>
          <p:cNvSpPr/>
          <p:nvPr/>
        </p:nvSpPr>
        <p:spPr>
          <a:xfrm>
            <a:off x="1200150" y="3276600"/>
            <a:ext cx="3680460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98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브랜치 및 MR 규칙 확인</a:t>
            </a:r>
            <a:endParaRPr lang="en-US" sz="1725" dirty="0"/>
          </a:p>
        </p:txBody>
      </p:sp>
      <p:sp>
        <p:nvSpPr>
          <p:cNvPr id="13" name="Text 4"/>
          <p:cNvSpPr/>
          <p:nvPr/>
        </p:nvSpPr>
        <p:spPr>
          <a:xfrm>
            <a:off x="4981575" y="3276600"/>
            <a:ext cx="3154680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98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롤백 기준 문서화 여부</a:t>
            </a:r>
            <a:endParaRPr lang="en-US" sz="1725" dirty="0"/>
          </a:p>
        </p:txBody>
      </p:sp>
      <p:sp>
        <p:nvSpPr>
          <p:cNvPr id="14" name="Text 5"/>
          <p:cNvSpPr/>
          <p:nvPr/>
        </p:nvSpPr>
        <p:spPr>
          <a:xfrm>
            <a:off x="8763000" y="3276600"/>
            <a:ext cx="3429000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98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장애 커뮤니케이션 채널 확정</a:t>
            </a:r>
            <a:endParaRPr lang="en-US" sz="1725" dirty="0"/>
          </a:p>
        </p:txBody>
      </p:sp>
      <p:sp>
        <p:nvSpPr>
          <p:cNvPr id="15" name="Text 6"/>
          <p:cNvSpPr/>
          <p:nvPr/>
        </p:nvSpPr>
        <p:spPr>
          <a:xfrm>
            <a:off x="1522958" y="2838450"/>
            <a:ext cx="1487686" cy="20761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3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규칙 및 역할</a:t>
            </a:r>
            <a:endParaRPr lang="en-US" sz="1500" dirty="0"/>
          </a:p>
        </p:txBody>
      </p:sp>
      <p:sp>
        <p:nvSpPr>
          <p:cNvPr id="16" name="Text 7"/>
          <p:cNvSpPr/>
          <p:nvPr/>
        </p:nvSpPr>
        <p:spPr>
          <a:xfrm>
            <a:off x="5201989" y="2838450"/>
            <a:ext cx="1854398" cy="20761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3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복구 절차 및 MLOps</a:t>
            </a:r>
            <a:endParaRPr lang="en-US" sz="1500" dirty="0"/>
          </a:p>
        </p:txBody>
      </p:sp>
      <p:sp>
        <p:nvSpPr>
          <p:cNvPr id="17" name="Text 8"/>
          <p:cNvSpPr/>
          <p:nvPr/>
        </p:nvSpPr>
        <p:spPr>
          <a:xfrm>
            <a:off x="9142958" y="2838450"/>
            <a:ext cx="1487686" cy="20761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3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소통 채널 및 연동</a:t>
            </a:r>
            <a:endParaRPr lang="en-US" sz="1500" dirty="0"/>
          </a:p>
        </p:txBody>
      </p:sp>
      <p:sp>
        <p:nvSpPr>
          <p:cNvPr id="18" name="Text 9"/>
          <p:cNvSpPr/>
          <p:nvPr/>
        </p:nvSpPr>
        <p:spPr>
          <a:xfrm>
            <a:off x="1200150" y="3638550"/>
            <a:ext cx="2336453" cy="45333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기본 브랜치 보호 정책과</a:t>
            </a:r>
            <a:pPr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승인 규칙이 명확한가?</a:t>
            </a:r>
            <a:endParaRPr lang="en-US" sz="1500" dirty="0"/>
          </a:p>
        </p:txBody>
      </p:sp>
      <p:sp>
        <p:nvSpPr>
          <p:cNvPr id="19" name="Text 10"/>
          <p:cNvSpPr/>
          <p:nvPr/>
        </p:nvSpPr>
        <p:spPr>
          <a:xfrm>
            <a:off x="1200150" y="4238625"/>
            <a:ext cx="2472630" cy="6799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CI/CD 운영 책임자 지정</a:t>
            </a:r>
            <a:pPr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Runner 관리자와 태그 생성</a:t>
            </a:r>
            <a:pPr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시점·담당자가 정해졌는가?</a:t>
            </a:r>
            <a:endParaRPr lang="en-US" sz="1500" dirty="0"/>
          </a:p>
        </p:txBody>
      </p:sp>
      <p:sp>
        <p:nvSpPr>
          <p:cNvPr id="20" name="Text 11"/>
          <p:cNvSpPr/>
          <p:nvPr/>
        </p:nvSpPr>
        <p:spPr>
          <a:xfrm>
            <a:off x="4981575" y="3638550"/>
            <a:ext cx="2451646" cy="45333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롤백 조건·절차·승인자가</a:t>
            </a:r>
            <a:pPr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사전에 합의되어 있는가?</a:t>
            </a:r>
            <a:endParaRPr lang="en-US" sz="1500" dirty="0"/>
          </a:p>
        </p:txBody>
      </p:sp>
      <p:sp>
        <p:nvSpPr>
          <p:cNvPr id="21" name="Text 12"/>
          <p:cNvSpPr/>
          <p:nvPr/>
        </p:nvSpPr>
        <p:spPr>
          <a:xfrm>
            <a:off x="4981575" y="4238625"/>
            <a:ext cx="2692598" cy="6799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MLOps 롤백 책임자 구분</a:t>
            </a:r>
            <a:pPr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코드 롤백과 모델 롤백의</a:t>
            </a:r>
            <a:pPr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담당자가 분리되어 있는가?</a:t>
            </a:r>
            <a:endParaRPr lang="en-US" sz="1500" dirty="0"/>
          </a:p>
        </p:txBody>
      </p:sp>
      <p:sp>
        <p:nvSpPr>
          <p:cNvPr id="22" name="Text 13"/>
          <p:cNvSpPr/>
          <p:nvPr/>
        </p:nvSpPr>
        <p:spPr>
          <a:xfrm>
            <a:off x="8763000" y="3638550"/>
            <a:ext cx="2577405" cy="45333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Slack·Teams 등 장애 시</a:t>
            </a:r>
            <a:pPr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공유 채널이 지정되었는가?</a:t>
            </a:r>
            <a:endParaRPr lang="en-US" sz="1500" dirty="0"/>
          </a:p>
        </p:txBody>
      </p:sp>
      <p:sp>
        <p:nvSpPr>
          <p:cNvPr id="23" name="Text 14"/>
          <p:cNvSpPr/>
          <p:nvPr/>
        </p:nvSpPr>
        <p:spPr>
          <a:xfrm>
            <a:off x="8763000" y="4238625"/>
            <a:ext cx="2986088" cy="6799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OpenProject 연동 규칙 적용</a:t>
            </a:r>
            <a:pPr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이슈와 MR 연결을 강제하는</a:t>
            </a:r>
            <a:pPr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 규칙이 존재하는가?</a:t>
            </a:r>
            <a:endParaRPr lang="en-US" sz="1500" dirty="0"/>
          </a:p>
        </p:txBody>
      </p:sp>
      <p:sp>
        <p:nvSpPr>
          <p:cNvPr id="24" name="Text 15"/>
          <p:cNvSpPr/>
          <p:nvPr/>
        </p:nvSpPr>
        <p:spPr>
          <a:xfrm>
            <a:off x="7905750" y="209550"/>
            <a:ext cx="4286250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451"/>
              </a:lnSpc>
              <a:buNone/>
            </a:pPr>
            <a:r>
              <a:rPr lang="en-US" sz="1125" b="1" dirty="0">
                <a:solidFill>
                  <a:srgbClr val="8B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CH08: 캡스톤 시나리오 및 역할 기반 플레이북</a:t>
            </a:r>
            <a:endParaRPr lang="en-US" sz="1125" dirty="0"/>
          </a:p>
        </p:txBody>
      </p:sp>
      <p:sp>
        <p:nvSpPr>
          <p:cNvPr id="25" name="Text 16"/>
          <p:cNvSpPr/>
          <p:nvPr/>
        </p:nvSpPr>
        <p:spPr>
          <a:xfrm>
            <a:off x="10953750" y="190500"/>
            <a:ext cx="100578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49494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You Dream,</a:t>
            </a:r>
            <a:pPr algn="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49494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49494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 Display.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5796" y="6652171"/>
            <a:ext cx="292596" cy="20568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1953" y="6638479"/>
            <a:ext cx="280392" cy="219373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353" y="6604248"/>
            <a:ext cx="268188" cy="253603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565" y="5664696"/>
            <a:ext cx="511969" cy="452586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565" y="4930825"/>
            <a:ext cx="511969" cy="452586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565" y="4155877"/>
            <a:ext cx="511969" cy="51435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4565" y="3415159"/>
            <a:ext cx="511969" cy="507355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4565" y="2667744"/>
            <a:ext cx="511969" cy="51435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565" y="1927027"/>
            <a:ext cx="511969" cy="507355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0"/>
            <a:ext cx="670471" cy="617190"/>
          </a:xfrm>
          <a:prstGeom prst="rect">
            <a:avLst/>
          </a:prstGeom>
        </p:spPr>
      </p:pic>
      <p:sp>
        <p:nvSpPr>
          <p:cNvPr id="13" name="Text 0"/>
          <p:cNvSpPr/>
          <p:nvPr/>
        </p:nvSpPr>
        <p:spPr>
          <a:xfrm>
            <a:off x="352425" y="742950"/>
            <a:ext cx="11839575" cy="29721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4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배포 전 필수 점검 사항 / Critical Checks Before Final Deployment</a:t>
            </a:r>
            <a:endParaRPr lang="en-US" sz="1950" dirty="0"/>
          </a:p>
        </p:txBody>
      </p:sp>
      <p:sp>
        <p:nvSpPr>
          <p:cNvPr id="14" name="Text 1"/>
          <p:cNvSpPr/>
          <p:nvPr/>
        </p:nvSpPr>
        <p:spPr>
          <a:xfrm>
            <a:off x="1447800" y="1905000"/>
            <a:ext cx="4568130" cy="52387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63"/>
              </a:lnSpc>
              <a:buNone/>
            </a:pPr>
            <a:r>
              <a:rPr lang="en-US" sz="18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커밋 누락: 변경 후 push 없이 MR 생성</a:t>
            </a:r>
            <a:pPr indent="0" marL="0">
              <a:lnSpc>
                <a:spcPts val="2063"/>
              </a:lnSpc>
              <a:buNone/>
            </a:pPr>
            <a:r>
              <a:rPr lang="en-US" sz="18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63"/>
              </a:lnSpc>
              <a:buNone/>
            </a:pPr>
            <a:r>
              <a:rPr lang="en-US" sz="18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`git status-diff` 미확인으로 누락 발생</a:t>
            </a:r>
            <a:endParaRPr lang="en-US" sz="1875" dirty="0"/>
          </a:p>
        </p:txBody>
      </p:sp>
      <p:sp>
        <p:nvSpPr>
          <p:cNvPr id="15" name="Text 2"/>
          <p:cNvSpPr/>
          <p:nvPr/>
        </p:nvSpPr>
        <p:spPr>
          <a:xfrm>
            <a:off x="1447800" y="2657475"/>
            <a:ext cx="4463355" cy="52387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63"/>
              </a:lnSpc>
              <a:buNone/>
            </a:pPr>
            <a:r>
              <a:rPr lang="en-US" sz="18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'git add .' 남용: 불필요 파일 스테이징</a:t>
            </a:r>
            <a:pPr indent="0" marL="0">
              <a:lnSpc>
                <a:spcPts val="2063"/>
              </a:lnSpc>
              <a:buNone/>
            </a:pPr>
            <a:r>
              <a:rPr lang="en-US" sz="18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63"/>
              </a:lnSpc>
              <a:buNone/>
            </a:pPr>
            <a:r>
              <a:rPr lang="en-US" sz="18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`git diff --staged`로 범위 반드시 검증</a:t>
            </a:r>
            <a:endParaRPr lang="en-US" sz="1875" dirty="0"/>
          </a:p>
        </p:txBody>
      </p:sp>
      <p:sp>
        <p:nvSpPr>
          <p:cNvPr id="16" name="Text 3"/>
          <p:cNvSpPr/>
          <p:nvPr/>
        </p:nvSpPr>
        <p:spPr>
          <a:xfrm>
            <a:off x="1447800" y="3390900"/>
            <a:ext cx="3918496" cy="48190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98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파이프라인 성공 = 품질 보증 오해</a:t>
            </a:r>
            <a:pPr indent="0" marL="0">
              <a:lnSpc>
                <a:spcPts val="1898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98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CI는 도구일 뿐, 리뷰·테스트 대체 불가</a:t>
            </a:r>
            <a:endParaRPr lang="en-US" sz="1725" dirty="0"/>
          </a:p>
        </p:txBody>
      </p:sp>
      <p:sp>
        <p:nvSpPr>
          <p:cNvPr id="17" name="Text 4"/>
          <p:cNvSpPr/>
          <p:nvPr/>
        </p:nvSpPr>
        <p:spPr>
          <a:xfrm>
            <a:off x="1447800" y="4133850"/>
            <a:ext cx="3855690" cy="48190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98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승인 없이 병합 시도: 규칙 경시화</a:t>
            </a:r>
            <a:pPr indent="0" marL="0">
              <a:lnSpc>
                <a:spcPts val="1898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98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Approval Rule은 운영 리스크 방어선</a:t>
            </a:r>
            <a:endParaRPr lang="en-US" sz="1725" dirty="0"/>
          </a:p>
        </p:txBody>
      </p:sp>
      <p:sp>
        <p:nvSpPr>
          <p:cNvPr id="18" name="Text 5"/>
          <p:cNvSpPr/>
          <p:nvPr/>
        </p:nvSpPr>
        <p:spPr>
          <a:xfrm>
            <a:off x="1447800" y="4876800"/>
            <a:ext cx="4159448" cy="48190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98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롤백 기준 미정의: 장애 시 판단 지연</a:t>
            </a:r>
            <a:pPr indent="0" marL="0">
              <a:lnSpc>
                <a:spcPts val="1898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98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Owner 승인 절차·기준 사전 문서화 필수</a:t>
            </a:r>
            <a:endParaRPr lang="en-US" sz="1725" dirty="0"/>
          </a:p>
        </p:txBody>
      </p:sp>
      <p:sp>
        <p:nvSpPr>
          <p:cNvPr id="19" name="Text 6"/>
          <p:cNvSpPr/>
          <p:nvPr/>
        </p:nvSpPr>
        <p:spPr>
          <a:xfrm>
            <a:off x="1447800" y="5619750"/>
            <a:ext cx="4327178" cy="46107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15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이슈·MR 연결 누락: 추적성 단절</a:t>
            </a:r>
            <a:pPr indent="0" marL="0">
              <a:lnSpc>
                <a:spcPts val="1815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15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OpenProject·GitLab 참조 ID 반드시 명시</a:t>
            </a:r>
            <a:endParaRPr lang="en-US" sz="1650" dirty="0"/>
          </a:p>
        </p:txBody>
      </p:sp>
      <p:sp>
        <p:nvSpPr>
          <p:cNvPr id="20" name="Text 7"/>
          <p:cNvSpPr/>
          <p:nvPr/>
        </p:nvSpPr>
        <p:spPr>
          <a:xfrm>
            <a:off x="6984653" y="190500"/>
            <a:ext cx="5207198" cy="5656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485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Capstone Scenario and</a:t>
            </a:r>
            <a:pPr algn="ctr" indent="0" marL="0">
              <a:lnSpc>
                <a:spcPts val="1485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485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Role-Based Playbook You Dream,</a:t>
            </a:r>
            <a:pPr algn="ctr" indent="0" marL="0">
              <a:lnSpc>
                <a:spcPts val="1485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485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 Display.</a:t>
            </a:r>
            <a:endParaRPr lang="en-US" sz="1350" dirty="0"/>
          </a:p>
        </p:txBody>
      </p:sp>
      <p:sp>
        <p:nvSpPr>
          <p:cNvPr id="21" name="Text 8"/>
          <p:cNvSpPr/>
          <p:nvPr/>
        </p:nvSpPr>
        <p:spPr>
          <a:xfrm>
            <a:off x="7161312" y="1428750"/>
            <a:ext cx="2965103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실수 방지 점검 루프</a:t>
            </a:r>
            <a:pPr algn="ctr" indent="0" marL="0">
              <a:lnSpc>
                <a:spcPts val="231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31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커밋/푸시 검증</a:t>
            </a:r>
            <a:endParaRPr lang="en-US" sz="2100" dirty="0"/>
          </a:p>
        </p:txBody>
      </p:sp>
      <p:sp>
        <p:nvSpPr>
          <p:cNvPr id="22" name="Text 9"/>
          <p:cNvSpPr/>
          <p:nvPr/>
        </p:nvSpPr>
        <p:spPr>
          <a:xfrm>
            <a:off x="7145536" y="3429000"/>
            <a:ext cx="3310830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실수 방지 점검 루프</a:t>
            </a:r>
            <a:pPr algn="ctr" indent="0" marL="0">
              <a:lnSpc>
                <a:spcPts val="231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31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MR 절차 및 승인 규칙 준수</a:t>
            </a:r>
            <a:endParaRPr lang="en-US" sz="2100" dirty="0"/>
          </a:p>
        </p:txBody>
      </p:sp>
      <p:sp>
        <p:nvSpPr>
          <p:cNvPr id="23" name="Text 10"/>
          <p:cNvSpPr/>
          <p:nvPr/>
        </p:nvSpPr>
        <p:spPr>
          <a:xfrm>
            <a:off x="6324005" y="5676900"/>
            <a:ext cx="5249168" cy="96381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898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실수 방지 점검 루프</a:t>
            </a:r>
            <a:pPr algn="ctr" indent="0" marL="0">
              <a:lnSpc>
                <a:spcPts val="1898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898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장애 대비 롤백 전략 확립</a:t>
            </a:r>
            <a:pPr algn="ctr" indent="0" marL="0">
              <a:lnSpc>
                <a:spcPts val="1898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898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배포 후 문제 발생 시 즉시 대응할 수 있는 승인 절차와</a:t>
            </a:r>
            <a:pPr algn="ctr" indent="0" marL="0">
              <a:lnSpc>
                <a:spcPts val="1898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898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롤백 전략을 확립해 두세요.</a:t>
            </a:r>
            <a:endParaRPr lang="en-US" sz="1725" dirty="0"/>
          </a:p>
        </p:txBody>
      </p:sp>
      <p:sp>
        <p:nvSpPr>
          <p:cNvPr id="24" name="Text 11"/>
          <p:cNvSpPr/>
          <p:nvPr/>
        </p:nvSpPr>
        <p:spPr>
          <a:xfrm>
            <a:off x="7134671" y="2076450"/>
            <a:ext cx="3551783" cy="48190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898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변경 사항에 대한 git status/diff를</a:t>
            </a:r>
            <a:pPr algn="ctr" indent="0" marL="0">
              <a:lnSpc>
                <a:spcPts val="1898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898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철저히 검토하고 푸시하세요.</a:t>
            </a:r>
            <a:endParaRPr lang="en-US" sz="1725" dirty="0"/>
          </a:p>
        </p:txBody>
      </p:sp>
      <p:sp>
        <p:nvSpPr>
          <p:cNvPr id="25" name="Text 12"/>
          <p:cNvSpPr/>
          <p:nvPr/>
        </p:nvSpPr>
        <p:spPr>
          <a:xfrm>
            <a:off x="6322219" y="4076700"/>
            <a:ext cx="529113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CI 결과를 맹신하지 말고, 리뷰와 승인 절차를 따르세요.</a:t>
            </a:r>
            <a:endParaRPr lang="en-US" sz="1650" dirty="0"/>
          </a:p>
        </p:txBody>
      </p:sp>
      <p:sp>
        <p:nvSpPr>
          <p:cNvPr id="26" name="Text 13"/>
          <p:cNvSpPr/>
          <p:nvPr/>
        </p:nvSpPr>
        <p:spPr>
          <a:xfrm>
            <a:off x="104775" y="6638925"/>
            <a:ext cx="20574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350" dirty="0"/>
          </a:p>
        </p:txBody>
      </p:sp>
      <p:sp>
        <p:nvSpPr>
          <p:cNvPr id="27" name="Text 14"/>
          <p:cNvSpPr/>
          <p:nvPr/>
        </p:nvSpPr>
        <p:spPr>
          <a:xfrm>
            <a:off x="5876925" y="6705600"/>
            <a:ext cx="41910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825"/>
              </a:lnSpc>
              <a:buNone/>
            </a:pPr>
            <a:r>
              <a:rPr lang="en-US" sz="8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PUBLIC</a:t>
            </a:r>
            <a:endParaRPr lang="en-US" sz="8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8471" y="5966371"/>
            <a:ext cx="853380" cy="89148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5796" y="6652171"/>
            <a:ext cx="292596" cy="20568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1953" y="6638479"/>
            <a:ext cx="280392" cy="219373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0557" y="6604248"/>
            <a:ext cx="255984" cy="253603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9780" y="4834830"/>
            <a:ext cx="597396" cy="665113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8659" y="4827984"/>
            <a:ext cx="719286" cy="699492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78761" y="3730675"/>
            <a:ext cx="731490" cy="191988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66557" y="3476923"/>
            <a:ext cx="743694" cy="233065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3067" y="3483769"/>
            <a:ext cx="682675" cy="658267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66557" y="2509986"/>
            <a:ext cx="743694" cy="301675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54353" y="2112169"/>
            <a:ext cx="743694" cy="363438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38659" y="2119015"/>
            <a:ext cx="719286" cy="671959"/>
          </a:xfrm>
          <a:prstGeom prst="rect">
            <a:avLst/>
          </a:prstGeom>
        </p:spPr>
      </p:pic>
      <p:sp>
        <p:nvSpPr>
          <p:cNvPr id="15" name="Text 0"/>
          <p:cNvSpPr/>
          <p:nvPr/>
        </p:nvSpPr>
        <p:spPr>
          <a:xfrm>
            <a:off x="228600" y="123825"/>
            <a:ext cx="11963400" cy="40481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188"/>
              </a:lnSpc>
              <a:buNone/>
            </a:pPr>
            <a:r>
              <a:rPr lang="en-US" sz="2550" b="1" dirty="0">
                <a:solidFill>
                  <a:srgbClr val="2F2F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CH08 요약: 협업, 통제, 추적, 복구를 하나의 운영 흐름으로 본다</a:t>
            </a:r>
            <a:endParaRPr lang="en-US" sz="2550" dirty="0"/>
          </a:p>
        </p:txBody>
      </p:sp>
      <p:sp>
        <p:nvSpPr>
          <p:cNvPr id="16" name="Text 1"/>
          <p:cNvSpPr/>
          <p:nvPr/>
        </p:nvSpPr>
        <p:spPr>
          <a:xfrm>
            <a:off x="1809750" y="2114550"/>
            <a:ext cx="4452938" cy="6179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32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협업은 상태를 정확히 설명하는 능력에서 시작</a:t>
            </a:r>
            <a:pPr indent="0" marL="0">
              <a:lnSpc>
                <a:spcPts val="2432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432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명령어보다 현재 상태 파악과 전달이 핵심</a:t>
            </a:r>
            <a:endParaRPr lang="en-US" sz="1725" dirty="0"/>
          </a:p>
        </p:txBody>
      </p:sp>
      <p:sp>
        <p:nvSpPr>
          <p:cNvPr id="17" name="Text 2"/>
          <p:cNvSpPr/>
          <p:nvPr/>
        </p:nvSpPr>
        <p:spPr>
          <a:xfrm>
            <a:off x="7172325" y="2114550"/>
            <a:ext cx="4641503" cy="59084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27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이슈→MR→파이프라인→배포→복구 흐름 체크</a:t>
            </a:r>
            <a:pPr indent="0" marL="0">
              <a:lnSpc>
                <a:spcPts val="2327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327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사이클을 1회 완주한 경험이 자산</a:t>
            </a:r>
            <a:endParaRPr lang="en-US" sz="1650" dirty="0"/>
          </a:p>
        </p:txBody>
      </p:sp>
      <p:sp>
        <p:nvSpPr>
          <p:cNvPr id="18" name="Text 3"/>
          <p:cNvSpPr/>
          <p:nvPr/>
        </p:nvSpPr>
        <p:spPr>
          <a:xfrm>
            <a:off x="1809750" y="3486150"/>
            <a:ext cx="4316611" cy="6179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32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운영은 안전한 복구 기준을 갖추는 데서 완성</a:t>
            </a:r>
            <a:pPr indent="0" marL="0">
              <a:lnSpc>
                <a:spcPts val="2432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432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병합 속도보다 롤백 기준 수립이 우선</a:t>
            </a:r>
            <a:endParaRPr lang="en-US" sz="1725" dirty="0"/>
          </a:p>
        </p:txBody>
      </p:sp>
      <p:sp>
        <p:nvSpPr>
          <p:cNvPr id="19" name="Text 4"/>
          <p:cNvSpPr/>
          <p:nvPr/>
        </p:nvSpPr>
        <p:spPr>
          <a:xfrm>
            <a:off x="7172325" y="3486150"/>
            <a:ext cx="4994910" cy="30227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81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역할별 판단 기준과 체크리스트 보유</a:t>
            </a:r>
            <a:endParaRPr lang="en-US" sz="1725" dirty="0"/>
          </a:p>
        </p:txBody>
      </p:sp>
      <p:sp>
        <p:nvSpPr>
          <p:cNvPr id="20" name="Text 5"/>
          <p:cNvSpPr/>
          <p:nvPr/>
        </p:nvSpPr>
        <p:spPr>
          <a:xfrm>
            <a:off x="1809750" y="4857750"/>
            <a:ext cx="3761333" cy="59084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27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3가지 핵심 역량: 상태·절차·복구 인지</a:t>
            </a:r>
            <a:pPr indent="0" marL="0">
              <a:lnSpc>
                <a:spcPts val="2327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327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나의 상태, 팀 절차, 복구 시작점을 안다</a:t>
            </a:r>
            <a:endParaRPr lang="en-US" sz="1650" dirty="0"/>
          </a:p>
        </p:txBody>
      </p:sp>
      <p:sp>
        <p:nvSpPr>
          <p:cNvPr id="21" name="Text 6"/>
          <p:cNvSpPr/>
          <p:nvPr/>
        </p:nvSpPr>
        <p:spPr>
          <a:xfrm>
            <a:off x="7172325" y="4857750"/>
            <a:ext cx="4232821" cy="6179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32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현업 적용: 팀 운영 규칙 초안 즉시 수립 가능</a:t>
            </a:r>
            <a:pPr indent="0" marL="0">
              <a:lnSpc>
                <a:spcPts val="2432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432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체크리스트 기반으로 우리 팀 규칙 전환</a:t>
            </a:r>
            <a:endParaRPr lang="en-US" sz="1725" dirty="0"/>
          </a:p>
        </p:txBody>
      </p:sp>
      <p:sp>
        <p:nvSpPr>
          <p:cNvPr id="22" name="Text 7"/>
          <p:cNvSpPr/>
          <p:nvPr/>
        </p:nvSpPr>
        <p:spPr>
          <a:xfrm>
            <a:off x="7172325" y="3829050"/>
            <a:ext cx="5019675" cy="26863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1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Owner·Maintainer·Developer 행동 기준 명확화</a:t>
            </a:r>
            <a:endParaRPr lang="en-US" sz="1500" dirty="0"/>
          </a:p>
        </p:txBody>
      </p:sp>
      <p:sp>
        <p:nvSpPr>
          <p:cNvPr id="23" name="Text 8"/>
          <p:cNvSpPr/>
          <p:nvPr/>
        </p:nvSpPr>
        <p:spPr>
          <a:xfrm>
            <a:off x="9496425" y="190500"/>
            <a:ext cx="260880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350"/>
              </a:lnSpc>
              <a:buNone/>
            </a:pPr>
            <a:r>
              <a:rPr lang="en-US" sz="1125" b="1" dirty="0">
                <a:solidFill>
                  <a:srgbClr val="2F2F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Capstone Scenario and</a:t>
            </a:r>
            <a:pPr algn="r" indent="0" marL="0">
              <a:lnSpc>
                <a:spcPts val="1350"/>
              </a:lnSpc>
              <a:buNone/>
            </a:pPr>
            <a:r>
              <a:rPr lang="en-US" sz="1125" b="1" dirty="0">
                <a:solidFill>
                  <a:srgbClr val="2F2F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r" indent="0" marL="0">
              <a:lnSpc>
                <a:spcPts val="1350"/>
              </a:lnSpc>
              <a:buNone/>
            </a:pPr>
            <a:r>
              <a:rPr lang="en-US" sz="1125" b="1" dirty="0">
                <a:solidFill>
                  <a:srgbClr val="2F2F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Role-Based Playbook</a:t>
            </a:r>
            <a:endParaRPr lang="en-US" sz="1125" dirty="0"/>
          </a:p>
        </p:txBody>
      </p:sp>
      <p:sp>
        <p:nvSpPr>
          <p:cNvPr id="24" name="Text 9"/>
          <p:cNvSpPr/>
          <p:nvPr/>
        </p:nvSpPr>
        <p:spPr>
          <a:xfrm>
            <a:off x="10896600" y="190500"/>
            <a:ext cx="1068586" cy="30867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215"/>
              </a:lnSpc>
              <a:buNone/>
            </a:pPr>
            <a:r>
              <a:rPr lang="en-US" sz="1125" b="1" dirty="0">
                <a:solidFill>
                  <a:srgbClr val="CC294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You Dream,</a:t>
            </a:r>
            <a:pPr algn="r" indent="0" marL="0">
              <a:lnSpc>
                <a:spcPts val="1215"/>
              </a:lnSpc>
              <a:buNone/>
            </a:pPr>
            <a:r>
              <a:rPr lang="en-US" sz="1125" b="1" dirty="0">
                <a:solidFill>
                  <a:srgbClr val="CC294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r" indent="0" marL="0">
              <a:lnSpc>
                <a:spcPts val="1215"/>
              </a:lnSpc>
              <a:buNone/>
            </a:pPr>
            <a:r>
              <a:rPr lang="en-US" sz="1125" b="1" dirty="0">
                <a:solidFill>
                  <a:srgbClr val="CC294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 Display.</a:t>
            </a:r>
            <a:endParaRPr lang="en-US" sz="1125" dirty="0"/>
          </a:p>
        </p:txBody>
      </p:sp>
      <p:sp>
        <p:nvSpPr>
          <p:cNvPr id="25" name="Text 10"/>
          <p:cNvSpPr/>
          <p:nvPr/>
        </p:nvSpPr>
        <p:spPr>
          <a:xfrm>
            <a:off x="466725" y="6638925"/>
            <a:ext cx="1714500" cy="16996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39"/>
              </a:lnSpc>
              <a:buNone/>
            </a:pPr>
            <a:r>
              <a:rPr lang="en-US" sz="1125" b="1" dirty="0">
                <a:solidFill>
                  <a:srgbClr val="8080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125" dirty="0"/>
          </a:p>
        </p:txBody>
      </p:sp>
      <p:sp>
        <p:nvSpPr>
          <p:cNvPr id="26" name="Text 11"/>
          <p:cNvSpPr/>
          <p:nvPr/>
        </p:nvSpPr>
        <p:spPr>
          <a:xfrm>
            <a:off x="5874544" y="6705600"/>
            <a:ext cx="471488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893"/>
              </a:lnSpc>
              <a:buNone/>
            </a:pPr>
            <a:r>
              <a:rPr lang="en-US" sz="750" dirty="0">
                <a:solidFill>
                  <a:srgbClr val="8080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PUBLIC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2026-04-10T21:06:13Z</dcterms:created>
  <dcterms:modified xsi:type="dcterms:W3CDTF">2026-04-10T21:06:13Z</dcterms:modified>
</cp:coreProperties>
</file>
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0550" y="400050"/>
            <a:ext cx="10206990" cy="4880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842"/>
              </a:lnSpc>
              <a:buNone/>
            </a:pPr>
            <a:r>
              <a:rPr lang="en-US" sz="35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이력을 읽고 안전하게 복구하는 방법</a:t>
            </a:r>
            <a:endParaRPr lang="en-US" sz="3525" dirty="0"/>
          </a:p>
        </p:txBody>
      </p:sp>
      <p:sp>
        <p:nvSpPr>
          <p:cNvPr id="4" name="Text 1"/>
          <p:cNvSpPr/>
          <p:nvPr/>
        </p:nvSpPr>
        <p:spPr>
          <a:xfrm>
            <a:off x="9734550" y="5200650"/>
            <a:ext cx="245745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7676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47800" y="1771650"/>
            <a:ext cx="154305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루틴</a:t>
            </a:r>
            <a:endParaRPr lang="en-US" sz="2025" dirty="0"/>
          </a:p>
        </p:txBody>
      </p:sp>
      <p:sp>
        <p:nvSpPr>
          <p:cNvPr id="6" name="Text 3"/>
          <p:cNvSpPr/>
          <p:nvPr/>
        </p:nvSpPr>
        <p:spPr>
          <a:xfrm>
            <a:off x="1447800" y="2600325"/>
            <a:ext cx="339471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Stash / Tag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1447800" y="3429000"/>
            <a:ext cx="462915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 vs Reset</a:t>
            </a:r>
            <a:endParaRPr lang="en-US" sz="2025" dirty="0"/>
          </a:p>
        </p:txBody>
      </p:sp>
      <p:sp>
        <p:nvSpPr>
          <p:cNvPr id="8" name="Text 5"/>
          <p:cNvSpPr/>
          <p:nvPr/>
        </p:nvSpPr>
        <p:spPr>
          <a:xfrm>
            <a:off x="1447800" y="4238625"/>
            <a:ext cx="462915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Bisect / Reflog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1447800" y="2181225"/>
            <a:ext cx="779907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발생 시 상태를 먼저 확정하는 5가지 기본 명령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447800" y="3000375"/>
            <a:ext cx="65722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작업 보관과 중요 릴리즈 시점 고정 방법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1447800" y="3829050"/>
            <a:ext cx="65722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이력과 개인 이력의 복구 전략 차이 이해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447800" y="4648200"/>
            <a:ext cx="630936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 지점 자동 탐색과 로컬 이동 기록 추적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10344150" y="6096000"/>
            <a:ext cx="95339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WOLED·OLED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200150" y="5753100"/>
            <a:ext cx="79552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 (CH03) | 2026. 04. 10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0772775" y="190500"/>
            <a:ext cx="134109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5810696" y="6705600"/>
            <a:ext cx="618083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68"/>
              </a:lnSpc>
              <a:buNone/>
            </a:pPr>
            <a:r>
              <a:rPr lang="en-US" sz="7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PUBLIC ]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88" y="6487567"/>
            <a:ext cx="304800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098" y="5129659"/>
            <a:ext cx="633859" cy="6103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1098" y="3518148"/>
            <a:ext cx="633859" cy="61034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1098" y="1892796"/>
            <a:ext cx="646063" cy="58965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8180" y="4670227"/>
            <a:ext cx="585192" cy="54858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6996" y="4011811"/>
            <a:ext cx="475357" cy="54173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8180" y="3367236"/>
            <a:ext cx="585192" cy="55542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6996" y="2729359"/>
            <a:ext cx="463153" cy="50735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5977" y="2064246"/>
            <a:ext cx="597396" cy="555427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61950" y="238125"/>
            <a:ext cx="9372600" cy="4412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475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문제가 생기면 먼저 상태부터 확정하다</a:t>
            </a:r>
            <a:endParaRPr lang="en-US" sz="3075" dirty="0"/>
          </a:p>
        </p:txBody>
      </p:sp>
      <p:sp>
        <p:nvSpPr>
          <p:cNvPr id="13" name="Text 1"/>
          <p:cNvSpPr/>
          <p:nvPr/>
        </p:nvSpPr>
        <p:spPr>
          <a:xfrm>
            <a:off x="409575" y="876300"/>
            <a:ext cx="8949690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93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성공적인 복구의 시작: 체계적인 Git 진단 루틴</a:t>
            </a:r>
            <a:endParaRPr lang="en-US" sz="2175" dirty="0"/>
          </a:p>
        </p:txBody>
      </p:sp>
      <p:sp>
        <p:nvSpPr>
          <p:cNvPr id="14" name="Text 2"/>
          <p:cNvSpPr/>
          <p:nvPr/>
        </p:nvSpPr>
        <p:spPr>
          <a:xfrm>
            <a:off x="8696325" y="352425"/>
            <a:ext cx="3447008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588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03: 이력 검토 및 복구</a:t>
            </a:r>
            <a:endParaRPr lang="en-US" sz="1875" dirty="0"/>
          </a:p>
        </p:txBody>
      </p:sp>
      <p:sp>
        <p:nvSpPr>
          <p:cNvPr id="15" name="Text 3"/>
          <p:cNvSpPr/>
          <p:nvPr/>
        </p:nvSpPr>
        <p:spPr>
          <a:xfrm>
            <a:off x="4124325" y="2085975"/>
            <a:ext cx="3258443" cy="452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원격 상태 동기화</a:t>
            </a:r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fetch origin': 최신 원격 상태를 로컬 반영</a:t>
            </a:r>
            <a:endParaRPr lang="en-US" sz="1425" dirty="0"/>
          </a:p>
        </p:txBody>
      </p:sp>
      <p:sp>
        <p:nvSpPr>
          <p:cNvPr id="16" name="Text 4"/>
          <p:cNvSpPr/>
          <p:nvPr/>
        </p:nvSpPr>
        <p:spPr>
          <a:xfrm>
            <a:off x="4124325" y="2800350"/>
            <a:ext cx="348897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브랜치 위치 확인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branch -vv': 현재 브랜치와 원격 관계 파악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4124325" y="3514725"/>
            <a:ext cx="3248025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작업 공간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status': 수정 중인 파일 존재 여부 확인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4124325" y="4219575"/>
            <a:ext cx="3876675" cy="452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커밋 흐름 조회 (Log --graph)</a:t>
            </a:r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log --oneline --graph': 커밋 이력 구조 시각화</a:t>
            </a:r>
            <a:endParaRPr lang="en-US" sz="1425" dirty="0"/>
          </a:p>
        </p:txBody>
      </p:sp>
      <p:sp>
        <p:nvSpPr>
          <p:cNvPr id="19" name="Text 7"/>
          <p:cNvSpPr/>
          <p:nvPr/>
        </p:nvSpPr>
        <p:spPr>
          <a:xfrm>
            <a:off x="4124325" y="4933950"/>
            <a:ext cx="4002286" cy="4524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마지막 커밋 검토 (Show)</a:t>
            </a:r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show --stat HEAD': 마지막 커밋 상세 내용 확인</a:t>
            </a:r>
            <a:endParaRPr lang="en-US" sz="1425" dirty="0"/>
          </a:p>
        </p:txBody>
      </p:sp>
      <p:sp>
        <p:nvSpPr>
          <p:cNvPr id="20" name="Text 8"/>
          <p:cNvSpPr/>
          <p:nvPr/>
        </p:nvSpPr>
        <p:spPr>
          <a:xfrm>
            <a:off x="4124325" y="5638800"/>
            <a:ext cx="250403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문제 범위 분류 (Classify)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결과에 따라 문제 범위 분류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1876425" y="2114550"/>
            <a:ext cx="1707803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원격 상태 동기화</a:t>
            </a:r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(Fetch origin)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1876425" y="2819400"/>
            <a:ext cx="1707803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브랜치 위치 확인</a:t>
            </a:r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(Branch -vv)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1876425" y="3533775"/>
            <a:ext cx="1561058" cy="4268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작업 공간 상태</a:t>
            </a:r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8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(Status)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1876425" y="4238625"/>
            <a:ext cx="1561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커밋 흐름 조회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(Log --graph)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1876425" y="4943475"/>
            <a:ext cx="170780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마지막 커밋 검토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(Show)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8839200" y="1695450"/>
            <a:ext cx="3200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및 브랜치 상태 파악</a:t>
            </a:r>
            <a:endParaRPr lang="en-US" sz="1500" dirty="0"/>
          </a:p>
        </p:txBody>
      </p:sp>
      <p:sp>
        <p:nvSpPr>
          <p:cNvPr id="27" name="Text 15"/>
          <p:cNvSpPr/>
          <p:nvPr/>
        </p:nvSpPr>
        <p:spPr>
          <a:xfrm>
            <a:off x="8839200" y="3314700"/>
            <a:ext cx="2743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이력 구조 시각화</a:t>
            </a:r>
            <a:endParaRPr lang="en-US" sz="1500" dirty="0"/>
          </a:p>
        </p:txBody>
      </p:sp>
      <p:sp>
        <p:nvSpPr>
          <p:cNvPr id="28" name="Text 16"/>
          <p:cNvSpPr/>
          <p:nvPr/>
        </p:nvSpPr>
        <p:spPr>
          <a:xfrm>
            <a:off x="8839200" y="4933950"/>
            <a:ext cx="2971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 검토 및 원격 대조</a:t>
            </a:r>
            <a:endParaRPr lang="en-US" sz="1500" dirty="0"/>
          </a:p>
        </p:txBody>
      </p:sp>
      <p:sp>
        <p:nvSpPr>
          <p:cNvPr id="29" name="Text 17"/>
          <p:cNvSpPr/>
          <p:nvPr/>
        </p:nvSpPr>
        <p:spPr>
          <a:xfrm>
            <a:off x="8839200" y="1990725"/>
            <a:ext cx="309086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status' 및 'git branch -vv'를 통해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작업 디렉토리의 상태와 브랜치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위치를 정확히 파악합니다.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8839200" y="3619500"/>
            <a:ext cx="309086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log --oneline --graph' 명령어로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커밋의 흐름과 분기 구조를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직관적으로 파악합니다.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8839200" y="5229225"/>
            <a:ext cx="319563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show --stat HEAD'로 마지막 커밋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내용을 상세 확인하고, 'git fetch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origin'으로 원격 상태를 대조합니다.</a:t>
            </a:r>
            <a:endParaRPr lang="en-US" sz="1350" dirty="0"/>
          </a:p>
        </p:txBody>
      </p:sp>
      <p:sp>
        <p:nvSpPr>
          <p:cNvPr id="32" name="Text 20"/>
          <p:cNvSpPr/>
          <p:nvPr/>
        </p:nvSpPr>
        <p:spPr>
          <a:xfrm>
            <a:off x="9848850" y="866775"/>
            <a:ext cx="2179290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862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 We Display.</a:t>
            </a:r>
            <a:endParaRPr lang="en-US" sz="1275" dirty="0"/>
          </a:p>
        </p:txBody>
      </p:sp>
      <p:sp>
        <p:nvSpPr>
          <p:cNvPr id="33" name="Text 21"/>
          <p:cNvSpPr/>
          <p:nvPr/>
        </p:nvSpPr>
        <p:spPr>
          <a:xfrm>
            <a:off x="5813524" y="6553200"/>
            <a:ext cx="5552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98" y="1604665"/>
            <a:ext cx="11265396" cy="418326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42875"/>
            <a:ext cx="1196340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diff, log, show를 목적별로 구분하기</a:t>
            </a:r>
            <a:endParaRPr lang="en-US" sz="2325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394335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9" name="Text 2"/>
          <p:cNvSpPr/>
          <p:nvPr/>
        </p:nvSpPr>
        <p:spPr>
          <a:xfrm>
            <a:off x="9144000" y="276225"/>
            <a:ext cx="1875383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CH03. 이력 조회 및 복구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10972800" y="190500"/>
            <a:ext cx="984796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5870674" y="6705600"/>
            <a:ext cx="55527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467" y="3463230"/>
            <a:ext cx="767953" cy="63772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161" y="3230017"/>
            <a:ext cx="841177" cy="89148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2188" y="3230017"/>
            <a:ext cx="1011882" cy="89148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28600" y="171450"/>
            <a:ext cx="9715500" cy="3530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80"/>
              </a:lnSpc>
              <a:buNone/>
            </a:pPr>
            <a:r>
              <a:rPr lang="en-US" sz="25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 --graph로 branch 흐름 읽기</a:t>
            </a:r>
            <a:endParaRPr lang="en-US" sz="2550" dirty="0"/>
          </a:p>
        </p:txBody>
      </p:sp>
      <p:sp>
        <p:nvSpPr>
          <p:cNvPr id="10" name="Text 1"/>
          <p:cNvSpPr/>
          <p:nvPr/>
        </p:nvSpPr>
        <p:spPr>
          <a:xfrm>
            <a:off x="352425" y="742950"/>
            <a:ext cx="8961120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CH03-History-Inspection-and-Recovery</a:t>
            </a:r>
            <a:endParaRPr lang="en-US" sz="1575" dirty="0"/>
          </a:p>
        </p:txBody>
      </p:sp>
      <p:sp>
        <p:nvSpPr>
          <p:cNvPr id="11" name="Text 2"/>
          <p:cNvSpPr/>
          <p:nvPr/>
        </p:nvSpPr>
        <p:spPr>
          <a:xfrm>
            <a:off x="1501080" y="2314575"/>
            <a:ext cx="155064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분기와 흐름 파악</a:t>
            </a:r>
            <a:endParaRPr lang="en-US" sz="1725" dirty="0"/>
          </a:p>
        </p:txBody>
      </p:sp>
      <p:sp>
        <p:nvSpPr>
          <p:cNvPr id="12" name="Text 3"/>
          <p:cNvSpPr/>
          <p:nvPr/>
        </p:nvSpPr>
        <p:spPr>
          <a:xfrm>
            <a:off x="5404396" y="2314575"/>
            <a:ext cx="1382911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정보 식별</a:t>
            </a:r>
            <a:endParaRPr lang="en-US" sz="1725" dirty="0"/>
          </a:p>
        </p:txBody>
      </p:sp>
      <p:sp>
        <p:nvSpPr>
          <p:cNvPr id="13" name="Text 4"/>
          <p:cNvSpPr/>
          <p:nvPr/>
        </p:nvSpPr>
        <p:spPr>
          <a:xfrm>
            <a:off x="9244905" y="2314575"/>
            <a:ext cx="1341090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80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이력 조회</a:t>
            </a:r>
            <a:endParaRPr lang="en-US" sz="1725" dirty="0"/>
          </a:p>
        </p:txBody>
      </p:sp>
      <p:sp>
        <p:nvSpPr>
          <p:cNvPr id="14" name="Text 5"/>
          <p:cNvSpPr/>
          <p:nvPr/>
        </p:nvSpPr>
        <p:spPr>
          <a:xfrm>
            <a:off x="771525" y="4953000"/>
            <a:ext cx="3625155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분기점 확인: 내 브랜치와 main이 갈라진 지점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시각적 확인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 커밋 파악: 다른 브랜치 작업이 통합된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시점 확인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4619625" y="4953000"/>
            <a:ext cx="3478411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변경 유형: 커밋 메시지 제두사로 작업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식별 (fix:, feat:, docs: 등)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브랜치 위치: origin/main 등 최신 커밋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확인</a:t>
            </a:r>
            <a:endParaRPr lang="en-US" sz="1500" dirty="0"/>
          </a:p>
        </p:txBody>
      </p:sp>
      <p:sp>
        <p:nvSpPr>
          <p:cNvPr id="16" name="Text 7"/>
          <p:cNvSpPr/>
          <p:nvPr/>
        </p:nvSpPr>
        <p:spPr>
          <a:xfrm>
            <a:off x="8458200" y="4953000"/>
            <a:ext cx="346799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명령어: --all 옵션으로 전체 브랜치 이력</a:t>
            </a:r>
            <a:pPr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</a:t>
            </a:r>
            <a:endParaRPr lang="en-US" sz="1500" dirty="0"/>
          </a:p>
        </p:txBody>
      </p:sp>
      <p:sp>
        <p:nvSpPr>
          <p:cNvPr id="17" name="Text 8"/>
          <p:cNvSpPr/>
          <p:nvPr/>
        </p:nvSpPr>
        <p:spPr>
          <a:xfrm>
            <a:off x="8515350" y="5429250"/>
            <a:ext cx="2849761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B5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log --oneline --decorate</a:t>
            </a:r>
            <a:pPr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B5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B524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--graph --all -n 20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10953750" y="190500"/>
            <a:ext cx="103718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1125" b="1" dirty="0">
                <a:solidFill>
                  <a:srgbClr val="CB1B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013"/>
              </a:lnSpc>
              <a:buNone/>
            </a:pPr>
            <a:r>
              <a:rPr lang="en-US" sz="1125" b="1" dirty="0">
                <a:solidFill>
                  <a:srgbClr val="CB1B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013"/>
              </a:lnSpc>
              <a:buNone/>
            </a:pPr>
            <a:r>
              <a:rPr lang="en-US" sz="1125" b="1" dirty="0">
                <a:solidFill>
                  <a:srgbClr val="CB1B3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19" name="Text 10"/>
          <p:cNvSpPr/>
          <p:nvPr/>
        </p:nvSpPr>
        <p:spPr>
          <a:xfrm>
            <a:off x="466725" y="6638925"/>
            <a:ext cx="18288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5870674" y="6705600"/>
            <a:ext cx="555278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5882" y="4958209"/>
            <a:ext cx="475357" cy="45943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6384" y="4958209"/>
            <a:ext cx="707082" cy="54173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55882" y="4066729"/>
            <a:ext cx="475357" cy="3634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0479" y="4018657"/>
            <a:ext cx="402282" cy="47997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8855" y="5150346"/>
            <a:ext cx="792361" cy="45258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3263" y="4293096"/>
            <a:ext cx="804565" cy="37713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4282" y="3257550"/>
            <a:ext cx="743694" cy="60349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6173" y="2455069"/>
            <a:ext cx="511969" cy="534888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831949" y="2457450"/>
            <a:ext cx="13617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50" dirty="0"/>
          </a:p>
        </p:txBody>
      </p:sp>
      <p:sp>
        <p:nvSpPr>
          <p:cNvPr id="15" name="Text 1"/>
          <p:cNvSpPr/>
          <p:nvPr/>
        </p:nvSpPr>
        <p:spPr>
          <a:xfrm>
            <a:off x="828675" y="3276600"/>
            <a:ext cx="20955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2325" dirty="0"/>
          </a:p>
        </p:txBody>
      </p:sp>
      <p:sp>
        <p:nvSpPr>
          <p:cNvPr id="16" name="Text 2"/>
          <p:cNvSpPr/>
          <p:nvPr/>
        </p:nvSpPr>
        <p:spPr>
          <a:xfrm>
            <a:off x="827633" y="4162425"/>
            <a:ext cx="230386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325" dirty="0"/>
          </a:p>
        </p:txBody>
      </p:sp>
      <p:sp>
        <p:nvSpPr>
          <p:cNvPr id="17" name="Text 3"/>
          <p:cNvSpPr/>
          <p:nvPr/>
        </p:nvSpPr>
        <p:spPr>
          <a:xfrm>
            <a:off x="827187" y="5038725"/>
            <a:ext cx="240953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325" dirty="0"/>
          </a:p>
        </p:txBody>
      </p:sp>
      <p:sp>
        <p:nvSpPr>
          <p:cNvPr id="18" name="Text 4"/>
          <p:cNvSpPr/>
          <p:nvPr/>
        </p:nvSpPr>
        <p:spPr>
          <a:xfrm>
            <a:off x="6677918" y="2457450"/>
            <a:ext cx="188565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2325" dirty="0"/>
          </a:p>
        </p:txBody>
      </p:sp>
      <p:sp>
        <p:nvSpPr>
          <p:cNvPr id="19" name="Text 5"/>
          <p:cNvSpPr/>
          <p:nvPr/>
        </p:nvSpPr>
        <p:spPr>
          <a:xfrm>
            <a:off x="6675983" y="3276600"/>
            <a:ext cx="230386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</a:t>
            </a:r>
            <a:endParaRPr lang="en-US" sz="2325" dirty="0"/>
          </a:p>
        </p:txBody>
      </p:sp>
      <p:sp>
        <p:nvSpPr>
          <p:cNvPr id="20" name="Text 6"/>
          <p:cNvSpPr/>
          <p:nvPr/>
        </p:nvSpPr>
        <p:spPr>
          <a:xfrm>
            <a:off x="1200150" y="2457450"/>
            <a:ext cx="326898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파일 범위 확인</a:t>
            </a:r>
            <a:endParaRPr lang="en-US" sz="1950" dirty="0"/>
          </a:p>
        </p:txBody>
      </p:sp>
      <p:sp>
        <p:nvSpPr>
          <p:cNvPr id="21" name="Text 7"/>
          <p:cNvSpPr/>
          <p:nvPr/>
        </p:nvSpPr>
        <p:spPr>
          <a:xfrm>
            <a:off x="1200150" y="3305175"/>
            <a:ext cx="35661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규모 적절성 판단</a:t>
            </a:r>
            <a:endParaRPr lang="en-US" sz="1950" dirty="0"/>
          </a:p>
        </p:txBody>
      </p:sp>
      <p:sp>
        <p:nvSpPr>
          <p:cNvPr id="22" name="Text 8"/>
          <p:cNvSpPr/>
          <p:nvPr/>
        </p:nvSpPr>
        <p:spPr>
          <a:xfrm>
            <a:off x="1200150" y="4181475"/>
            <a:ext cx="326898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혼재 여부 점검</a:t>
            </a:r>
            <a:endParaRPr lang="en-US" sz="1950" dirty="0"/>
          </a:p>
        </p:txBody>
      </p:sp>
      <p:sp>
        <p:nvSpPr>
          <p:cNvPr id="23" name="Text 9"/>
          <p:cNvSpPr/>
          <p:nvPr/>
        </p:nvSpPr>
        <p:spPr>
          <a:xfrm>
            <a:off x="1200150" y="5067300"/>
            <a:ext cx="35661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물백 단위 안전성 확인</a:t>
            </a:r>
            <a:endParaRPr lang="en-US" sz="1950" dirty="0"/>
          </a:p>
        </p:txBody>
      </p:sp>
      <p:sp>
        <p:nvSpPr>
          <p:cNvPr id="24" name="Text 10"/>
          <p:cNvSpPr/>
          <p:nvPr/>
        </p:nvSpPr>
        <p:spPr>
          <a:xfrm>
            <a:off x="6934200" y="2457450"/>
            <a:ext cx="432054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show --stat 활용</a:t>
            </a:r>
            <a:endParaRPr lang="en-US" sz="2025" dirty="0"/>
          </a:p>
        </p:txBody>
      </p:sp>
      <p:sp>
        <p:nvSpPr>
          <p:cNvPr id="25" name="Text 11"/>
          <p:cNvSpPr/>
          <p:nvPr/>
        </p:nvSpPr>
        <p:spPr>
          <a:xfrm>
            <a:off x="6934200" y="3209925"/>
            <a:ext cx="356616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작고 명확한 커밋 권장</a:t>
            </a:r>
            <a:endParaRPr lang="en-US" sz="1950" dirty="0"/>
          </a:p>
        </p:txBody>
      </p:sp>
      <p:sp>
        <p:nvSpPr>
          <p:cNvPr id="26" name="Text 12"/>
          <p:cNvSpPr/>
          <p:nvPr/>
        </p:nvSpPr>
        <p:spPr>
          <a:xfrm>
            <a:off x="1200150" y="2809875"/>
            <a:ext cx="552069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메시지와 변경 파일이 일치하는가 검토</a:t>
            </a:r>
            <a:endParaRPr lang="en-US" sz="1575" dirty="0"/>
          </a:p>
        </p:txBody>
      </p:sp>
      <p:sp>
        <p:nvSpPr>
          <p:cNvPr id="27" name="Text 13"/>
          <p:cNvSpPr/>
          <p:nvPr/>
        </p:nvSpPr>
        <p:spPr>
          <a:xfrm>
            <a:off x="1200150" y="3686175"/>
            <a:ext cx="576072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커밋이 너무 많은 역할을 하진 않는가</a:t>
            </a:r>
            <a:endParaRPr lang="en-US" sz="1575" dirty="0"/>
          </a:p>
        </p:txBody>
      </p:sp>
      <p:sp>
        <p:nvSpPr>
          <p:cNvPr id="28" name="Text 14"/>
          <p:cNvSpPr/>
          <p:nvPr/>
        </p:nvSpPr>
        <p:spPr>
          <a:xfrm>
            <a:off x="1200150" y="4562475"/>
            <a:ext cx="600075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수정과 리팩토링이 한 커밋에 섞여 있는가</a:t>
            </a:r>
            <a:endParaRPr lang="en-US" sz="1575" dirty="0"/>
          </a:p>
        </p:txBody>
      </p:sp>
      <p:sp>
        <p:nvSpPr>
          <p:cNvPr id="29" name="Text 15"/>
          <p:cNvSpPr/>
          <p:nvPr/>
        </p:nvSpPr>
        <p:spPr>
          <a:xfrm>
            <a:off x="1200150" y="5438775"/>
            <a:ext cx="552069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커밋만 되돌려도 시스템이 깨지지 않는가</a:t>
            </a:r>
            <a:endParaRPr lang="en-US" sz="1575" dirty="0"/>
          </a:p>
        </p:txBody>
      </p:sp>
      <p:sp>
        <p:nvSpPr>
          <p:cNvPr id="30" name="Text 16"/>
          <p:cNvSpPr/>
          <p:nvPr/>
        </p:nvSpPr>
        <p:spPr>
          <a:xfrm>
            <a:off x="6934200" y="2809875"/>
            <a:ext cx="52578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파일별 변경 통계를 간략히 확인하는 옵션</a:t>
            </a:r>
            <a:endParaRPr lang="en-US" sz="1575" dirty="0"/>
          </a:p>
        </p:txBody>
      </p:sp>
      <p:sp>
        <p:nvSpPr>
          <p:cNvPr id="31" name="Text 17"/>
          <p:cNvSpPr/>
          <p:nvPr/>
        </p:nvSpPr>
        <p:spPr>
          <a:xfrm>
            <a:off x="6934200" y="3552825"/>
            <a:ext cx="432054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품질이 리뷰·복구 효율 결정</a:t>
            </a:r>
            <a:endParaRPr lang="en-US" sz="1575" dirty="0"/>
          </a:p>
        </p:txBody>
      </p:sp>
      <p:sp>
        <p:nvSpPr>
          <p:cNvPr id="32" name="Text 18"/>
          <p:cNvSpPr/>
          <p:nvPr/>
        </p:nvSpPr>
        <p:spPr>
          <a:xfrm>
            <a:off x="6934200" y="5543550"/>
            <a:ext cx="228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크고 복합적인 커밋</a:t>
            </a:r>
            <a:endParaRPr lang="en-US" sz="1500" dirty="0"/>
          </a:p>
        </p:txBody>
      </p:sp>
      <p:sp>
        <p:nvSpPr>
          <p:cNvPr id="33" name="Text 19"/>
          <p:cNvSpPr/>
          <p:nvPr/>
        </p:nvSpPr>
        <p:spPr>
          <a:xfrm>
            <a:off x="9144000" y="5038725"/>
            <a:ext cx="304800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어려운 리뷰, 까지기 쉬운 복구</a:t>
            </a:r>
            <a:endParaRPr lang="en-US" sz="1425" dirty="0"/>
          </a:p>
        </p:txBody>
      </p:sp>
      <p:sp>
        <p:nvSpPr>
          <p:cNvPr id="34" name="Text 20"/>
          <p:cNvSpPr/>
          <p:nvPr/>
        </p:nvSpPr>
        <p:spPr>
          <a:xfrm>
            <a:off x="6991350" y="4514850"/>
            <a:ext cx="20574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작고 명확한 커밋</a:t>
            </a:r>
            <a:endParaRPr lang="en-US" sz="1500" dirty="0"/>
          </a:p>
        </p:txBody>
      </p:sp>
      <p:sp>
        <p:nvSpPr>
          <p:cNvPr id="35" name="Text 21"/>
          <p:cNvSpPr/>
          <p:nvPr/>
        </p:nvSpPr>
        <p:spPr>
          <a:xfrm>
            <a:off x="9248775" y="4514850"/>
            <a:ext cx="2943225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리뷰, 안전한 복구</a:t>
            </a:r>
            <a:endParaRPr lang="en-US" sz="1575" dirty="0"/>
          </a:p>
        </p:txBody>
      </p:sp>
      <p:sp>
        <p:nvSpPr>
          <p:cNvPr id="36" name="Text 22"/>
          <p:cNvSpPr/>
          <p:nvPr/>
        </p:nvSpPr>
        <p:spPr>
          <a:xfrm>
            <a:off x="0" y="161925"/>
            <a:ext cx="12192000" cy="2546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커밋을 검토할 때 show를 어떻게 읽는가 / How to read 'show' when reviewing a specific commit</a:t>
            </a:r>
            <a:endParaRPr lang="en-US" sz="2025" dirty="0"/>
          </a:p>
        </p:txBody>
      </p:sp>
      <p:sp>
        <p:nvSpPr>
          <p:cNvPr id="37" name="Text 23"/>
          <p:cNvSpPr/>
          <p:nvPr/>
        </p:nvSpPr>
        <p:spPr>
          <a:xfrm>
            <a:off x="285750" y="742950"/>
            <a:ext cx="864108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품질을 높여 복구 효율을 향상시키는 핵심 관점</a:t>
            </a:r>
            <a:endParaRPr lang="en-US" sz="2025" dirty="0"/>
          </a:p>
        </p:txBody>
      </p:sp>
      <p:sp>
        <p:nvSpPr>
          <p:cNvPr id="38" name="Text 24"/>
          <p:cNvSpPr/>
          <p:nvPr/>
        </p:nvSpPr>
        <p:spPr>
          <a:xfrm>
            <a:off x="2001589" y="1838325"/>
            <a:ext cx="248304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품질 검토 체크리스트</a:t>
            </a:r>
            <a:endParaRPr lang="en-US" sz="1650" dirty="0"/>
          </a:p>
        </p:txBody>
      </p:sp>
      <p:sp>
        <p:nvSpPr>
          <p:cNvPr id="39" name="Text 25"/>
          <p:cNvSpPr/>
          <p:nvPr/>
        </p:nvSpPr>
        <p:spPr>
          <a:xfrm>
            <a:off x="8088511" y="1838325"/>
            <a:ext cx="18439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 효율과 툴 활용</a:t>
            </a:r>
            <a:endParaRPr lang="en-US" sz="1650" dirty="0"/>
          </a:p>
        </p:txBody>
      </p:sp>
      <p:sp>
        <p:nvSpPr>
          <p:cNvPr id="40" name="Text 26"/>
          <p:cNvSpPr/>
          <p:nvPr/>
        </p:nvSpPr>
        <p:spPr>
          <a:xfrm>
            <a:off x="9705975" y="3238500"/>
            <a:ext cx="1676400" cy="3628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show --stat</a:t>
            </a:r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---------</a:t>
            </a:r>
            <a:endParaRPr lang="en-US" sz="1200" dirty="0"/>
          </a:p>
        </p:txBody>
      </p:sp>
      <p:sp>
        <p:nvSpPr>
          <p:cNvPr id="41" name="Text 27"/>
          <p:cNvSpPr/>
          <p:nvPr/>
        </p:nvSpPr>
        <p:spPr>
          <a:xfrm>
            <a:off x="10896600" y="190500"/>
            <a:ext cx="1068586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5890" y="4889748"/>
            <a:ext cx="792361" cy="7611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6463" y="4889748"/>
            <a:ext cx="1011882" cy="72003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3592" y="4114800"/>
            <a:ext cx="646063" cy="57596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5482" y="3278088"/>
            <a:ext cx="438894" cy="52804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16667" y="2359075"/>
            <a:ext cx="560784" cy="62403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4282" y="4944517"/>
            <a:ext cx="316855" cy="390823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4282" y="4053036"/>
            <a:ext cx="316855" cy="39766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9992" y="2201317"/>
            <a:ext cx="4425553" cy="1584127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228600" y="123825"/>
            <a:ext cx="1110996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stash는 임시 보관함이지 장기 저장소가 아니다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352425" y="742950"/>
            <a:ext cx="768096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Stash를 안전하고 올바르게 활용하는 방법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7296150" y="2371725"/>
            <a:ext cx="402336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stash 장기 보관의 위험성</a:t>
            </a:r>
            <a:endParaRPr lang="en-US" sz="1650" dirty="0"/>
          </a:p>
        </p:txBody>
      </p:sp>
      <p:sp>
        <p:nvSpPr>
          <p:cNvPr id="17" name="Text 3"/>
          <p:cNvSpPr/>
          <p:nvPr/>
        </p:nvSpPr>
        <p:spPr>
          <a:xfrm>
            <a:off x="7296150" y="3228975"/>
            <a:ext cx="352044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작업은 브랜치로 관리</a:t>
            </a:r>
            <a:endParaRPr lang="en-US" sz="1650" dirty="0"/>
          </a:p>
        </p:txBody>
      </p:sp>
      <p:sp>
        <p:nvSpPr>
          <p:cNvPr id="18" name="Text 4"/>
          <p:cNvSpPr/>
          <p:nvPr/>
        </p:nvSpPr>
        <p:spPr>
          <a:xfrm>
            <a:off x="7296150" y="4095750"/>
            <a:ext cx="452628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stash branch로 브랜치화</a:t>
            </a:r>
            <a:endParaRPr lang="en-US" sz="1650" dirty="0"/>
          </a:p>
        </p:txBody>
      </p:sp>
      <p:sp>
        <p:nvSpPr>
          <p:cNvPr id="19" name="Text 5"/>
          <p:cNvSpPr/>
          <p:nvPr/>
        </p:nvSpPr>
        <p:spPr>
          <a:xfrm>
            <a:off x="838200" y="4152900"/>
            <a:ext cx="352044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메시지와 함께 보관하기</a:t>
            </a:r>
            <a:endParaRPr lang="en-US" sz="1650" dirty="0"/>
          </a:p>
        </p:txBody>
      </p:sp>
      <p:sp>
        <p:nvSpPr>
          <p:cNvPr id="20" name="Text 6"/>
          <p:cNvSpPr/>
          <p:nvPr/>
        </p:nvSpPr>
        <p:spPr>
          <a:xfrm>
            <a:off x="838200" y="5019675"/>
            <a:ext cx="4023360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stash 내용 미리 확인</a:t>
            </a:r>
            <a:endParaRPr lang="en-US" sz="1650" dirty="0"/>
          </a:p>
        </p:txBody>
      </p:sp>
      <p:sp>
        <p:nvSpPr>
          <p:cNvPr id="21" name="Text 7"/>
          <p:cNvSpPr/>
          <p:nvPr/>
        </p:nvSpPr>
        <p:spPr>
          <a:xfrm>
            <a:off x="9144000" y="190500"/>
            <a:ext cx="2975521" cy="4423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22" name="Text 8"/>
          <p:cNvSpPr/>
          <p:nvPr/>
        </p:nvSpPr>
        <p:spPr>
          <a:xfrm>
            <a:off x="9144000" y="266700"/>
            <a:ext cx="185439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CH03. 이력 및 복구 관리</a:t>
            </a:r>
            <a:endParaRPr lang="en-US" sz="1200" dirty="0"/>
          </a:p>
        </p:txBody>
      </p:sp>
      <p:sp>
        <p:nvSpPr>
          <p:cNvPr id="23" name="Text 9"/>
          <p:cNvSpPr/>
          <p:nvPr/>
        </p:nvSpPr>
        <p:spPr>
          <a:xfrm>
            <a:off x="1200150" y="4514850"/>
            <a:ext cx="694944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`git stash push -m '메시지'`로 목적을 명확히 기록.</a:t>
            </a:r>
            <a:endParaRPr lang="en-US" sz="1200" dirty="0"/>
          </a:p>
        </p:txBody>
      </p:sp>
      <p:sp>
        <p:nvSpPr>
          <p:cNvPr id="24" name="Text 10"/>
          <p:cNvSpPr/>
          <p:nvPr/>
        </p:nvSpPr>
        <p:spPr>
          <a:xfrm>
            <a:off x="1200150" y="5381625"/>
            <a:ext cx="762000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`git stash show -p stash@{0}`으로 꺼내기 전 검토.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7296150" y="2743200"/>
            <a:ext cx="489585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stash는 pop 시 충돌 발생 확률이 높음.</a:t>
            </a:r>
            <a:endParaRPr lang="en-US" sz="1200" dirty="0"/>
          </a:p>
        </p:txBody>
      </p:sp>
      <p:sp>
        <p:nvSpPr>
          <p:cNvPr id="26" name="Text 12"/>
          <p:cNvSpPr/>
          <p:nvPr/>
        </p:nvSpPr>
        <p:spPr>
          <a:xfrm>
            <a:off x="7296150" y="3600450"/>
            <a:ext cx="457200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며칠 이상 걸리는 작업은 별도 브랜치가 안전.</a:t>
            </a:r>
            <a:endParaRPr lang="en-US" sz="1200" dirty="0"/>
          </a:p>
        </p:txBody>
      </p:sp>
      <p:sp>
        <p:nvSpPr>
          <p:cNvPr id="27" name="Text 13"/>
          <p:cNvSpPr/>
          <p:nvPr/>
        </p:nvSpPr>
        <p:spPr>
          <a:xfrm>
            <a:off x="7296150" y="4467225"/>
            <a:ext cx="475488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stash는 별도 브랜치로 살려서 관리.</a:t>
            </a:r>
            <a:endParaRPr lang="en-US" sz="1200" dirty="0"/>
          </a:p>
        </p:txBody>
      </p:sp>
      <p:sp>
        <p:nvSpPr>
          <p:cNvPr id="28" name="Text 14"/>
          <p:cNvSpPr/>
          <p:nvPr/>
        </p:nvSpPr>
        <p:spPr>
          <a:xfrm>
            <a:off x="2364581" y="1733550"/>
            <a:ext cx="1204913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stash 활용 기본</a:t>
            </a:r>
            <a:endParaRPr lang="en-US" sz="1200" dirty="0"/>
          </a:p>
        </p:txBody>
      </p:sp>
      <p:sp>
        <p:nvSpPr>
          <p:cNvPr id="29" name="Text 15"/>
          <p:cNvSpPr/>
          <p:nvPr/>
        </p:nvSpPr>
        <p:spPr>
          <a:xfrm>
            <a:off x="8065740" y="1733550"/>
            <a:ext cx="1927771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보관의 위험과 대안</a:t>
            </a:r>
            <a:endParaRPr lang="en-US" sz="1200" dirty="0"/>
          </a:p>
        </p:txBody>
      </p:sp>
      <p:sp>
        <p:nvSpPr>
          <p:cNvPr id="30" name="Text 16"/>
          <p:cNvSpPr/>
          <p:nvPr/>
        </p:nvSpPr>
        <p:spPr>
          <a:xfrm>
            <a:off x="7868989" y="5676900"/>
            <a:ext cx="806648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old stash는</a:t>
            </a:r>
            <a:endParaRPr lang="en-US" sz="975" dirty="0"/>
          </a:p>
        </p:txBody>
      </p:sp>
      <p:sp>
        <p:nvSpPr>
          <p:cNvPr id="31" name="Text 17"/>
          <p:cNvSpPr/>
          <p:nvPr/>
        </p:nvSpPr>
        <p:spPr>
          <a:xfrm>
            <a:off x="9009162" y="5676900"/>
            <a:ext cx="170780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safe branch management</a:t>
            </a:r>
            <a:endParaRPr lang="en-US" sz="975" dirty="0"/>
          </a:p>
        </p:txBody>
      </p:sp>
      <p:sp>
        <p:nvSpPr>
          <p:cNvPr id="32" name="Text 18"/>
          <p:cNvSpPr/>
          <p:nvPr/>
        </p:nvSpPr>
        <p:spPr>
          <a:xfrm>
            <a:off x="5871567" y="6705600"/>
            <a:ext cx="534293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00" dirty="0"/>
          </a:p>
        </p:txBody>
      </p:sp>
      <p:sp>
        <p:nvSpPr>
          <p:cNvPr id="33" name="Text 19"/>
          <p:cNvSpPr/>
          <p:nvPr/>
        </p:nvSpPr>
        <p:spPr>
          <a:xfrm>
            <a:off x="10147399" y="6677025"/>
            <a:ext cx="34572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34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834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834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00" dirty="0"/>
          </a:p>
        </p:txBody>
      </p:sp>
      <p:sp>
        <p:nvSpPr>
          <p:cNvPr id="34" name="Text 20"/>
          <p:cNvSpPr/>
          <p:nvPr/>
        </p:nvSpPr>
        <p:spPr>
          <a:xfrm>
            <a:off x="11007477" y="6677025"/>
            <a:ext cx="282773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30"/>
              </a:lnSpc>
              <a:buNone/>
            </a:pPr>
            <a:r>
              <a:rPr lang="en-US" sz="5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730"/>
              </a:lnSpc>
              <a:buNone/>
            </a:pPr>
            <a:r>
              <a:rPr lang="en-US" sz="5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730"/>
              </a:lnSpc>
              <a:buNone/>
            </a:pPr>
            <a:r>
              <a:rPr lang="en-US" sz="5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525" dirty="0"/>
          </a:p>
        </p:txBody>
      </p:sp>
      <p:sp>
        <p:nvSpPr>
          <p:cNvPr id="35" name="Text 21"/>
          <p:cNvSpPr/>
          <p:nvPr/>
        </p:nvSpPr>
        <p:spPr>
          <a:xfrm>
            <a:off x="466725" y="6677025"/>
            <a:ext cx="1028700" cy="1192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38"/>
              </a:lnSpc>
              <a:buNone/>
            </a:pPr>
            <a:r>
              <a:rPr lang="en-US" sz="6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7075" y="3353544"/>
            <a:ext cx="2377380" cy="24894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282" y="3812977"/>
            <a:ext cx="2413992" cy="1625203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38125" y="142875"/>
            <a:ext cx="673227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tag는 기준점을 고정하는 이름표다</a:t>
            </a:r>
            <a:endParaRPr lang="en-US" sz="2325" dirty="0"/>
          </a:p>
        </p:txBody>
      </p:sp>
      <p:sp>
        <p:nvSpPr>
          <p:cNvPr id="9" name="Text 1"/>
          <p:cNvSpPr/>
          <p:nvPr/>
        </p:nvSpPr>
        <p:spPr>
          <a:xfrm>
            <a:off x="2339280" y="2314575"/>
            <a:ext cx="176019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태그의 정의와 활용</a:t>
            </a:r>
            <a:endParaRPr lang="en-US" sz="1500" dirty="0"/>
          </a:p>
        </p:txBody>
      </p:sp>
      <p:sp>
        <p:nvSpPr>
          <p:cNvPr id="10" name="Text 2"/>
          <p:cNvSpPr/>
          <p:nvPr/>
        </p:nvSpPr>
        <p:spPr>
          <a:xfrm>
            <a:off x="8206234" y="2314575"/>
            <a:ext cx="156105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공유 및 협업</a:t>
            </a:r>
            <a:endParaRPr lang="en-US" sz="1500" dirty="0"/>
          </a:p>
        </p:txBody>
      </p:sp>
      <p:sp>
        <p:nvSpPr>
          <p:cNvPr id="11" name="Text 3"/>
          <p:cNvSpPr/>
          <p:nvPr/>
        </p:nvSpPr>
        <p:spPr>
          <a:xfrm>
            <a:off x="714375" y="2800350"/>
            <a:ext cx="628650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태그란 커밋에 붙이는 연구적인 이름표입니다</a:t>
            </a:r>
            <a:endParaRPr lang="en-US" sz="1650" dirty="0"/>
          </a:p>
        </p:txBody>
      </p:sp>
      <p:sp>
        <p:nvSpPr>
          <p:cNvPr id="12" name="Text 4"/>
          <p:cNvSpPr/>
          <p:nvPr/>
        </p:nvSpPr>
        <p:spPr>
          <a:xfrm>
            <a:off x="714375" y="3343275"/>
            <a:ext cx="4211836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특정 커밋 SHA 대신 `v1.0.0`처럼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직관적인 이름으로 고정할 수 있습니다.</a:t>
            </a:r>
            <a:endParaRPr lang="en-US" sz="1650" dirty="0"/>
          </a:p>
        </p:txBody>
      </p:sp>
      <p:sp>
        <p:nvSpPr>
          <p:cNvPr id="13" name="Text 5"/>
          <p:cNvSpPr/>
          <p:nvPr/>
        </p:nvSpPr>
        <p:spPr>
          <a:xfrm>
            <a:off x="714375" y="4152900"/>
            <a:ext cx="3069878" cy="817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정식 릴리즈 포인트 표시 및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롤백 기준점으로 최적의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도구입니다.</a:t>
            </a:r>
            <a:endParaRPr lang="en-US" sz="1650" dirty="0"/>
          </a:p>
        </p:txBody>
      </p:sp>
      <p:sp>
        <p:nvSpPr>
          <p:cNvPr id="14" name="Text 6"/>
          <p:cNvSpPr/>
          <p:nvPr/>
        </p:nvSpPr>
        <p:spPr>
          <a:xfrm>
            <a:off x="714375" y="5238750"/>
            <a:ext cx="3824288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특정 코드 상태를 고정하여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데모나 교육에 활용할 수 있습니다.</a:t>
            </a:r>
            <a:endParaRPr lang="en-US" sz="1650" dirty="0"/>
          </a:p>
        </p:txBody>
      </p:sp>
      <p:sp>
        <p:nvSpPr>
          <p:cNvPr id="15" name="Text 7"/>
          <p:cNvSpPr/>
          <p:nvPr/>
        </p:nvSpPr>
        <p:spPr>
          <a:xfrm>
            <a:off x="6686550" y="2800350"/>
            <a:ext cx="3488978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`git push origin v0.1.0`으로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원격에 간편하게 공유합니다.</a:t>
            </a:r>
            <a:endParaRPr lang="en-US" sz="1650" dirty="0"/>
          </a:p>
        </p:txBody>
      </p:sp>
      <p:sp>
        <p:nvSpPr>
          <p:cNvPr id="16" name="Text 8"/>
          <p:cNvSpPr/>
          <p:nvPr/>
        </p:nvSpPr>
        <p:spPr>
          <a:xfrm>
            <a:off x="6686550" y="3657600"/>
            <a:ext cx="2619375" cy="817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단순 개인 메모가 아닌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전체의 공식적인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기준점으로 관리됩니다.</a:t>
            </a:r>
            <a:endParaRPr lang="en-US" sz="1650" dirty="0"/>
          </a:p>
        </p:txBody>
      </p:sp>
      <p:sp>
        <p:nvSpPr>
          <p:cNvPr id="17" name="Text 9"/>
          <p:cNvSpPr/>
          <p:nvPr/>
        </p:nvSpPr>
        <p:spPr>
          <a:xfrm>
            <a:off x="6686550" y="4686300"/>
            <a:ext cx="2902148" cy="8170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협업 시 누구나 동일한 코드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버전을 쉽고 안전하게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참조할 수 있습니다.</a:t>
            </a:r>
            <a:endParaRPr lang="en-US" sz="1650" dirty="0"/>
          </a:p>
        </p:txBody>
      </p:sp>
      <p:sp>
        <p:nvSpPr>
          <p:cNvPr id="18" name="Text 10"/>
          <p:cNvSpPr/>
          <p:nvPr/>
        </p:nvSpPr>
        <p:spPr>
          <a:xfrm>
            <a:off x="9734550" y="180975"/>
            <a:ext cx="2336453" cy="2684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58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058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058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19" name="Text 11"/>
          <p:cNvSpPr/>
          <p:nvPr/>
        </p:nvSpPr>
        <p:spPr>
          <a:xfrm>
            <a:off x="5813971" y="6705600"/>
            <a:ext cx="544711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8"/>
              </a:lnSpc>
              <a:buNone/>
            </a:pPr>
            <a:r>
              <a:rPr lang="en-US" sz="75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773" y="5088582"/>
            <a:ext cx="670471" cy="52804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4557" y="4821138"/>
            <a:ext cx="316855" cy="2742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486" y="1844725"/>
            <a:ext cx="11338471" cy="2050405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85750" y="142875"/>
            <a:ext cx="1190625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history에는 revert, 개인 정리에는 reset</a:t>
            </a:r>
            <a:endParaRPr lang="en-US" sz="2325" dirty="0"/>
          </a:p>
        </p:txBody>
      </p:sp>
      <p:sp>
        <p:nvSpPr>
          <p:cNvPr id="10" name="Text 1"/>
          <p:cNvSpPr/>
          <p:nvPr/>
        </p:nvSpPr>
        <p:spPr>
          <a:xfrm>
            <a:off x="352425" y="742950"/>
            <a:ext cx="394335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11" name="Text 2"/>
          <p:cNvSpPr/>
          <p:nvPr/>
        </p:nvSpPr>
        <p:spPr>
          <a:xfrm>
            <a:off x="3071813" y="4095750"/>
            <a:ext cx="72294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환경에서는 revert가 안전하며, 개인 작업 공간에서만 reset으로 정리가 가능합니다.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2295971" y="5400675"/>
            <a:ext cx="1665833" cy="5487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전체에 영향,</a:t>
            </a:r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기준점 불일치 및</a:t>
            </a:r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위험</a:t>
            </a:r>
            <a:endParaRPr lang="en-US" sz="1200" dirty="0"/>
          </a:p>
        </p:txBody>
      </p:sp>
      <p:sp>
        <p:nvSpPr>
          <p:cNvPr id="13" name="Text 4"/>
          <p:cNvSpPr/>
          <p:nvPr/>
        </p:nvSpPr>
        <p:spPr>
          <a:xfrm>
            <a:off x="8143280" y="5400675"/>
            <a:ext cx="1896368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 기존 이력을</a:t>
            </a:r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보존하며 복구 커밋 추가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8582025" y="190500"/>
            <a:ext cx="3593753" cy="1457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48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CH03. History &amp; Recovery </a:t>
            </a:r>
            <a:pPr algn="r" indent="0" marL="0">
              <a:lnSpc>
                <a:spcPts val="1148"/>
              </a:lnSpc>
              <a:buNone/>
            </a:pPr>
            <a:r>
              <a:rPr lang="en-US" sz="1275" b="1" dirty="0">
                <a:solidFill>
                  <a:srgbClr val="E54E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15" name="Text 6"/>
          <p:cNvSpPr/>
          <p:nvPr/>
        </p:nvSpPr>
        <p:spPr>
          <a:xfrm>
            <a:off x="2253109" y="4867275"/>
            <a:ext cx="1770608" cy="2245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6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주의: 공유 브랜치 reset</a:t>
            </a:r>
            <a:endParaRPr lang="en-US" sz="1350" dirty="0"/>
          </a:p>
        </p:txBody>
      </p:sp>
      <p:sp>
        <p:nvSpPr>
          <p:cNvPr id="16" name="Text 7"/>
          <p:cNvSpPr/>
          <p:nvPr/>
        </p:nvSpPr>
        <p:spPr>
          <a:xfrm>
            <a:off x="7984331" y="4867275"/>
            <a:ext cx="2252663" cy="1747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76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권장: shared history (revert)</a:t>
            </a:r>
            <a:endParaRPr lang="en-US" sz="1050" dirty="0"/>
          </a:p>
        </p:txBody>
      </p:sp>
      <p:sp>
        <p:nvSpPr>
          <p:cNvPr id="17" name="Text 8"/>
          <p:cNvSpPr/>
          <p:nvPr/>
        </p:nvSpPr>
        <p:spPr>
          <a:xfrm>
            <a:off x="11068050" y="190500"/>
            <a:ext cx="722858" cy="1123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885"/>
              </a:lnSpc>
              <a:buNone/>
            </a:pPr>
            <a:r>
              <a:rPr lang="en-US" sz="7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98" y="1961257"/>
            <a:ext cx="11265396" cy="414903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131790" y="1257300"/>
            <a:ext cx="5909221" cy="4652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663"/>
              </a:lnSpc>
              <a:buNone/>
            </a:pPr>
            <a:r>
              <a:rPr lang="en-US" sz="27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reset 옵션별 상태 변화 및 영향 범위</a:t>
            </a:r>
            <a:endParaRPr lang="en-US" sz="2775" dirty="0"/>
          </a:p>
        </p:txBody>
      </p:sp>
      <p:sp>
        <p:nvSpPr>
          <p:cNvPr id="8" name="Text 1"/>
          <p:cNvSpPr/>
          <p:nvPr/>
        </p:nvSpPr>
        <p:spPr>
          <a:xfrm>
            <a:off x="285750" y="171450"/>
            <a:ext cx="1190625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reset --soft / --mixed / --hard를 상태와 연결해 이해하기</a:t>
            </a:r>
            <a:endParaRPr lang="en-US" sz="2325" dirty="0"/>
          </a:p>
        </p:txBody>
      </p:sp>
      <p:sp>
        <p:nvSpPr>
          <p:cNvPr id="9" name="Text 2"/>
          <p:cNvSpPr/>
          <p:nvPr/>
        </p:nvSpPr>
        <p:spPr>
          <a:xfrm>
            <a:off x="352425" y="742950"/>
            <a:ext cx="394335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10" name="Text 3"/>
          <p:cNvSpPr/>
          <p:nvPr/>
        </p:nvSpPr>
        <p:spPr>
          <a:xfrm>
            <a:off x="10896600" y="190500"/>
            <a:ext cx="1089571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CC0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CC0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CC0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863" y="3106638"/>
            <a:ext cx="926455" cy="56227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4659" y="3346698"/>
            <a:ext cx="560784" cy="5143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4173" y="3092946"/>
            <a:ext cx="548580" cy="55542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1757" y="3092946"/>
            <a:ext cx="621655" cy="58965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77059" y="4725144"/>
            <a:ext cx="475357" cy="35659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7867" y="4725144"/>
            <a:ext cx="451098" cy="363438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reflog와 detached HEAD는 길을 잃었을 때의 안전망이다</a:t>
            </a:r>
            <a:endParaRPr lang="en-US" sz="2550" dirty="0"/>
          </a:p>
        </p:txBody>
      </p:sp>
      <p:sp>
        <p:nvSpPr>
          <p:cNvPr id="13" name="Text 1"/>
          <p:cNvSpPr/>
          <p:nvPr/>
        </p:nvSpPr>
        <p:spPr>
          <a:xfrm>
            <a:off x="352425" y="742950"/>
            <a:ext cx="4011930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길을 잃었을 때의 안전망</a:t>
            </a:r>
            <a:endParaRPr lang="en-US" sz="2025" dirty="0"/>
          </a:p>
        </p:txBody>
      </p:sp>
      <p:sp>
        <p:nvSpPr>
          <p:cNvPr id="14" name="Text 2"/>
          <p:cNvSpPr/>
          <p:nvPr/>
        </p:nvSpPr>
        <p:spPr>
          <a:xfrm>
            <a:off x="4061817" y="1600200"/>
            <a:ext cx="4096643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Detached HEAD와 reflog: 안전망 기능</a:t>
            </a:r>
            <a:endParaRPr lang="en-US" sz="1650" dirty="0"/>
          </a:p>
        </p:txBody>
      </p:sp>
      <p:sp>
        <p:nvSpPr>
          <p:cNvPr id="15" name="Text 3"/>
          <p:cNvSpPr/>
          <p:nvPr/>
        </p:nvSpPr>
        <p:spPr>
          <a:xfrm>
            <a:off x="803821" y="2381250"/>
            <a:ext cx="3478411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Detached HEAD: 브랜치 없는 상태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1056680" y="3181350"/>
            <a:ext cx="315366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커밋으로 직접 이동 시 발생.</a:t>
            </a:r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브랜치에도 속하지 않음.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791914" y="4133850"/>
            <a:ext cx="374034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시 참조 불가로 유실 위험.</a:t>
            </a:r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브랜치로 저장 또는 switch로 복구.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5380583" y="2457450"/>
            <a:ext cx="1906786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 이동 이력 보존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7711380" y="2457450"/>
            <a:ext cx="155064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reset 복구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10054977" y="2457450"/>
            <a:ext cx="112097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전용 기록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5656362" y="3752850"/>
            <a:ext cx="1288703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 이동 기록</a:t>
            </a:r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추적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7851428" y="3752850"/>
            <a:ext cx="1194346" cy="3140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3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reflog'로</a:t>
            </a:r>
            <a:pPr algn="ctr" indent="0" marL="0">
              <a:lnSpc>
                <a:spcPts val="123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3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위치 확인</a:t>
            </a:r>
            <a:endParaRPr lang="en-US" sz="1275" dirty="0"/>
          </a:p>
        </p:txBody>
      </p:sp>
      <p:sp>
        <p:nvSpPr>
          <p:cNvPr id="23" name="Text 11"/>
          <p:cNvSpPr/>
          <p:nvPr/>
        </p:nvSpPr>
        <p:spPr>
          <a:xfrm>
            <a:off x="10071646" y="3752850"/>
            <a:ext cx="963811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전용,</a:t>
            </a:r>
            <a:pPr algn="ctr"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revert와 구분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9321105" y="676275"/>
            <a:ext cx="287089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CH03-History-Inspection-and-Recovery</a:t>
            </a:r>
            <a:endParaRPr lang="en-US" sz="975" dirty="0"/>
          </a:p>
        </p:txBody>
      </p:sp>
      <p:sp>
        <p:nvSpPr>
          <p:cNvPr id="25" name="Text 13"/>
          <p:cNvSpPr/>
          <p:nvPr/>
        </p:nvSpPr>
        <p:spPr>
          <a:xfrm>
            <a:off x="10734675" y="161925"/>
            <a:ext cx="1299121" cy="3170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48"/>
              </a:lnSpc>
              <a:buNone/>
            </a:pPr>
            <a:r>
              <a:rPr lang="en-US" sz="120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48"/>
              </a:lnSpc>
              <a:buNone/>
            </a:pPr>
            <a:r>
              <a:rPr lang="en-US" sz="120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48"/>
              </a:lnSpc>
              <a:buNone/>
            </a:pPr>
            <a:r>
              <a:rPr lang="en-US" sz="120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5380137" y="4514850"/>
            <a:ext cx="1917353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checkout, reset, rebase 등</a:t>
            </a:r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보존</a:t>
            </a:r>
            <a:endParaRPr lang="en-US" sz="1050" dirty="0"/>
          </a:p>
        </p:txBody>
      </p:sp>
      <p:sp>
        <p:nvSpPr>
          <p:cNvPr id="27" name="Text 15"/>
          <p:cNvSpPr/>
          <p:nvPr/>
        </p:nvSpPr>
        <p:spPr>
          <a:xfrm>
            <a:off x="7713762" y="4514850"/>
            <a:ext cx="1498253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reflog -n 20'으로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HEAD 확인</a:t>
            </a:r>
            <a:endParaRPr lang="en-US" sz="1125" dirty="0"/>
          </a:p>
        </p:txBody>
      </p:sp>
      <p:sp>
        <p:nvSpPr>
          <p:cNvPr id="28" name="Text 16"/>
          <p:cNvSpPr/>
          <p:nvPr/>
        </p:nvSpPr>
        <p:spPr>
          <a:xfrm>
            <a:off x="9794974" y="4457700"/>
            <a:ext cx="1603028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헤드 이동 전용 기록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revert를 대체하지 않음</a:t>
            </a:r>
            <a:endParaRPr lang="en-US" sz="1125" dirty="0"/>
          </a:p>
        </p:txBody>
      </p:sp>
      <p:sp>
        <p:nvSpPr>
          <p:cNvPr id="29" name="Text 17"/>
          <p:cNvSpPr/>
          <p:nvPr/>
        </p:nvSpPr>
        <p:spPr>
          <a:xfrm>
            <a:off x="5550694" y="6705600"/>
            <a:ext cx="890588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00" dirty="0"/>
          </a:p>
        </p:txBody>
      </p:sp>
      <p:sp>
        <p:nvSpPr>
          <p:cNvPr id="30" name="Text 18"/>
          <p:cNvSpPr/>
          <p:nvPr/>
        </p:nvSpPr>
        <p:spPr>
          <a:xfrm>
            <a:off x="7842796" y="5067300"/>
            <a:ext cx="1382911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reset --hard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&lt;커밋-해시&gt;'로 복귀</a:t>
            </a:r>
            <a:endParaRPr lang="en-US" sz="1125" dirty="0"/>
          </a:p>
        </p:txBody>
      </p:sp>
      <p:sp>
        <p:nvSpPr>
          <p:cNvPr id="31" name="Text 19"/>
          <p:cNvSpPr/>
          <p:nvPr/>
        </p:nvSpPr>
        <p:spPr>
          <a:xfrm>
            <a:off x="9663559" y="5000625"/>
            <a:ext cx="1980158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브랜치 복구는 'git revert'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80392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098" y="5129659"/>
            <a:ext cx="731490" cy="6994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773" y="5122813"/>
            <a:ext cx="621655" cy="70633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2996" y="3463230"/>
            <a:ext cx="536377" cy="4868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067" y="3449538"/>
            <a:ext cx="511969" cy="507355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42875"/>
            <a:ext cx="942975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bisect는 회귀를 반으로 줄여 찾는 도구다</a:t>
            </a:r>
            <a:endParaRPr lang="en-US" sz="2475" dirty="0"/>
          </a:p>
        </p:txBody>
      </p:sp>
      <p:sp>
        <p:nvSpPr>
          <p:cNvPr id="11" name="Text 1"/>
          <p:cNvSpPr/>
          <p:nvPr/>
        </p:nvSpPr>
        <p:spPr>
          <a:xfrm>
            <a:off x="352425" y="742950"/>
            <a:ext cx="5554980" cy="331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2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탐색을 통한 원인 커밋 추적</a:t>
            </a:r>
            <a:endParaRPr lang="en-US" sz="2025" dirty="0"/>
          </a:p>
        </p:txBody>
      </p:sp>
      <p:sp>
        <p:nvSpPr>
          <p:cNvPr id="12" name="Text 2"/>
          <p:cNvSpPr/>
          <p:nvPr/>
        </p:nvSpPr>
        <p:spPr>
          <a:xfrm>
            <a:off x="3169890" y="2838450"/>
            <a:ext cx="880021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설정</a:t>
            </a:r>
            <a:endParaRPr lang="en-US" sz="1575" dirty="0"/>
          </a:p>
        </p:txBody>
      </p:sp>
      <p:sp>
        <p:nvSpPr>
          <p:cNvPr id="13" name="Text 3"/>
          <p:cNvSpPr/>
          <p:nvPr/>
        </p:nvSpPr>
        <p:spPr>
          <a:xfrm>
            <a:off x="8029575" y="276225"/>
            <a:ext cx="911423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3</a:t>
            </a:r>
            <a:endParaRPr lang="en-US" sz="1125" dirty="0"/>
          </a:p>
        </p:txBody>
      </p:sp>
      <p:sp>
        <p:nvSpPr>
          <p:cNvPr id="14" name="Text 4"/>
          <p:cNvSpPr/>
          <p:nvPr/>
        </p:nvSpPr>
        <p:spPr>
          <a:xfrm>
            <a:off x="1933575" y="3343275"/>
            <a:ext cx="609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1단계: bisect start로 탐색 시작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1933575" y="3971925"/>
            <a:ext cx="459867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2단계: bad/good으로 범위 지정</a:t>
            </a:r>
            <a:endParaRPr lang="en-US" sz="1275" dirty="0"/>
          </a:p>
        </p:txBody>
      </p:sp>
      <p:sp>
        <p:nvSpPr>
          <p:cNvPr id="16" name="Text 6"/>
          <p:cNvSpPr/>
          <p:nvPr/>
        </p:nvSpPr>
        <p:spPr>
          <a:xfrm>
            <a:off x="1933575" y="5219700"/>
            <a:ext cx="6096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5단계: bisect reset로 탐색 종료</a:t>
            </a:r>
            <a:endParaRPr lang="en-US" sz="1500" dirty="0"/>
          </a:p>
        </p:txBody>
      </p:sp>
      <p:sp>
        <p:nvSpPr>
          <p:cNvPr id="17" name="Text 7"/>
          <p:cNvSpPr/>
          <p:nvPr/>
        </p:nvSpPr>
        <p:spPr>
          <a:xfrm>
            <a:off x="8277225" y="3352800"/>
            <a:ext cx="39147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3단계: Git이 중간 커밋으로 자동 이동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8277225" y="3962400"/>
            <a:ext cx="391477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4단계: 테스트 후 good/bad 반복 판정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7543800" y="5219700"/>
            <a:ext cx="46482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자동화가 bisect 효율을 높인다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5403056" y="2076450"/>
            <a:ext cx="141446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이진 탐색 과정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939998" y="3990975"/>
            <a:ext cx="48190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7265640" y="3990975"/>
            <a:ext cx="670471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</a:t>
            </a:r>
            <a:endParaRPr lang="en-US" sz="1500" dirty="0"/>
          </a:p>
        </p:txBody>
      </p:sp>
      <p:sp>
        <p:nvSpPr>
          <p:cNvPr id="23" name="Text 13"/>
          <p:cNvSpPr/>
          <p:nvPr/>
        </p:nvSpPr>
        <p:spPr>
          <a:xfrm>
            <a:off x="8435727" y="2838450"/>
            <a:ext cx="174962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및 자동 이동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2181225" y="3638550"/>
            <a:ext cx="256032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bisect start</a:t>
            </a:r>
            <a:endParaRPr lang="en-US" sz="1050" dirty="0"/>
          </a:p>
        </p:txBody>
      </p:sp>
      <p:sp>
        <p:nvSpPr>
          <p:cNvPr id="25" name="Text 15"/>
          <p:cNvSpPr/>
          <p:nvPr/>
        </p:nvSpPr>
        <p:spPr>
          <a:xfrm>
            <a:off x="2181225" y="5543550"/>
            <a:ext cx="2377440" cy="1596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8"/>
              </a:lnSpc>
              <a:buNone/>
            </a:pPr>
            <a:r>
              <a:rPr lang="en-US" sz="97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bisect reset</a:t>
            </a:r>
            <a:endParaRPr lang="en-US" sz="975" dirty="0"/>
          </a:p>
        </p:txBody>
      </p:sp>
      <p:sp>
        <p:nvSpPr>
          <p:cNvPr id="26" name="Text 16"/>
          <p:cNvSpPr/>
          <p:nvPr/>
        </p:nvSpPr>
        <p:spPr>
          <a:xfrm>
            <a:off x="10953750" y="190500"/>
            <a:ext cx="1026765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27" name="Text 17"/>
          <p:cNvSpPr/>
          <p:nvPr/>
        </p:nvSpPr>
        <p:spPr>
          <a:xfrm>
            <a:off x="2181225" y="4286250"/>
            <a:ext cx="565785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(현재 커밋은 bad, 정상이었던 커밋은 good으로 표시)</a:t>
            </a:r>
            <a:endParaRPr lang="en-US" sz="1125" dirty="0"/>
          </a:p>
        </p:txBody>
      </p:sp>
      <p:sp>
        <p:nvSpPr>
          <p:cNvPr id="28" name="Text 18"/>
          <p:cNvSpPr/>
          <p:nvPr/>
        </p:nvSpPr>
        <p:spPr>
          <a:xfrm>
            <a:off x="8515350" y="3638550"/>
            <a:ext cx="367665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(이진 탐색으로 후보 커밋 수를 절반씩 줄여나감)</a:t>
            </a:r>
            <a:endParaRPr lang="en-US" sz="1125" dirty="0"/>
          </a:p>
        </p:txBody>
      </p:sp>
      <p:sp>
        <p:nvSpPr>
          <p:cNvPr id="29" name="Text 19"/>
          <p:cNvSpPr/>
          <p:nvPr/>
        </p:nvSpPr>
        <p:spPr>
          <a:xfrm>
            <a:off x="8515350" y="4286250"/>
            <a:ext cx="325755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(테스트 실행 및 결과 입력 반복)</a:t>
            </a:r>
            <a:endParaRPr lang="en-US" sz="1125" dirty="0"/>
          </a:p>
        </p:txBody>
      </p:sp>
      <p:sp>
        <p:nvSpPr>
          <p:cNvPr id="30" name="Text 20"/>
          <p:cNvSpPr/>
          <p:nvPr/>
        </p:nvSpPr>
        <p:spPr>
          <a:xfrm>
            <a:off x="7543800" y="5543550"/>
            <a:ext cx="46482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(커밋 크기가 작고 명확할수록 원인 분석 속도가 빨라짐)</a:t>
            </a:r>
            <a:endParaRPr lang="en-US" sz="1125" dirty="0"/>
          </a:p>
        </p:txBody>
      </p:sp>
      <p:sp>
        <p:nvSpPr>
          <p:cNvPr id="31" name="Text 21"/>
          <p:cNvSpPr/>
          <p:nvPr/>
        </p:nvSpPr>
        <p:spPr>
          <a:xfrm>
            <a:off x="3457575" y="5553075"/>
            <a:ext cx="2057400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(원인 확인 후 복귀)</a:t>
            </a:r>
            <a:endParaRPr lang="en-US" sz="1125" dirty="0"/>
          </a:p>
        </p:txBody>
      </p:sp>
      <p:sp>
        <p:nvSpPr>
          <p:cNvPr id="32" name="Text 22"/>
          <p:cNvSpPr/>
          <p:nvPr/>
        </p:nvSpPr>
        <p:spPr>
          <a:xfrm>
            <a:off x="5813971" y="6705600"/>
            <a:ext cx="544711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4471" y="4128492"/>
            <a:ext cx="1694557" cy="175557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1098" y="4128492"/>
            <a:ext cx="1694557" cy="175557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577" y="4128492"/>
            <a:ext cx="1706761" cy="175557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32957" y="4128492"/>
            <a:ext cx="1731169" cy="175557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1788" y="4128492"/>
            <a:ext cx="1682353" cy="175557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655" y="4135338"/>
            <a:ext cx="1706761" cy="174873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85750" y="133350"/>
            <a:ext cx="1190625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58"/>
              </a:lnSpc>
              <a:buNone/>
            </a:pPr>
            <a:r>
              <a:rPr lang="en-US" sz="25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permissions.js 회귀를 bisect로 좁혀 보기</a:t>
            </a:r>
            <a:endParaRPr lang="en-US" sz="2550" dirty="0"/>
          </a:p>
        </p:txBody>
      </p:sp>
      <p:sp>
        <p:nvSpPr>
          <p:cNvPr id="13" name="Text 1"/>
          <p:cNvSpPr/>
          <p:nvPr/>
        </p:nvSpPr>
        <p:spPr>
          <a:xfrm>
            <a:off x="352425" y="742950"/>
            <a:ext cx="7132320" cy="3318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13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실패 원인을 체계적으로 찾아가는 과정</a:t>
            </a:r>
            <a:endParaRPr lang="en-US" sz="1950" dirty="0"/>
          </a:p>
        </p:txBody>
      </p:sp>
      <p:sp>
        <p:nvSpPr>
          <p:cNvPr id="14" name="Text 2"/>
          <p:cNvSpPr/>
          <p:nvPr/>
        </p:nvSpPr>
        <p:spPr>
          <a:xfrm>
            <a:off x="699492" y="3429000"/>
            <a:ext cx="1582043" cy="729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시나리오: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테스터 실패 상황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endParaRPr lang="en-US" sz="1650" dirty="0"/>
          </a:p>
        </p:txBody>
      </p:sp>
      <p:sp>
        <p:nvSpPr>
          <p:cNvPr id="15" name="Text 3"/>
          <p:cNvSpPr/>
          <p:nvPr/>
        </p:nvSpPr>
        <p:spPr>
          <a:xfrm>
            <a:off x="2525911" y="3409950"/>
            <a:ext cx="1424880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bisect 시작 및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범위 지정</a:t>
            </a:r>
            <a:endParaRPr lang="en-US" sz="1650" dirty="0"/>
          </a:p>
        </p:txBody>
      </p:sp>
      <p:sp>
        <p:nvSpPr>
          <p:cNvPr id="16" name="Text 4"/>
          <p:cNvSpPr/>
          <p:nvPr/>
        </p:nvSpPr>
        <p:spPr>
          <a:xfrm>
            <a:off x="4107656" y="3409950"/>
            <a:ext cx="1833563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중간 커밋 테스터 및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good/bad 판정</a:t>
            </a:r>
            <a:endParaRPr lang="en-US" sz="1650" dirty="0"/>
          </a:p>
        </p:txBody>
      </p:sp>
      <p:sp>
        <p:nvSpPr>
          <p:cNvPr id="17" name="Text 5"/>
          <p:cNvSpPr/>
          <p:nvPr/>
        </p:nvSpPr>
        <p:spPr>
          <a:xfrm>
            <a:off x="6400800" y="3409950"/>
            <a:ext cx="1676400" cy="486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 커밋 특정 후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14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show로 분석</a:t>
            </a:r>
            <a:endParaRPr lang="en-US" sz="1650" dirty="0"/>
          </a:p>
        </p:txBody>
      </p:sp>
      <p:sp>
        <p:nvSpPr>
          <p:cNvPr id="18" name="Text 6"/>
          <p:cNvSpPr/>
          <p:nvPr/>
        </p:nvSpPr>
        <p:spPr>
          <a:xfrm>
            <a:off x="8124230" y="3409950"/>
            <a:ext cx="1686818" cy="464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2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bisect reset으로</a:t>
            </a:r>
            <a:pPr algn="ctr" indent="0" marL="0">
              <a:lnSpc>
                <a:spcPts val="182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2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원래 상태 복귀</a:t>
            </a:r>
            <a:endParaRPr lang="en-US" sz="1575" dirty="0"/>
          </a:p>
        </p:txBody>
      </p:sp>
      <p:sp>
        <p:nvSpPr>
          <p:cNvPr id="19" name="Text 7"/>
          <p:cNvSpPr/>
          <p:nvPr/>
        </p:nvSpPr>
        <p:spPr>
          <a:xfrm>
            <a:off x="9825038" y="3409950"/>
            <a:ext cx="1781175" cy="4640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2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테스터 자동화와</a:t>
            </a:r>
            <a:pPr algn="ctr" indent="0" marL="0">
              <a:lnSpc>
                <a:spcPts val="182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2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bisect 효율의 관계</a:t>
            </a:r>
            <a:endParaRPr lang="en-US" sz="1575" dirty="0"/>
          </a:p>
        </p:txBody>
      </p:sp>
      <p:sp>
        <p:nvSpPr>
          <p:cNvPr id="20" name="Text 8"/>
          <p:cNvSpPr/>
          <p:nvPr/>
        </p:nvSpPr>
        <p:spPr>
          <a:xfrm>
            <a:off x="1566863" y="1895475"/>
            <a:ext cx="3248025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01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1~3: 탐색 준비 및 중간 테스터</a:t>
            </a:r>
            <a:endParaRPr lang="en-US" sz="1575" dirty="0"/>
          </a:p>
        </p:txBody>
      </p:sp>
      <p:sp>
        <p:nvSpPr>
          <p:cNvPr id="21" name="Text 9"/>
          <p:cNvSpPr/>
          <p:nvPr/>
        </p:nvSpPr>
        <p:spPr>
          <a:xfrm>
            <a:off x="7593211" y="1895475"/>
            <a:ext cx="2682180" cy="2263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 4~6: 원인 분석 및 정리</a:t>
            </a:r>
            <a:endParaRPr lang="en-US" sz="1650" dirty="0"/>
          </a:p>
        </p:txBody>
      </p:sp>
      <p:sp>
        <p:nvSpPr>
          <p:cNvPr id="22" name="Text 10"/>
          <p:cNvSpPr/>
          <p:nvPr/>
        </p:nvSpPr>
        <p:spPr>
          <a:xfrm>
            <a:off x="10896600" y="190500"/>
            <a:ext cx="1068586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1125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069"/>
              </a:lnSpc>
              <a:buNone/>
            </a:pPr>
            <a:r>
              <a:rPr lang="en-US" sz="1125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069"/>
              </a:lnSpc>
              <a:buNone/>
            </a:pPr>
            <a:r>
              <a:rPr lang="en-US" sz="1125" b="1" dirty="0">
                <a:solidFill>
                  <a:srgbClr val="C2185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3" y="1975098"/>
            <a:ext cx="10899577" cy="424502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23825"/>
            <a:ext cx="1196340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상향별 복구 도구를 빠르게 고르는 decision matrix</a:t>
            </a:r>
            <a:endParaRPr lang="en-US" sz="2325" dirty="0"/>
          </a:p>
        </p:txBody>
      </p:sp>
      <p:sp>
        <p:nvSpPr>
          <p:cNvPr id="8" name="Text 1"/>
          <p:cNvSpPr/>
          <p:nvPr/>
        </p:nvSpPr>
        <p:spPr>
          <a:xfrm>
            <a:off x="4594771" y="1428750"/>
            <a:ext cx="3059311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복구 의사 결정 매트릭스</a:t>
            </a:r>
            <a:endParaRPr lang="en-US" sz="1650" dirty="0"/>
          </a:p>
        </p:txBody>
      </p:sp>
      <p:sp>
        <p:nvSpPr>
          <p:cNvPr id="9" name="Text 2"/>
          <p:cNvSpPr/>
          <p:nvPr/>
        </p:nvSpPr>
        <p:spPr>
          <a:xfrm>
            <a:off x="352425" y="742950"/>
            <a:ext cx="377190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650" dirty="0"/>
          </a:p>
        </p:txBody>
      </p:sp>
      <p:sp>
        <p:nvSpPr>
          <p:cNvPr id="10" name="Text 3"/>
          <p:cNvSpPr/>
          <p:nvPr/>
        </p:nvSpPr>
        <p:spPr>
          <a:xfrm>
            <a:off x="9496425" y="295275"/>
            <a:ext cx="149825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CH03. 이력 관리와 복구</a:t>
            </a:r>
            <a:endParaRPr lang="en-US" sz="1050" dirty="0"/>
          </a:p>
        </p:txBody>
      </p:sp>
      <p:sp>
        <p:nvSpPr>
          <p:cNvPr id="11" name="Text 4"/>
          <p:cNvSpPr/>
          <p:nvPr/>
        </p:nvSpPr>
        <p:spPr>
          <a:xfrm>
            <a:off x="11049000" y="190500"/>
            <a:ext cx="92199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Dream.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10972800" y="352425"/>
            <a:ext cx="100578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93B5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690" y="5198269"/>
            <a:ext cx="926455" cy="9120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361" y="4258717"/>
            <a:ext cx="743694" cy="91201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486" y="3374082"/>
            <a:ext cx="938659" cy="90517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4565" y="2455069"/>
            <a:ext cx="743694" cy="91886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2690" y="1584127"/>
            <a:ext cx="926455" cy="83656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66700" y="142875"/>
            <a:ext cx="1086612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 요약 / Chapter 03 Summary</a:t>
            </a:r>
            <a:endParaRPr lang="en-US" sz="2325" dirty="0"/>
          </a:p>
        </p:txBody>
      </p:sp>
      <p:sp>
        <p:nvSpPr>
          <p:cNvPr id="12" name="Text 1"/>
          <p:cNvSpPr/>
          <p:nvPr/>
        </p:nvSpPr>
        <p:spPr>
          <a:xfrm>
            <a:off x="352425" y="742950"/>
            <a:ext cx="8427720" cy="3626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56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CH03 요약: 이력은 읽고, 복구는 안전하게</a:t>
            </a:r>
            <a:endParaRPr lang="en-US" sz="2100" dirty="0"/>
          </a:p>
        </p:txBody>
      </p:sp>
      <p:sp>
        <p:nvSpPr>
          <p:cNvPr id="13" name="Text 2"/>
          <p:cNvSpPr/>
          <p:nvPr/>
        </p:nvSpPr>
        <p:spPr>
          <a:xfrm>
            <a:off x="790575" y="1771650"/>
            <a:ext cx="5322540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진단: diff · log · show 목적별 활용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Detail: 변경 사항·흐름·특정 커밋을 도구에 맞게 조회</a:t>
            </a:r>
            <a:endParaRPr lang="en-US" sz="1950" dirty="0"/>
          </a:p>
        </p:txBody>
      </p:sp>
      <p:sp>
        <p:nvSpPr>
          <p:cNvPr id="14" name="Text 3"/>
          <p:cNvSpPr/>
          <p:nvPr/>
        </p:nvSpPr>
        <p:spPr>
          <a:xfrm>
            <a:off x="790575" y="2609850"/>
            <a:ext cx="5584478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보관·고정: stash · tag 역할 구분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Detail: 임시 보관은 stash, 탈리스 기준점은 tag로 고정</a:t>
            </a:r>
            <a:endParaRPr lang="en-US" sz="1950" dirty="0"/>
          </a:p>
        </p:txBody>
      </p:sp>
      <p:sp>
        <p:nvSpPr>
          <p:cNvPr id="15" name="Text 4"/>
          <p:cNvSpPr/>
          <p:nvPr/>
        </p:nvSpPr>
        <p:spPr>
          <a:xfrm>
            <a:off x="790575" y="3448050"/>
            <a:ext cx="5626298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복구 원칙: revert vs reset 선택 기준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Detail: 공유 이력은 revert, 개인 로컬 정리는 reset 사용</a:t>
            </a:r>
            <a:endParaRPr lang="en-US" sz="1950" dirty="0"/>
          </a:p>
        </p:txBody>
      </p:sp>
      <p:sp>
        <p:nvSpPr>
          <p:cNvPr id="16" name="Text 5"/>
          <p:cNvSpPr/>
          <p:nvPr/>
        </p:nvSpPr>
        <p:spPr>
          <a:xfrm>
            <a:off x="790575" y="4295775"/>
            <a:ext cx="5678686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추적: bisect · reflog 안전망 활용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808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Detail: 회귀 커밋은 bisect로 탐색, 실수는 reflog로 복기</a:t>
            </a:r>
            <a:endParaRPr lang="en-US" sz="1950" dirty="0"/>
          </a:p>
        </p:txBody>
      </p:sp>
      <p:sp>
        <p:nvSpPr>
          <p:cNvPr id="17" name="Text 6"/>
          <p:cNvSpPr/>
          <p:nvPr/>
        </p:nvSpPr>
        <p:spPr>
          <a:xfrm>
            <a:off x="790575" y="5143500"/>
            <a:ext cx="5217765" cy="10287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Next: CH04 브랜치 전략으로 연결</a:t>
            </a:r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Detail: 이력이 될 끊기는 협업 방식, merge-rebase</a:t>
            </a:r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학습</a:t>
            </a:r>
            <a:endParaRPr lang="en-US" sz="1875" dirty="0"/>
          </a:p>
        </p:txBody>
      </p:sp>
      <p:sp>
        <p:nvSpPr>
          <p:cNvPr id="18" name="Text 7"/>
          <p:cNvSpPr/>
          <p:nvPr/>
        </p:nvSpPr>
        <p:spPr>
          <a:xfrm>
            <a:off x="7696200" y="1666875"/>
            <a:ext cx="4054673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이력 진단 (History Diagnosis)</a:t>
            </a:r>
            <a:pPr indent="0" marL="0">
              <a:lnSpc>
                <a:spcPts val="226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6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diff, log, show</a:t>
            </a:r>
            <a:endParaRPr lang="en-US" sz="1725" dirty="0"/>
          </a:p>
        </p:txBody>
      </p:sp>
      <p:sp>
        <p:nvSpPr>
          <p:cNvPr id="19" name="Text 8"/>
          <p:cNvSpPr/>
          <p:nvPr/>
        </p:nvSpPr>
        <p:spPr>
          <a:xfrm>
            <a:off x="7696200" y="3486150"/>
            <a:ext cx="4400550" cy="5738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보관 및 기준 (Archive &amp; Baseline)</a:t>
            </a:r>
            <a:pPr indent="0" marL="0">
              <a:lnSpc>
                <a:spcPts val="226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6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stash, tag</a:t>
            </a:r>
            <a:endParaRPr lang="en-US" sz="1725" dirty="0"/>
          </a:p>
        </p:txBody>
      </p:sp>
      <p:sp>
        <p:nvSpPr>
          <p:cNvPr id="20" name="Text 9"/>
          <p:cNvSpPr/>
          <p:nvPr/>
        </p:nvSpPr>
        <p:spPr>
          <a:xfrm>
            <a:off x="7696200" y="5295900"/>
            <a:ext cx="3866108" cy="5988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5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3: 안전 복구 (Safe Recovery)</a:t>
            </a:r>
            <a:pPr indent="0" marL="0">
              <a:lnSpc>
                <a:spcPts val="235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58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revert, reset, reflog</a:t>
            </a:r>
            <a:endParaRPr lang="en-US" sz="1800" dirty="0"/>
          </a:p>
        </p:txBody>
      </p:sp>
      <p:sp>
        <p:nvSpPr>
          <p:cNvPr id="21" name="Text 10"/>
          <p:cNvSpPr/>
          <p:nvPr/>
        </p:nvSpPr>
        <p:spPr>
          <a:xfrm>
            <a:off x="9648825" y="180975"/>
            <a:ext cx="2430661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309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2309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2309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22" name="Text 11"/>
          <p:cNvSpPr/>
          <p:nvPr/>
        </p:nvSpPr>
        <p:spPr>
          <a:xfrm>
            <a:off x="466725" y="6629400"/>
            <a:ext cx="17145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23" name="Text 12"/>
          <p:cNvSpPr/>
          <p:nvPr/>
        </p:nvSpPr>
        <p:spPr>
          <a:xfrm>
            <a:off x="9717286" y="6629400"/>
            <a:ext cx="796230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08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8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750" dirty="0"/>
          </a:p>
        </p:txBody>
      </p:sp>
      <p:sp>
        <p:nvSpPr>
          <p:cNvPr id="24" name="Text 13"/>
          <p:cNvSpPr/>
          <p:nvPr/>
        </p:nvSpPr>
        <p:spPr>
          <a:xfrm>
            <a:off x="10716518" y="6629400"/>
            <a:ext cx="607665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08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80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2026-04-10T20:25:04Z</dcterms:created>
  <dcterms:modified xsi:type="dcterms:W3CDTF">2026-04-10T20:25:04Z</dcterms:modified>
</cp:coreProperties>
</file>
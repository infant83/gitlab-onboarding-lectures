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201314" Target="fonts/201314.fntdata" Type="http://schemas.openxmlformats.org/officeDocument/2006/relationships/font"/><Relationship Id="rId301314" Target="fonts/301314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85750" y="142875"/>
            <a:ext cx="8161020" cy="3594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31"/>
              </a:lnSpc>
              <a:buNone/>
            </a:pPr>
            <a:r>
              <a:rPr lang="en-US" sz="25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Git과 GitLab 협업의 기준 좌표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995363" y="1828800"/>
            <a:ext cx="4505325" cy="3144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7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Git의 4공간 핵심 모델 (로컬~원격 흐름)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352425" y="762000"/>
            <a:ext cx="6934200" cy="3144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77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CH01 오리엔테이션 및 핵심 개념 안내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381750" y="1771650"/>
            <a:ext cx="5280660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96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vs GitLab &amp; Setup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381750" y="3305175"/>
            <a:ext cx="5810250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1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Permissions &amp; Collab Models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6381750" y="4676775"/>
            <a:ext cx="4732020" cy="2781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91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Course Orientation</a:t>
            </a:r>
            <a:endParaRPr lang="en-US" sz="1725" dirty="0"/>
          </a:p>
        </p:txBody>
      </p:sp>
      <p:sp>
        <p:nvSpPr>
          <p:cNvPr id="9" name="Text 6"/>
          <p:cNvSpPr/>
          <p:nvPr/>
        </p:nvSpPr>
        <p:spPr>
          <a:xfrm>
            <a:off x="6429375" y="2143125"/>
            <a:ext cx="57626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5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Git : 로컬 이력 관리, 코드 분할/통합, git status</a:t>
            </a:r>
            <a:endParaRPr lang="en-US" sz="1425" dirty="0"/>
          </a:p>
        </p:txBody>
      </p:sp>
      <p:sp>
        <p:nvSpPr>
          <p:cNvPr id="10" name="Text 7"/>
          <p:cNvSpPr/>
          <p:nvPr/>
        </p:nvSpPr>
        <p:spPr>
          <a:xfrm>
            <a:off x="6429375" y="2400300"/>
            <a:ext cx="57626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5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GitLab : 협업 플랫폼, CI/CD, 코드 리뷰</a:t>
            </a:r>
            <a:endParaRPr lang="en-US" sz="1425" dirty="0"/>
          </a:p>
        </p:txBody>
      </p:sp>
      <p:sp>
        <p:nvSpPr>
          <p:cNvPr id="11" name="Text 8"/>
          <p:cNvSpPr/>
          <p:nvPr/>
        </p:nvSpPr>
        <p:spPr>
          <a:xfrm>
            <a:off x="6397823" y="2667000"/>
            <a:ext cx="5794177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5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Setup : Git 설치 및 사용자 정보 설정 (git config --global)</a:t>
            </a:r>
            <a:endParaRPr lang="en-US" sz="1425" dirty="0"/>
          </a:p>
        </p:txBody>
      </p:sp>
      <p:sp>
        <p:nvSpPr>
          <p:cNvPr id="12" name="Text 9"/>
          <p:cNvSpPr/>
          <p:nvPr/>
        </p:nvSpPr>
        <p:spPr>
          <a:xfrm>
            <a:off x="6303615" y="3686175"/>
            <a:ext cx="588838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5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권한 체계 : Owner-Maintainer-Developer의 책임과 권한 구분</a:t>
            </a:r>
            <a:endParaRPr lang="en-US" sz="1425" dirty="0"/>
          </a:p>
        </p:txBody>
      </p:sp>
      <p:sp>
        <p:nvSpPr>
          <p:cNvPr id="13" name="Text 10"/>
          <p:cNvSpPr/>
          <p:nvPr/>
        </p:nvSpPr>
        <p:spPr>
          <a:xfrm>
            <a:off x="6429375" y="3952875"/>
            <a:ext cx="57626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5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협업 모델 : 공유 저장소(사내 운영 모델) vs Fork 모델의 개념</a:t>
            </a:r>
            <a:endParaRPr lang="en-US" sz="1425" dirty="0"/>
          </a:p>
        </p:txBody>
      </p:sp>
      <p:sp>
        <p:nvSpPr>
          <p:cNvPr id="14" name="Text 11"/>
          <p:cNvSpPr/>
          <p:nvPr/>
        </p:nvSpPr>
        <p:spPr>
          <a:xfrm>
            <a:off x="6429375" y="5057775"/>
            <a:ext cx="57626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5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CH01 : 기존 좌표 설정 및 오리엔테이션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6429375" y="5324475"/>
            <a:ext cx="5762625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5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전체 흐름 : 8챕터 전 과정의 기반, 뒤 장의 원활한 진행 도모</a:t>
            </a:r>
            <a:endParaRPr lang="en-US" sz="1425" dirty="0"/>
          </a:p>
        </p:txBody>
      </p:sp>
      <p:sp>
        <p:nvSpPr>
          <p:cNvPr id="16" name="Text 13"/>
          <p:cNvSpPr/>
          <p:nvPr/>
        </p:nvSpPr>
        <p:spPr>
          <a:xfrm>
            <a:off x="5813524" y="6715125"/>
            <a:ext cx="555278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894" y="2057400"/>
            <a:ext cx="1548259" cy="157728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8675" y="2132707"/>
            <a:ext cx="1426369" cy="144006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788" y="2132707"/>
            <a:ext cx="1450777" cy="142636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1569" y="2119015"/>
            <a:ext cx="1353294" cy="1412677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28600" y="123825"/>
            <a:ext cx="11932920" cy="411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CH01은 8시간 전체 흐름에서 어디를 담당하는가</a:t>
            </a:r>
            <a:endParaRPr lang="en-US" sz="2700" dirty="0"/>
          </a:p>
        </p:txBody>
      </p:sp>
      <p:sp>
        <p:nvSpPr>
          <p:cNvPr id="9" name="Text 1"/>
          <p:cNvSpPr/>
          <p:nvPr/>
        </p:nvSpPr>
        <p:spPr>
          <a:xfrm>
            <a:off x="877193" y="4076700"/>
            <a:ext cx="1864965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협업 여정의</a:t>
            </a:r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출발점</a:t>
            </a:r>
            <a:endParaRPr lang="en-US" sz="2100" dirty="0"/>
          </a:p>
        </p:txBody>
      </p:sp>
      <p:sp>
        <p:nvSpPr>
          <p:cNvPr id="10" name="Text 2"/>
          <p:cNvSpPr/>
          <p:nvPr/>
        </p:nvSpPr>
        <p:spPr>
          <a:xfrm>
            <a:off x="3802261" y="4076700"/>
            <a:ext cx="1843980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개념적 토대</a:t>
            </a:r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</a:t>
            </a:r>
            <a:endParaRPr lang="en-US" sz="2100" dirty="0"/>
          </a:p>
        </p:txBody>
      </p:sp>
      <p:sp>
        <p:nvSpPr>
          <p:cNvPr id="11" name="Text 3"/>
          <p:cNvSpPr/>
          <p:nvPr/>
        </p:nvSpPr>
        <p:spPr>
          <a:xfrm>
            <a:off x="6600230" y="4076700"/>
            <a:ext cx="189636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핵심 기준 및</a:t>
            </a:r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 설정</a:t>
            </a:r>
            <a:endParaRPr lang="en-US" sz="2100" dirty="0"/>
          </a:p>
        </p:txBody>
      </p:sp>
      <p:sp>
        <p:nvSpPr>
          <p:cNvPr id="12" name="Text 4"/>
          <p:cNvSpPr/>
          <p:nvPr/>
        </p:nvSpPr>
        <p:spPr>
          <a:xfrm>
            <a:off x="9528721" y="4076700"/>
            <a:ext cx="1802011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실습 완주의</a:t>
            </a:r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31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전제 조건</a:t>
            </a:r>
            <a:endParaRPr lang="en-US" sz="2100" dirty="0"/>
          </a:p>
        </p:txBody>
      </p:sp>
      <p:sp>
        <p:nvSpPr>
          <p:cNvPr id="13" name="Text 5"/>
          <p:cNvSpPr/>
          <p:nvPr/>
        </p:nvSpPr>
        <p:spPr>
          <a:xfrm>
            <a:off x="352425" y="742950"/>
            <a:ext cx="8149590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2"/>
              </a:lnSpc>
              <a:buNone/>
            </a:pPr>
            <a:r>
              <a:rPr lang="en-US" sz="1725" b="1" dirty="0">
                <a:solidFill>
                  <a:srgbClr val="5858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협업 로드맵의 개념적 토대와 기준 좌표 설정</a:t>
            </a:r>
            <a:endParaRPr lang="en-US" sz="1725" dirty="0"/>
          </a:p>
        </p:txBody>
      </p:sp>
      <p:sp>
        <p:nvSpPr>
          <p:cNvPr id="14" name="Text 6"/>
          <p:cNvSpPr/>
          <p:nvPr/>
        </p:nvSpPr>
        <p:spPr>
          <a:xfrm>
            <a:off x="605284" y="4819650"/>
            <a:ext cx="2399258" cy="7371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8챕터 시리즈의 첫 번째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장으로, 전체 흐름의 기준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좌표 설정 및 개념 제공</a:t>
            </a:r>
            <a:endParaRPr lang="en-US" sz="1500" dirty="0"/>
          </a:p>
        </p:txBody>
      </p:sp>
      <p:sp>
        <p:nvSpPr>
          <p:cNvPr id="15" name="Text 7"/>
          <p:cNvSpPr/>
          <p:nvPr/>
        </p:nvSpPr>
        <p:spPr>
          <a:xfrm>
            <a:off x="3470821" y="4819650"/>
            <a:ext cx="2430661" cy="7371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CH02~CH08 실습을 위한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필수 선행 단계로, 명령어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흐름 이해의 기초</a:t>
            </a:r>
            <a:endParaRPr lang="en-US" sz="1500" dirty="0"/>
          </a:p>
        </p:txBody>
      </p:sp>
      <p:sp>
        <p:nvSpPr>
          <p:cNvPr id="16" name="Text 8"/>
          <p:cNvSpPr/>
          <p:nvPr/>
        </p:nvSpPr>
        <p:spPr>
          <a:xfrm>
            <a:off x="6202561" y="4819650"/>
            <a:ext cx="2682180" cy="9828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로컬, 원격, 브랜치 운영 방식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사용자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권한(Owner/Developer)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기준 정의</a:t>
            </a:r>
            <a:endParaRPr lang="en-US" sz="1500" dirty="0"/>
          </a:p>
        </p:txBody>
      </p:sp>
      <p:sp>
        <p:nvSpPr>
          <p:cNvPr id="17" name="Text 9"/>
          <p:cNvSpPr/>
          <p:nvPr/>
        </p:nvSpPr>
        <p:spPr>
          <a:xfrm>
            <a:off x="9133880" y="4819650"/>
            <a:ext cx="2525018" cy="7371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CH01 이해도가 학습 효율을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결정하며, 미정립 시 이후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효과 저하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466725" y="6448425"/>
            <a:ext cx="1828800" cy="14778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4"/>
              </a:lnSpc>
              <a:buNone/>
            </a:pPr>
            <a:r>
              <a:rPr lang="en-US" sz="1200" b="1" dirty="0">
                <a:solidFill>
                  <a:srgbClr val="5858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5934521" y="6705600"/>
            <a:ext cx="408533" cy="924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28"/>
              </a:lnSpc>
              <a:buNone/>
            </a:pPr>
            <a:r>
              <a:rPr lang="en-US" sz="750" dirty="0">
                <a:solidFill>
                  <a:srgbClr val="5858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671" y="5150346"/>
            <a:ext cx="353467" cy="30852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1388" y="5143500"/>
            <a:ext cx="329059" cy="32221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1161" y="5129659"/>
            <a:ext cx="292596" cy="33590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30353" y="5122813"/>
            <a:ext cx="1243459" cy="4731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2753" y="2900809"/>
            <a:ext cx="2060377" cy="55542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4784" y="2893963"/>
            <a:ext cx="2523679" cy="53488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81686" y="2208163"/>
            <a:ext cx="621655" cy="56227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2894" y="2269927"/>
            <a:ext cx="560784" cy="404515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0" y="133350"/>
            <a:ext cx="12192000" cy="35197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72"/>
              </a:lnSpc>
              <a:buNone/>
            </a:pPr>
            <a:r>
              <a:rPr lang="en-US" sz="21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Git과 GitLab, 그리고 CI/CD와 MLOps를 구분하기 / Distinguishing Git, GitLab, CI/CD, and MLOps</a:t>
            </a:r>
            <a:endParaRPr lang="en-US" sz="2100" dirty="0"/>
          </a:p>
        </p:txBody>
      </p:sp>
      <p:sp>
        <p:nvSpPr>
          <p:cNvPr id="13" name="Text 1"/>
          <p:cNvSpPr/>
          <p:nvPr/>
        </p:nvSpPr>
        <p:spPr>
          <a:xfrm>
            <a:off x="352425" y="742950"/>
            <a:ext cx="11839575" cy="3504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개념의 차이와 교육 범위 명확화 / Clarifying Core Concept Differences and Course Scope</a:t>
            </a:r>
            <a:endParaRPr lang="en-US" sz="1725" dirty="0"/>
          </a:p>
        </p:txBody>
      </p:sp>
      <p:sp>
        <p:nvSpPr>
          <p:cNvPr id="14" name="Text 2"/>
          <p:cNvSpPr/>
          <p:nvPr/>
        </p:nvSpPr>
        <p:spPr>
          <a:xfrm>
            <a:off x="1382018" y="1600200"/>
            <a:ext cx="9408765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0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Git과 GitLab, CI/CD, MLOps의 명확한 구분 / Distinguishing Git, GitLab, CI/CD, and MLOps</a:t>
            </a:r>
            <a:endParaRPr lang="en-US" sz="1575" dirty="0"/>
          </a:p>
        </p:txBody>
      </p:sp>
      <p:sp>
        <p:nvSpPr>
          <p:cNvPr id="15" name="Text 3"/>
          <p:cNvSpPr/>
          <p:nvPr/>
        </p:nvSpPr>
        <p:spPr>
          <a:xfrm>
            <a:off x="3448496" y="2362200"/>
            <a:ext cx="198983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</a:t>
            </a:r>
            <a:endParaRPr lang="en-US" sz="975" dirty="0"/>
          </a:p>
        </p:txBody>
      </p:sp>
      <p:sp>
        <p:nvSpPr>
          <p:cNvPr id="16" name="Text 4"/>
          <p:cNvSpPr/>
          <p:nvPr/>
        </p:nvSpPr>
        <p:spPr>
          <a:xfrm>
            <a:off x="8939213" y="2362200"/>
            <a:ext cx="73342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</a:t>
            </a:r>
            <a:endParaRPr lang="en-US" sz="1350" dirty="0"/>
          </a:p>
        </p:txBody>
      </p:sp>
      <p:sp>
        <p:nvSpPr>
          <p:cNvPr id="17" name="Text 5"/>
          <p:cNvSpPr/>
          <p:nvPr/>
        </p:nvSpPr>
        <p:spPr>
          <a:xfrm>
            <a:off x="2656880" y="4838700"/>
            <a:ext cx="147726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관리 범위</a:t>
            </a:r>
            <a:endParaRPr lang="en-US" sz="1350" dirty="0"/>
          </a:p>
        </p:txBody>
      </p:sp>
      <p:sp>
        <p:nvSpPr>
          <p:cNvPr id="18" name="Text 6"/>
          <p:cNvSpPr/>
          <p:nvPr/>
        </p:nvSpPr>
        <p:spPr>
          <a:xfrm>
            <a:off x="8120509" y="4838700"/>
            <a:ext cx="156105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 관리 범위</a:t>
            </a:r>
            <a:endParaRPr lang="en-US" sz="1350" dirty="0"/>
          </a:p>
        </p:txBody>
      </p:sp>
      <p:sp>
        <p:nvSpPr>
          <p:cNvPr id="19" name="Text 7"/>
          <p:cNvSpPr/>
          <p:nvPr/>
        </p:nvSpPr>
        <p:spPr>
          <a:xfrm>
            <a:off x="2689771" y="5705475"/>
            <a:ext cx="264021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CI/CD: 안전한 배포 가능한가?</a:t>
            </a:r>
            <a:endParaRPr lang="en-US" sz="1350" dirty="0"/>
          </a:p>
        </p:txBody>
      </p:sp>
      <p:sp>
        <p:nvSpPr>
          <p:cNvPr id="20" name="Text 8"/>
          <p:cNvSpPr/>
          <p:nvPr/>
        </p:nvSpPr>
        <p:spPr>
          <a:xfrm>
            <a:off x="7397502" y="5705475"/>
            <a:ext cx="321647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MLOps: 모델 성격 끊기 및 롤백 대상?</a:t>
            </a:r>
            <a:endParaRPr lang="en-US" sz="1350" dirty="0"/>
          </a:p>
        </p:txBody>
      </p:sp>
      <p:sp>
        <p:nvSpPr>
          <p:cNvPr id="21" name="Text 9"/>
          <p:cNvSpPr/>
          <p:nvPr/>
        </p:nvSpPr>
        <p:spPr>
          <a:xfrm>
            <a:off x="797123" y="3048000"/>
            <a:ext cx="901005" cy="439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이력</a:t>
            </a:r>
            <a:pPr algn="ctr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 도구</a:t>
            </a:r>
            <a:endParaRPr lang="en-US" sz="1350" dirty="0"/>
          </a:p>
        </p:txBody>
      </p:sp>
      <p:sp>
        <p:nvSpPr>
          <p:cNvPr id="22" name="Text 10"/>
          <p:cNvSpPr/>
          <p:nvPr/>
        </p:nvSpPr>
        <p:spPr>
          <a:xfrm>
            <a:off x="7159823" y="3048000"/>
            <a:ext cx="901005" cy="439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운영</a:t>
            </a:r>
            <a:pPr algn="ctr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sz="1350" dirty="0"/>
          </a:p>
        </p:txBody>
      </p:sp>
      <p:sp>
        <p:nvSpPr>
          <p:cNvPr id="23" name="Text 11"/>
          <p:cNvSpPr/>
          <p:nvPr/>
        </p:nvSpPr>
        <p:spPr>
          <a:xfrm>
            <a:off x="779115" y="5705475"/>
            <a:ext cx="1299121" cy="219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 차이</a:t>
            </a:r>
            <a:endParaRPr lang="en-US" sz="1350" dirty="0"/>
          </a:p>
        </p:txBody>
      </p:sp>
      <p:sp>
        <p:nvSpPr>
          <p:cNvPr id="24" name="Text 12"/>
          <p:cNvSpPr/>
          <p:nvPr/>
        </p:nvSpPr>
        <p:spPr>
          <a:xfrm>
            <a:off x="763339" y="6115050"/>
            <a:ext cx="1644848" cy="219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 교육의 적용 범위</a:t>
            </a:r>
            <a:endParaRPr lang="en-US" sz="1350" dirty="0"/>
          </a:p>
        </p:txBody>
      </p:sp>
      <p:sp>
        <p:nvSpPr>
          <p:cNvPr id="25" name="Text 13"/>
          <p:cNvSpPr/>
          <p:nvPr/>
        </p:nvSpPr>
        <p:spPr>
          <a:xfrm>
            <a:off x="3406080" y="6134100"/>
            <a:ext cx="2388840" cy="219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CH01 ~ CH07: CI/CD 중심</a:t>
            </a:r>
            <a:endParaRPr lang="en-US" sz="1350" dirty="0"/>
          </a:p>
        </p:txBody>
      </p:sp>
      <p:sp>
        <p:nvSpPr>
          <p:cNvPr id="26" name="Text 14"/>
          <p:cNvSpPr/>
          <p:nvPr/>
        </p:nvSpPr>
        <p:spPr>
          <a:xfrm>
            <a:off x="6528346" y="6134100"/>
            <a:ext cx="754261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CH01~07</a:t>
            </a:r>
            <a:endParaRPr lang="en-US" sz="1200" dirty="0"/>
          </a:p>
        </p:txBody>
      </p:sp>
      <p:sp>
        <p:nvSpPr>
          <p:cNvPr id="27" name="Text 15"/>
          <p:cNvSpPr/>
          <p:nvPr/>
        </p:nvSpPr>
        <p:spPr>
          <a:xfrm>
            <a:off x="6468368" y="6134100"/>
            <a:ext cx="2074515" cy="19511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36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CH08: MLOps 확장 Variant</a:t>
            </a:r>
            <a:endParaRPr lang="en-US" sz="1200" dirty="0"/>
          </a:p>
        </p:txBody>
      </p:sp>
      <p:sp>
        <p:nvSpPr>
          <p:cNvPr id="28" name="Text 16"/>
          <p:cNvSpPr/>
          <p:nvPr/>
        </p:nvSpPr>
        <p:spPr>
          <a:xfrm>
            <a:off x="228600" y="6467475"/>
            <a:ext cx="2057400" cy="2195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28"/>
              </a:lnSpc>
              <a:buNone/>
            </a:pPr>
            <a:r>
              <a:rPr lang="en-US" sz="13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798612" y="3486150"/>
            <a:ext cx="869603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History</a:t>
            </a:r>
            <a:pPr algn="ctr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97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Mgmt</a:t>
            </a:r>
            <a:endParaRPr lang="en-US" sz="975" dirty="0"/>
          </a:p>
        </p:txBody>
      </p:sp>
      <p:sp>
        <p:nvSpPr>
          <p:cNvPr id="30" name="Text 18"/>
          <p:cNvSpPr/>
          <p:nvPr/>
        </p:nvSpPr>
        <p:spPr>
          <a:xfrm>
            <a:off x="7136011" y="3486150"/>
            <a:ext cx="7962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Collaboration</a:t>
            </a:r>
            <a:pPr algn="ctr"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Platform</a:t>
            </a:r>
            <a:endParaRPr lang="en-US" sz="900" dirty="0"/>
          </a:p>
        </p:txBody>
      </p:sp>
      <p:sp>
        <p:nvSpPr>
          <p:cNvPr id="31" name="Text 19"/>
          <p:cNvSpPr/>
          <p:nvPr/>
        </p:nvSpPr>
        <p:spPr>
          <a:xfrm>
            <a:off x="838200" y="5162550"/>
            <a:ext cx="2462213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코드 품질 확보, 빌드, 테스트,</a:t>
            </a:r>
            <a:pPr indent="0" marL="0">
              <a:lnSpc>
                <a:spcPts val="153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3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환경 배포 자동화</a:t>
            </a:r>
            <a:endParaRPr lang="en-US" sz="1125" dirty="0"/>
          </a:p>
        </p:txBody>
      </p:sp>
      <p:sp>
        <p:nvSpPr>
          <p:cNvPr id="32" name="Text 20"/>
          <p:cNvSpPr/>
          <p:nvPr/>
        </p:nvSpPr>
        <p:spPr>
          <a:xfrm>
            <a:off x="838200" y="5372100"/>
            <a:ext cx="1371600" cy="1943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</a:t>
            </a:r>
            <a:endParaRPr lang="en-US" sz="1125" dirty="0"/>
          </a:p>
        </p:txBody>
      </p:sp>
      <p:sp>
        <p:nvSpPr>
          <p:cNvPr id="33" name="Text 21"/>
          <p:cNvSpPr/>
          <p:nvPr/>
        </p:nvSpPr>
        <p:spPr>
          <a:xfrm>
            <a:off x="6324600" y="5162550"/>
            <a:ext cx="3185071" cy="3887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코드 외 데이터 버전, 모델 학습 결과,</a:t>
            </a:r>
            <a:pPr indent="0" marL="0">
              <a:lnSpc>
                <a:spcPts val="153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3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지표까지 확장 관리</a:t>
            </a:r>
            <a:endParaRPr lang="en-US" sz="1125" dirty="0"/>
          </a:p>
        </p:txBody>
      </p:sp>
      <p:sp>
        <p:nvSpPr>
          <p:cNvPr id="34" name="Text 22"/>
          <p:cNvSpPr/>
          <p:nvPr/>
        </p:nvSpPr>
        <p:spPr>
          <a:xfrm>
            <a:off x="10277475" y="5372100"/>
            <a:ext cx="1215330" cy="58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3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</a:t>
            </a:r>
            <a:pPr indent="0" marL="0">
              <a:lnSpc>
                <a:spcPts val="153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3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</a:t>
            </a:r>
            <a:pPr indent="0" marL="0">
              <a:lnSpc>
                <a:spcPts val="153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3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Chart</a:t>
            </a:r>
            <a:endParaRPr lang="en-US" sz="1125" dirty="0"/>
          </a:p>
        </p:txBody>
      </p:sp>
      <p:sp>
        <p:nvSpPr>
          <p:cNvPr id="35" name="Text 23"/>
          <p:cNvSpPr/>
          <p:nvPr/>
        </p:nvSpPr>
        <p:spPr>
          <a:xfrm>
            <a:off x="8391525" y="3552825"/>
            <a:ext cx="3667125" cy="74652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Git 위에 관한, Merge Request 등 협업 레이어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CI/CD 파이프라인 내장 통합 관리 /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CI/CD 파이프라인 통합</a:t>
            </a:r>
            <a:endParaRPr lang="en-US" sz="1050" dirty="0"/>
          </a:p>
        </p:txBody>
      </p:sp>
      <p:sp>
        <p:nvSpPr>
          <p:cNvPr id="36" name="Text 24"/>
          <p:cNvSpPr/>
          <p:nvPr/>
        </p:nvSpPr>
        <p:spPr>
          <a:xfrm>
            <a:off x="1990725" y="3619500"/>
            <a:ext cx="4526161" cy="3732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파일 변경 이력을 로컬에 추적 / 파일 이력 로컬 저장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네트워크 불필요 (Standalone 작동) / 네트워크 독립 실행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875" y="1570434"/>
            <a:ext cx="11338471" cy="422448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9921" y="142875"/>
            <a:ext cx="12112079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70"/>
              </a:lnSpc>
              <a:buNone/>
            </a:pPr>
            <a:r>
              <a:rPr lang="en-US" sz="24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디렉토리 -&gt; 스테이징 영역 -&gt; 로컬 저장소 -&gt; 원격 저장소 / Git 핵심 데이터 흐름</a:t>
            </a:r>
            <a:endParaRPr lang="en-US" sz="2475" dirty="0"/>
          </a:p>
        </p:txBody>
      </p:sp>
      <p:sp>
        <p:nvSpPr>
          <p:cNvPr id="6" name="Text 1"/>
          <p:cNvSpPr/>
          <p:nvPr/>
        </p:nvSpPr>
        <p:spPr>
          <a:xfrm>
            <a:off x="352425" y="742950"/>
            <a:ext cx="911352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작업 영역 및 주요 명령에 의한 상태 전이 이해</a:t>
            </a:r>
            <a:endParaRPr lang="en-US" sz="1950" dirty="0"/>
          </a:p>
        </p:txBody>
      </p:sp>
      <p:sp>
        <p:nvSpPr>
          <p:cNvPr id="7" name="Text 2"/>
          <p:cNvSpPr/>
          <p:nvPr/>
        </p:nvSpPr>
        <p:spPr>
          <a:xfrm>
            <a:off x="5870674" y="6705600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894" y="1522363"/>
            <a:ext cx="11253192" cy="419010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85750" y="171450"/>
            <a:ext cx="1190625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repository, origin, main, HEAD를 정확히 구분하기</a:t>
            </a:r>
            <a:endParaRPr lang="en-US" sz="2325" dirty="0"/>
          </a:p>
        </p:txBody>
      </p:sp>
      <p:sp>
        <p:nvSpPr>
          <p:cNvPr id="6" name="Text 1"/>
          <p:cNvSpPr/>
          <p:nvPr/>
        </p:nvSpPr>
        <p:spPr>
          <a:xfrm>
            <a:off x="352425" y="762000"/>
            <a:ext cx="420624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개념 정의 및 관계 이해</a:t>
            </a:r>
            <a:endParaRPr lang="en-US" sz="1725" dirty="0"/>
          </a:p>
        </p:txBody>
      </p:sp>
      <p:sp>
        <p:nvSpPr>
          <p:cNvPr id="7" name="Text 2"/>
          <p:cNvSpPr/>
          <p:nvPr/>
        </p:nvSpPr>
        <p:spPr>
          <a:xfrm>
            <a:off x="4870103" y="1628775"/>
            <a:ext cx="2451646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99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개념 간의 논리적 관계</a:t>
            </a:r>
            <a:endParaRPr lang="en-US" sz="1650" dirty="0"/>
          </a:p>
        </p:txBody>
      </p:sp>
      <p:sp>
        <p:nvSpPr>
          <p:cNvPr id="8" name="Text 3"/>
          <p:cNvSpPr/>
          <p:nvPr/>
        </p:nvSpPr>
        <p:spPr>
          <a:xfrm>
            <a:off x="5810696" y="6705600"/>
            <a:ext cx="618083" cy="11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1"/>
              </a:lnSpc>
              <a:buNone/>
            </a:pPr>
            <a:r>
              <a:rPr lang="en-US" sz="90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1796" y="2221855"/>
            <a:ext cx="1584871" cy="153605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490" y="2221855"/>
            <a:ext cx="1536055" cy="153605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5184" y="2221855"/>
            <a:ext cx="1536055" cy="153605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228600" y="123825"/>
            <a:ext cx="1196340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 / Maintainer / Developer는 같은 저장소를 어떻게 다르게 보는가</a:t>
            </a:r>
            <a:endParaRPr lang="en-US" sz="2700" dirty="0"/>
          </a:p>
        </p:txBody>
      </p:sp>
      <p:sp>
        <p:nvSpPr>
          <p:cNvPr id="8" name="Text 1"/>
          <p:cNvSpPr/>
          <p:nvPr/>
        </p:nvSpPr>
        <p:spPr>
          <a:xfrm>
            <a:off x="352425" y="742950"/>
            <a:ext cx="11839575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CH01 | Git 운영 모델 핵심: 역할과 책임에 따른 권한 설계</a:t>
            </a:r>
            <a:endParaRPr lang="en-US" sz="2100" dirty="0"/>
          </a:p>
        </p:txBody>
      </p:sp>
      <p:sp>
        <p:nvSpPr>
          <p:cNvPr id="9" name="Text 2"/>
          <p:cNvSpPr/>
          <p:nvPr/>
        </p:nvSpPr>
        <p:spPr>
          <a:xfrm>
            <a:off x="958602" y="4076700"/>
            <a:ext cx="2587823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B51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Owner: 정책 설계자</a:t>
            </a:r>
            <a:endParaRPr lang="en-US" sz="1875" dirty="0"/>
          </a:p>
        </p:txBody>
      </p:sp>
      <p:sp>
        <p:nvSpPr>
          <p:cNvPr id="10" name="Text 3"/>
          <p:cNvSpPr/>
          <p:nvPr/>
        </p:nvSpPr>
        <p:spPr>
          <a:xfrm>
            <a:off x="4472434" y="4076700"/>
            <a:ext cx="3237458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B51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Maintainer: 통합 관리자</a:t>
            </a:r>
            <a:endParaRPr lang="en-US" sz="1875" dirty="0"/>
          </a:p>
        </p:txBody>
      </p:sp>
      <p:sp>
        <p:nvSpPr>
          <p:cNvPr id="11" name="Text 4"/>
          <p:cNvSpPr/>
          <p:nvPr/>
        </p:nvSpPr>
        <p:spPr>
          <a:xfrm>
            <a:off x="8373368" y="4076700"/>
            <a:ext cx="3122265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B5142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Developer: 변경 제안자</a:t>
            </a:r>
            <a:endParaRPr lang="en-US" sz="1875" dirty="0"/>
          </a:p>
        </p:txBody>
      </p:sp>
      <p:sp>
        <p:nvSpPr>
          <p:cNvPr id="12" name="Text 5"/>
          <p:cNvSpPr/>
          <p:nvPr/>
        </p:nvSpPr>
        <p:spPr>
          <a:xfrm>
            <a:off x="838200" y="4552950"/>
            <a:ext cx="2923133" cy="12180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보호 브랜치, 승인 규칙 설정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저장소 핵심 정책 관리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핵심 고민: "전체 품질 목표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달성을 위한 정책은?"</a:t>
            </a:r>
            <a:endParaRPr lang="en-US" sz="1725" dirty="0"/>
          </a:p>
        </p:txBody>
      </p:sp>
      <p:sp>
        <p:nvSpPr>
          <p:cNvPr id="13" name="Text 6"/>
          <p:cNvSpPr/>
          <p:nvPr/>
        </p:nvSpPr>
        <p:spPr>
          <a:xfrm>
            <a:off x="4733925" y="4552950"/>
            <a:ext cx="3006923" cy="12180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MR 검토·병합 권한 보유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브랜치 전략 안정성 책임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핵심 고민: "코드 충돌 및 전략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위반 가능성은?"</a:t>
            </a:r>
            <a:endParaRPr lang="en-US" sz="1725" dirty="0"/>
          </a:p>
        </p:txBody>
      </p:sp>
      <p:sp>
        <p:nvSpPr>
          <p:cNvPr id="14" name="Text 7"/>
          <p:cNvSpPr/>
          <p:nvPr/>
        </p:nvSpPr>
        <p:spPr>
          <a:xfrm>
            <a:off x="8515350" y="4552950"/>
            <a:ext cx="3405188" cy="12180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브랜치 생성·MR 요청 가능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main 직접 push 불가 (안전장치)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핵심 고민: "내 코드를 어떻게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98"/>
              </a:lnSpc>
              <a:buNone/>
            </a:pPr>
            <a:r>
              <a:rPr lang="en-US" sz="1725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안전하게 반영할까?"</a:t>
            </a:r>
            <a:endParaRPr lang="en-US" sz="1725" dirty="0"/>
          </a:p>
        </p:txBody>
      </p:sp>
      <p:sp>
        <p:nvSpPr>
          <p:cNvPr id="15" name="Text 8"/>
          <p:cNvSpPr/>
          <p:nvPr/>
        </p:nvSpPr>
        <p:spPr>
          <a:xfrm>
            <a:off x="590550" y="1362075"/>
            <a:ext cx="1160145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1A1A1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권한은 수련도가 아닌 책임의 문제 | 역할은 실력 순위가 아닌 운영 책임 범위로 결정됨</a:t>
            </a:r>
            <a:endParaRPr lang="en-US" sz="1725" dirty="0"/>
          </a:p>
        </p:txBody>
      </p:sp>
      <p:sp>
        <p:nvSpPr>
          <p:cNvPr id="16" name="Text 9"/>
          <p:cNvSpPr/>
          <p:nvPr/>
        </p:nvSpPr>
        <p:spPr>
          <a:xfrm>
            <a:off x="590550" y="6191250"/>
            <a:ext cx="11430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[참고] 위험 관리 관점: 직접 push 차단은 리뷰·검증 절차 보장을 위한 필수 안전장치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466725" y="6467475"/>
            <a:ext cx="1828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5875883" y="6715125"/>
            <a:ext cx="439936" cy="75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594"/>
              </a:lnSpc>
              <a:buNone/>
            </a:pPr>
            <a:r>
              <a:rPr lang="en-US" sz="60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0165" y="2269927"/>
            <a:ext cx="3438079" cy="199563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459" y="2269927"/>
            <a:ext cx="3645396" cy="1981944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28600" y="142875"/>
            <a:ext cx="11963400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90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shared repository와 fork, 그리고 사내 운영 기본 모델</a:t>
            </a:r>
            <a:endParaRPr lang="en-US" sz="2325" dirty="0"/>
          </a:p>
        </p:txBody>
      </p:sp>
      <p:sp>
        <p:nvSpPr>
          <p:cNvPr id="7" name="Text 1"/>
          <p:cNvSpPr/>
          <p:nvPr/>
        </p:nvSpPr>
        <p:spPr>
          <a:xfrm>
            <a:off x="352425" y="742950"/>
            <a:ext cx="5745480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4646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CH01 협업의 기초와 운영 모델</a:t>
            </a:r>
            <a:endParaRPr lang="en-US" sz="1950" dirty="0"/>
          </a:p>
        </p:txBody>
      </p:sp>
      <p:sp>
        <p:nvSpPr>
          <p:cNvPr id="8" name="Text 2"/>
          <p:cNvSpPr/>
          <p:nvPr/>
        </p:nvSpPr>
        <p:spPr>
          <a:xfrm>
            <a:off x="1200150" y="4495800"/>
            <a:ext cx="4589115" cy="13617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팀원 전체 단일 저장소 공유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Feature 브랜치 &amp; Merge Request(MR) 협업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코드 리뷰 및 병합 절차 준수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권한 관리 및 추적 용이 (사내 최적 모델)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본 교육 실습 기준 모델</a:t>
            </a:r>
            <a:endParaRPr lang="en-US" sz="1650" dirty="0"/>
          </a:p>
        </p:txBody>
      </p:sp>
      <p:sp>
        <p:nvSpPr>
          <p:cNvPr id="9" name="Text 3"/>
          <p:cNvSpPr/>
          <p:nvPr/>
        </p:nvSpPr>
        <p:spPr>
          <a:xfrm>
            <a:off x="7296150" y="4495800"/>
            <a:ext cx="4044255" cy="14242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원본 저장소를 개인 계정으로 복제(Fork)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개인 복제본에서 작업 후 원본 PR 기여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주로 오픈소스 및 외부 다수 협업 활용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원본에 직접 권한 불필요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접근 범위 및 기여 방식 상이 (핵심 차이)</a:t>
            </a:r>
            <a:endParaRPr lang="en-US" sz="1725" dirty="0"/>
          </a:p>
        </p:txBody>
      </p:sp>
      <p:sp>
        <p:nvSpPr>
          <p:cNvPr id="10" name="Text 4"/>
          <p:cNvSpPr/>
          <p:nvPr/>
        </p:nvSpPr>
        <p:spPr>
          <a:xfrm>
            <a:off x="2069306" y="1733550"/>
            <a:ext cx="2043113" cy="1524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Shared Repository 모델</a:t>
            </a:r>
            <a:endParaRPr lang="en-US" sz="1200" dirty="0"/>
          </a:p>
        </p:txBody>
      </p:sp>
      <p:sp>
        <p:nvSpPr>
          <p:cNvPr id="11" name="Text 5"/>
          <p:cNvSpPr/>
          <p:nvPr/>
        </p:nvSpPr>
        <p:spPr>
          <a:xfrm>
            <a:off x="8640068" y="1733550"/>
            <a:ext cx="817215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Fork 모델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3773" y="5006280"/>
            <a:ext cx="511969" cy="5622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569" y="3744367"/>
            <a:ext cx="536377" cy="53488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569" y="2448223"/>
            <a:ext cx="536377" cy="55542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3773" y="4937671"/>
            <a:ext cx="694879" cy="67880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3773" y="3655219"/>
            <a:ext cx="694879" cy="69264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1569" y="2372767"/>
            <a:ext cx="707082" cy="685800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0" y="742950"/>
            <a:ext cx="12192000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On-prem GitLab을 쏠 때 무엇이 달라지는가 / What Changes with On-prem GitLab</a:t>
            </a:r>
            <a:endParaRPr lang="en-US" sz="2325" dirty="0"/>
          </a:p>
        </p:txBody>
      </p:sp>
      <p:sp>
        <p:nvSpPr>
          <p:cNvPr id="11" name="Text 1"/>
          <p:cNvSpPr/>
          <p:nvPr/>
        </p:nvSpPr>
        <p:spPr>
          <a:xfrm>
            <a:off x="2181225" y="2371725"/>
            <a:ext cx="446913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Runner 직접 운영 필요</a:t>
            </a:r>
            <a:endParaRPr lang="en-US" sz="1725" dirty="0"/>
          </a:p>
        </p:txBody>
      </p:sp>
      <p:sp>
        <p:nvSpPr>
          <p:cNvPr id="12" name="Text 2"/>
          <p:cNvSpPr/>
          <p:nvPr/>
        </p:nvSpPr>
        <p:spPr>
          <a:xfrm>
            <a:off x="2181225" y="3686175"/>
            <a:ext cx="368046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사내 인증 시스템 연동</a:t>
            </a:r>
            <a:endParaRPr lang="en-US" sz="1725" dirty="0"/>
          </a:p>
        </p:txBody>
      </p:sp>
      <p:sp>
        <p:nvSpPr>
          <p:cNvPr id="13" name="Text 3"/>
          <p:cNvSpPr/>
          <p:nvPr/>
        </p:nvSpPr>
        <p:spPr>
          <a:xfrm>
            <a:off x="2181225" y="4943475"/>
            <a:ext cx="315468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네트워크 접근 제약</a:t>
            </a:r>
            <a:endParaRPr lang="en-US" sz="1725" dirty="0"/>
          </a:p>
        </p:txBody>
      </p:sp>
      <p:sp>
        <p:nvSpPr>
          <p:cNvPr id="14" name="Text 4"/>
          <p:cNvSpPr/>
          <p:nvPr/>
        </p:nvSpPr>
        <p:spPr>
          <a:xfrm>
            <a:off x="9334500" y="2371725"/>
            <a:ext cx="285750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업그레이드·패치 자체 관리</a:t>
            </a:r>
            <a:endParaRPr lang="en-US" sz="1725" dirty="0"/>
          </a:p>
        </p:txBody>
      </p:sp>
      <p:sp>
        <p:nvSpPr>
          <p:cNvPr id="15" name="Text 5"/>
          <p:cNvSpPr/>
          <p:nvPr/>
        </p:nvSpPr>
        <p:spPr>
          <a:xfrm>
            <a:off x="9334500" y="3571875"/>
            <a:ext cx="285750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스토리지·백업 정책 수립</a:t>
            </a:r>
            <a:endParaRPr lang="en-US" sz="1725" dirty="0"/>
          </a:p>
        </p:txBody>
      </p:sp>
      <p:sp>
        <p:nvSpPr>
          <p:cNvPr id="16" name="Text 6"/>
          <p:cNvSpPr/>
          <p:nvPr/>
        </p:nvSpPr>
        <p:spPr>
          <a:xfrm>
            <a:off x="9334500" y="4857750"/>
            <a:ext cx="285750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권한 정책 내부 설계 필요</a:t>
            </a:r>
            <a:endParaRPr lang="en-US" sz="1725" dirty="0"/>
          </a:p>
        </p:txBody>
      </p:sp>
      <p:sp>
        <p:nvSpPr>
          <p:cNvPr id="17" name="Text 7"/>
          <p:cNvSpPr/>
          <p:nvPr/>
        </p:nvSpPr>
        <p:spPr>
          <a:xfrm>
            <a:off x="228600" y="190500"/>
            <a:ext cx="1196340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75"/>
              </a:lnSpc>
              <a:buNone/>
            </a:pPr>
            <a:r>
              <a:rPr lang="en-US" sz="2175" b="1" dirty="0">
                <a:solidFill>
                  <a:srgbClr val="40404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CH01. 온프레미스 운영 모델 / CH01. On-premise Operating Model</a:t>
            </a:r>
            <a:endParaRPr lang="en-US" sz="2175" dirty="0"/>
          </a:p>
        </p:txBody>
      </p:sp>
      <p:sp>
        <p:nvSpPr>
          <p:cNvPr id="18" name="Text 8"/>
          <p:cNvSpPr/>
          <p:nvPr/>
        </p:nvSpPr>
        <p:spPr>
          <a:xfrm>
            <a:off x="3958530" y="1543050"/>
            <a:ext cx="1131540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4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인프라 및 통합</a:t>
            </a:r>
            <a:endParaRPr lang="en-US" sz="1650" dirty="0"/>
          </a:p>
        </p:txBody>
      </p:sp>
      <p:sp>
        <p:nvSpPr>
          <p:cNvPr id="19" name="Text 9"/>
          <p:cNvSpPr/>
          <p:nvPr/>
        </p:nvSpPr>
        <p:spPr>
          <a:xfrm>
            <a:off x="9585871" y="1543050"/>
            <a:ext cx="963811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34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및 정책</a:t>
            </a:r>
            <a:endParaRPr lang="en-US" sz="1650" dirty="0"/>
          </a:p>
        </p:txBody>
      </p:sp>
      <p:sp>
        <p:nvSpPr>
          <p:cNvPr id="20" name="Text 10"/>
          <p:cNvSpPr/>
          <p:nvPr/>
        </p:nvSpPr>
        <p:spPr>
          <a:xfrm>
            <a:off x="2238375" y="2743200"/>
            <a:ext cx="9953625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8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GitLab.com과 달리 CI/CD 실행을 위한 Runner를 직접 설치·관리해야 함</a:t>
            </a:r>
            <a:endParaRPr lang="en-US" sz="1575" dirty="0"/>
          </a:p>
        </p:txBody>
      </p:sp>
      <p:sp>
        <p:nvSpPr>
          <p:cNvPr id="21" name="Text 11"/>
          <p:cNvSpPr/>
          <p:nvPr/>
        </p:nvSpPr>
        <p:spPr>
          <a:xfrm>
            <a:off x="2238375" y="4057650"/>
            <a:ext cx="960120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8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LDAP·SAML 등 사내 IdP와 GitLab을 직접 연동·설정해야 함</a:t>
            </a:r>
            <a:endParaRPr lang="en-US" sz="1575" dirty="0"/>
          </a:p>
        </p:txBody>
      </p:sp>
      <p:sp>
        <p:nvSpPr>
          <p:cNvPr id="22" name="Text 12"/>
          <p:cNvSpPr/>
          <p:nvPr/>
        </p:nvSpPr>
        <p:spPr>
          <a:xfrm>
            <a:off x="2238375" y="5324475"/>
            <a:ext cx="9841230" cy="2080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8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방화벽·프록시 환경으로 인해 외부 패키지 및 이미지 접근이 제한될 수 있음</a:t>
            </a:r>
            <a:endParaRPr lang="en-US" sz="1575" dirty="0"/>
          </a:p>
        </p:txBody>
      </p:sp>
      <p:sp>
        <p:nvSpPr>
          <p:cNvPr id="23" name="Text 13"/>
          <p:cNvSpPr/>
          <p:nvPr/>
        </p:nvSpPr>
        <p:spPr>
          <a:xfrm>
            <a:off x="9410700" y="2714625"/>
            <a:ext cx="230505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버전 업그레이드와 보안 패치를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운영팀이 직접 계획·적용해야 함</a:t>
            </a:r>
            <a:endParaRPr lang="en-US" sz="1350" dirty="0"/>
          </a:p>
        </p:txBody>
      </p:sp>
      <p:sp>
        <p:nvSpPr>
          <p:cNvPr id="24" name="Text 14"/>
          <p:cNvSpPr/>
          <p:nvPr/>
        </p:nvSpPr>
        <p:spPr>
          <a:xfrm>
            <a:off x="9410700" y="3857625"/>
            <a:ext cx="2305050" cy="612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아티팩트·LFS 등 저장소 용량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관리와 백업 정책을 자체적으로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수립해야 함</a:t>
            </a:r>
            <a:endParaRPr lang="en-US" sz="1350" dirty="0"/>
          </a:p>
        </p:txBody>
      </p:sp>
      <p:sp>
        <p:nvSpPr>
          <p:cNvPr id="25" name="Text 15"/>
          <p:cNvSpPr/>
          <p:nvPr/>
        </p:nvSpPr>
        <p:spPr>
          <a:xfrm>
            <a:off x="9410700" y="5153025"/>
            <a:ext cx="2388840" cy="6121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Protected Branch·승인 규칙 등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정책을 조직 내부 기준에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맞게 직접 설계해야 함</a:t>
            </a:r>
            <a:endParaRPr lang="en-US" sz="1350" dirty="0"/>
          </a:p>
        </p:txBody>
      </p:sp>
      <p:sp>
        <p:nvSpPr>
          <p:cNvPr id="26" name="Text 16"/>
          <p:cNvSpPr/>
          <p:nvPr/>
        </p:nvSpPr>
        <p:spPr>
          <a:xfrm>
            <a:off x="161925" y="6438900"/>
            <a:ext cx="2514600" cy="2074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4"/>
              </a:lnSpc>
              <a:buNone/>
            </a:pPr>
            <a:r>
              <a:rPr lang="en-US" sz="16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650" dirty="0"/>
          </a:p>
        </p:txBody>
      </p:sp>
      <p:sp>
        <p:nvSpPr>
          <p:cNvPr id="27" name="Text 17"/>
          <p:cNvSpPr/>
          <p:nvPr/>
        </p:nvSpPr>
        <p:spPr>
          <a:xfrm>
            <a:off x="5870674" y="6705600"/>
            <a:ext cx="55527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659" y="5342334"/>
            <a:ext cx="560784" cy="56911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546848"/>
            <a:ext cx="548580" cy="47997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847207"/>
            <a:ext cx="548580" cy="44574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3099792"/>
            <a:ext cx="536377" cy="52119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5271" y="2400300"/>
            <a:ext cx="414486" cy="49366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2196" y="1659582"/>
            <a:ext cx="572988" cy="534888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28600" y="123825"/>
            <a:ext cx="987552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수업 전체에서 반복해서 쏘는 기본 확인 명령</a:t>
            </a:r>
            <a:endParaRPr lang="en-US" sz="2700" dirty="0"/>
          </a:p>
        </p:txBody>
      </p:sp>
      <p:sp>
        <p:nvSpPr>
          <p:cNvPr id="11" name="Text 1"/>
          <p:cNvSpPr/>
          <p:nvPr/>
        </p:nvSpPr>
        <p:spPr>
          <a:xfrm>
            <a:off x="1809750" y="5334000"/>
            <a:ext cx="7459861" cy="6390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6개 명령의 핵심 질문</a:t>
            </a:r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Q. 나는 어디 있나? | 🔄 무엇이 바뀌었나? | 🏠 원격과 같은가?</a:t>
            </a:r>
            <a:endParaRPr lang="en-US" sz="1950" dirty="0"/>
          </a:p>
        </p:txBody>
      </p:sp>
      <p:sp>
        <p:nvSpPr>
          <p:cNvPr id="12" name="Text 2"/>
          <p:cNvSpPr/>
          <p:nvPr/>
        </p:nvSpPr>
        <p:spPr>
          <a:xfrm>
            <a:off x="1809750" y="1771650"/>
            <a:ext cx="297180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status</a:t>
            </a:r>
            <a:endParaRPr lang="en-US" sz="1950" dirty="0"/>
          </a:p>
        </p:txBody>
      </p:sp>
      <p:sp>
        <p:nvSpPr>
          <p:cNvPr id="13" name="Text 3"/>
          <p:cNvSpPr/>
          <p:nvPr/>
        </p:nvSpPr>
        <p:spPr>
          <a:xfrm>
            <a:off x="1809750" y="2476500"/>
            <a:ext cx="416052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branch -vv</a:t>
            </a:r>
            <a:endParaRPr lang="en-US" sz="1950" dirty="0"/>
          </a:p>
        </p:txBody>
      </p:sp>
      <p:sp>
        <p:nvSpPr>
          <p:cNvPr id="14" name="Text 4"/>
          <p:cNvSpPr/>
          <p:nvPr/>
        </p:nvSpPr>
        <p:spPr>
          <a:xfrm>
            <a:off x="1809750" y="3181350"/>
            <a:ext cx="386334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remote -v</a:t>
            </a:r>
            <a:endParaRPr lang="en-US" sz="1950" dirty="0"/>
          </a:p>
        </p:txBody>
      </p:sp>
      <p:sp>
        <p:nvSpPr>
          <p:cNvPr id="15" name="Text 5"/>
          <p:cNvSpPr/>
          <p:nvPr/>
        </p:nvSpPr>
        <p:spPr>
          <a:xfrm>
            <a:off x="1809750" y="3886200"/>
            <a:ext cx="505206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log --oneline</a:t>
            </a:r>
            <a:endParaRPr lang="en-US" sz="1950" dirty="0"/>
          </a:p>
        </p:txBody>
      </p:sp>
      <p:sp>
        <p:nvSpPr>
          <p:cNvPr id="16" name="Text 6"/>
          <p:cNvSpPr/>
          <p:nvPr/>
        </p:nvSpPr>
        <p:spPr>
          <a:xfrm>
            <a:off x="1809750" y="4591050"/>
            <a:ext cx="237744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diff</a:t>
            </a:r>
            <a:endParaRPr lang="en-US" sz="1950" dirty="0"/>
          </a:p>
        </p:txBody>
      </p:sp>
      <p:sp>
        <p:nvSpPr>
          <p:cNvPr id="17" name="Text 7"/>
          <p:cNvSpPr/>
          <p:nvPr/>
        </p:nvSpPr>
        <p:spPr>
          <a:xfrm>
            <a:off x="352425" y="742950"/>
            <a:ext cx="56197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협업의 좌표를 잡는 핵심 명령 6선</a:t>
            </a:r>
            <a:endParaRPr lang="en-US" sz="1875" dirty="0"/>
          </a:p>
        </p:txBody>
      </p:sp>
      <p:sp>
        <p:nvSpPr>
          <p:cNvPr id="18" name="Text 8"/>
          <p:cNvSpPr/>
          <p:nvPr/>
        </p:nvSpPr>
        <p:spPr>
          <a:xfrm>
            <a:off x="4248150" y="1771650"/>
            <a:ext cx="79438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상태 진단: 워킹트리·스테이징 변경 여부 즉시 확인</a:t>
            </a:r>
            <a:endParaRPr lang="en-US" sz="1875" dirty="0"/>
          </a:p>
        </p:txBody>
      </p:sp>
      <p:sp>
        <p:nvSpPr>
          <p:cNvPr id="19" name="Text 9"/>
          <p:cNvSpPr/>
          <p:nvPr/>
        </p:nvSpPr>
        <p:spPr>
          <a:xfrm>
            <a:off x="4248150" y="2476500"/>
            <a:ext cx="79438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추적 확인: 로컬 브랜치와 원격 추적 브랜치 동기화 상태 파악</a:t>
            </a:r>
            <a:endParaRPr lang="en-US" sz="1875" dirty="0"/>
          </a:p>
        </p:txBody>
      </p:sp>
      <p:sp>
        <p:nvSpPr>
          <p:cNvPr id="20" name="Text 10"/>
          <p:cNvSpPr/>
          <p:nvPr/>
        </p:nvSpPr>
        <p:spPr>
          <a:xfrm>
            <a:off x="4248150" y="3181350"/>
            <a:ext cx="79438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 연결 확인: origin URL과 프로토콜(SSH/HTTPS) 정상 여부 점검</a:t>
            </a:r>
            <a:endParaRPr lang="en-US" sz="1875" dirty="0"/>
          </a:p>
        </p:txBody>
      </p:sp>
      <p:sp>
        <p:nvSpPr>
          <p:cNvPr id="21" name="Text 11"/>
          <p:cNvSpPr/>
          <p:nvPr/>
        </p:nvSpPr>
        <p:spPr>
          <a:xfrm>
            <a:off x="4248150" y="3886200"/>
            <a:ext cx="79438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이력 요약: 최근 커밋 흐름을 한눈에 파악하여 작업 위치 확인</a:t>
            </a:r>
            <a:endParaRPr lang="en-US" sz="1875" dirty="0"/>
          </a:p>
        </p:txBody>
      </p:sp>
      <p:sp>
        <p:nvSpPr>
          <p:cNvPr id="22" name="Text 12"/>
          <p:cNvSpPr/>
          <p:nvPr/>
        </p:nvSpPr>
        <p:spPr>
          <a:xfrm>
            <a:off x="4248150" y="4591050"/>
            <a:ext cx="7943850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19"/>
              </a:lnSpc>
              <a:buNone/>
            </a:pPr>
            <a:r>
              <a:rPr lang="en-US" sz="187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내용 비교: 커밋 전 실제 수정 내용을 줄 단위로 검토</a:t>
            </a:r>
            <a:endParaRPr lang="en-US" sz="1875" dirty="0"/>
          </a:p>
        </p:txBody>
      </p:sp>
      <p:sp>
        <p:nvSpPr>
          <p:cNvPr id="23" name="Text 13"/>
          <p:cNvSpPr/>
          <p:nvPr/>
        </p:nvSpPr>
        <p:spPr>
          <a:xfrm>
            <a:off x="466725" y="6467475"/>
            <a:ext cx="1828800" cy="1509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24" name="Text 14"/>
          <p:cNvSpPr/>
          <p:nvPr/>
        </p:nvSpPr>
        <p:spPr>
          <a:xfrm>
            <a:off x="5876925" y="6705600"/>
            <a:ext cx="419100" cy="754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594"/>
              </a:lnSpc>
              <a:buNone/>
            </a:pPr>
            <a:r>
              <a:rPr lang="en-US" sz="600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957" y="3723829"/>
            <a:ext cx="2499271" cy="151551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3294" y="2996803"/>
            <a:ext cx="2182267" cy="41136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1271" y="4814292"/>
            <a:ext cx="938659" cy="96009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9796" y="3346698"/>
            <a:ext cx="694879" cy="70633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3184" y="1762423"/>
            <a:ext cx="731490" cy="73372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769" y="4841677"/>
            <a:ext cx="780157" cy="85025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380" y="3353544"/>
            <a:ext cx="743694" cy="678805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584" y="1810494"/>
            <a:ext cx="694879" cy="630882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28600" y="171450"/>
            <a:ext cx="864108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환경 점검과 clone 전 확인 포인트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1809750" y="1771650"/>
            <a:ext cx="288036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버전 확인</a:t>
            </a:r>
            <a:endParaRPr lang="en-US" sz="2100" dirty="0"/>
          </a:p>
        </p:txBody>
      </p:sp>
      <p:sp>
        <p:nvSpPr>
          <p:cNvPr id="14" name="Text 2"/>
          <p:cNvSpPr/>
          <p:nvPr/>
        </p:nvSpPr>
        <p:spPr>
          <a:xfrm>
            <a:off x="1809750" y="3067050"/>
            <a:ext cx="1822996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인증 방식 선택:</a:t>
            </a:r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SSH vs HTTPS</a:t>
            </a:r>
            <a:endParaRPr lang="en-US" sz="1650" dirty="0"/>
          </a:p>
        </p:txBody>
      </p:sp>
      <p:sp>
        <p:nvSpPr>
          <p:cNvPr id="15" name="Text 3"/>
          <p:cNvSpPr/>
          <p:nvPr/>
        </p:nvSpPr>
        <p:spPr>
          <a:xfrm>
            <a:off x="1809750" y="4810125"/>
            <a:ext cx="48006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 저장소 연결 상태 점검</a:t>
            </a:r>
            <a:endParaRPr lang="en-US" sz="2100" dirty="0"/>
          </a:p>
        </p:txBody>
      </p:sp>
      <p:sp>
        <p:nvSpPr>
          <p:cNvPr id="16" name="Text 4"/>
          <p:cNvSpPr/>
          <p:nvPr/>
        </p:nvSpPr>
        <p:spPr>
          <a:xfrm>
            <a:off x="5534025" y="1771650"/>
            <a:ext cx="288036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작성자 정보 설정</a:t>
            </a:r>
            <a:endParaRPr lang="en-US" sz="2100" dirty="0"/>
          </a:p>
        </p:txBody>
      </p:sp>
      <p:sp>
        <p:nvSpPr>
          <p:cNvPr id="17" name="Text 5"/>
          <p:cNvSpPr/>
          <p:nvPr/>
        </p:nvSpPr>
        <p:spPr>
          <a:xfrm>
            <a:off x="5534025" y="3276600"/>
            <a:ext cx="3200400" cy="3173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9"/>
              </a:lnSpc>
              <a:buNone/>
            </a:pPr>
            <a:r>
              <a:rPr lang="en-US" sz="21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브랜치명 확인</a:t>
            </a:r>
            <a:endParaRPr lang="en-US" sz="2100" dirty="0"/>
          </a:p>
        </p:txBody>
      </p:sp>
      <p:sp>
        <p:nvSpPr>
          <p:cNvPr id="18" name="Text 6"/>
          <p:cNvSpPr/>
          <p:nvPr/>
        </p:nvSpPr>
        <p:spPr>
          <a:xfrm>
            <a:off x="8696325" y="1628775"/>
            <a:ext cx="3495675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Clone Pre-flight 핵심 요약</a:t>
            </a:r>
            <a:endParaRPr lang="en-US" sz="1875" dirty="0"/>
          </a:p>
        </p:txBody>
      </p:sp>
      <p:sp>
        <p:nvSpPr>
          <p:cNvPr id="19" name="Text 7"/>
          <p:cNvSpPr/>
          <p:nvPr/>
        </p:nvSpPr>
        <p:spPr>
          <a:xfrm>
            <a:off x="1809750" y="2162175"/>
            <a:ext cx="2399258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--version으로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설치 여부와 버전을 점검</a:t>
            </a:r>
            <a:endParaRPr lang="en-US" sz="1725" dirty="0"/>
          </a:p>
        </p:txBody>
      </p:sp>
      <p:sp>
        <p:nvSpPr>
          <p:cNvPr id="20" name="Text 8"/>
          <p:cNvSpPr/>
          <p:nvPr/>
        </p:nvSpPr>
        <p:spPr>
          <a:xfrm>
            <a:off x="1809750" y="3771900"/>
            <a:ext cx="2671763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remote -v로 현재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프로토콜 확인 후 인증 설정</a:t>
            </a:r>
            <a:endParaRPr lang="en-US" sz="1725" dirty="0"/>
          </a:p>
        </p:txBody>
      </p:sp>
      <p:sp>
        <p:nvSpPr>
          <p:cNvPr id="21" name="Text 9"/>
          <p:cNvSpPr/>
          <p:nvPr/>
        </p:nvSpPr>
        <p:spPr>
          <a:xfrm>
            <a:off x="1809750" y="5200650"/>
            <a:ext cx="3373636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remote show origin으로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HEAD 브랜치 및 연결 확인</a:t>
            </a:r>
            <a:endParaRPr lang="en-US" sz="1725" dirty="0"/>
          </a:p>
        </p:txBody>
      </p:sp>
      <p:sp>
        <p:nvSpPr>
          <p:cNvPr id="22" name="Text 10"/>
          <p:cNvSpPr/>
          <p:nvPr/>
        </p:nvSpPr>
        <p:spPr>
          <a:xfrm>
            <a:off x="5534025" y="2162175"/>
            <a:ext cx="2661196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user.name, user.email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미설정 시 커밋 오류 발생</a:t>
            </a:r>
            <a:endParaRPr lang="en-US" sz="1725" dirty="0"/>
          </a:p>
        </p:txBody>
      </p:sp>
      <p:sp>
        <p:nvSpPr>
          <p:cNvPr id="23" name="Text 11"/>
          <p:cNvSpPr/>
          <p:nvPr/>
        </p:nvSpPr>
        <p:spPr>
          <a:xfrm>
            <a:off x="5534025" y="3733800"/>
            <a:ext cx="2923133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 또는 master 여부를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branch -a로 사전 확인</a:t>
            </a:r>
            <a:endParaRPr lang="en-US" sz="1725" dirty="0"/>
          </a:p>
        </p:txBody>
      </p:sp>
      <p:sp>
        <p:nvSpPr>
          <p:cNvPr id="24" name="Text 12"/>
          <p:cNvSpPr/>
          <p:nvPr/>
        </p:nvSpPr>
        <p:spPr>
          <a:xfrm>
            <a:off x="8820150" y="2085975"/>
            <a:ext cx="2786955" cy="5432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clone 전 4가지 항목을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39"/>
              </a:lnSpc>
              <a:buNone/>
            </a:pPr>
            <a:r>
              <a:rPr lang="en-US" sz="1725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순서대로 점검하는 습관 권장</a:t>
            </a:r>
            <a:endParaRPr lang="en-US" sz="1725" dirty="0"/>
          </a:p>
        </p:txBody>
      </p:sp>
      <p:sp>
        <p:nvSpPr>
          <p:cNvPr id="25" name="Text 13"/>
          <p:cNvSpPr/>
          <p:nvPr/>
        </p:nvSpPr>
        <p:spPr>
          <a:xfrm>
            <a:off x="8820150" y="3438525"/>
            <a:ext cx="2209800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60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Git 버전</a:t>
            </a:r>
            <a:endParaRPr lang="en-US" sz="1500" dirty="0"/>
          </a:p>
        </p:txBody>
      </p:sp>
      <p:sp>
        <p:nvSpPr>
          <p:cNvPr id="26" name="Text 14"/>
          <p:cNvSpPr/>
          <p:nvPr/>
        </p:nvSpPr>
        <p:spPr>
          <a:xfrm>
            <a:off x="10410825" y="3438525"/>
            <a:ext cx="1781175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60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작성자 정보</a:t>
            </a:r>
            <a:endParaRPr lang="en-US" sz="1500" dirty="0"/>
          </a:p>
        </p:txBody>
      </p:sp>
      <p:sp>
        <p:nvSpPr>
          <p:cNvPr id="27" name="Text 15"/>
          <p:cNvSpPr/>
          <p:nvPr/>
        </p:nvSpPr>
        <p:spPr>
          <a:xfrm>
            <a:off x="8820150" y="5181600"/>
            <a:ext cx="1752600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60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브랜치명</a:t>
            </a:r>
            <a:endParaRPr lang="en-US" sz="1500" dirty="0"/>
          </a:p>
        </p:txBody>
      </p:sp>
      <p:sp>
        <p:nvSpPr>
          <p:cNvPr id="28" name="Text 16"/>
          <p:cNvSpPr/>
          <p:nvPr/>
        </p:nvSpPr>
        <p:spPr>
          <a:xfrm>
            <a:off x="10477500" y="5181600"/>
            <a:ext cx="1714500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60"/>
              </a:lnSpc>
              <a:buNone/>
            </a:pPr>
            <a:r>
              <a:rPr lang="en-US" sz="1500" b="1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인증&amp;연결</a:t>
            </a:r>
            <a:endParaRPr lang="en-US" sz="1500" dirty="0"/>
          </a:p>
        </p:txBody>
      </p:sp>
      <p:sp>
        <p:nvSpPr>
          <p:cNvPr id="29" name="Text 17"/>
          <p:cNvSpPr/>
          <p:nvPr/>
        </p:nvSpPr>
        <p:spPr>
          <a:xfrm>
            <a:off x="5870674" y="6705600"/>
            <a:ext cx="555278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3D3D3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39644"/>
            <a:ext cx="292596" cy="26744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471" y="4649688"/>
            <a:ext cx="536377" cy="41820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5286" y="3648373"/>
            <a:ext cx="451098" cy="43204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7490" y="2509986"/>
            <a:ext cx="426690" cy="52119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584" y="4773067"/>
            <a:ext cx="524173" cy="46627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2196" y="3641527"/>
            <a:ext cx="451098" cy="48681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5584" y="2530525"/>
            <a:ext cx="524173" cy="479971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285750" y="142875"/>
            <a:ext cx="816102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clone 직후 무엇을 확인해야 하는가</a:t>
            </a:r>
            <a:endParaRPr lang="en-US" sz="2550" dirty="0"/>
          </a:p>
        </p:txBody>
      </p:sp>
      <p:sp>
        <p:nvSpPr>
          <p:cNvPr id="11" name="Text 1"/>
          <p:cNvSpPr/>
          <p:nvPr/>
        </p:nvSpPr>
        <p:spPr>
          <a:xfrm>
            <a:off x="895350" y="1771650"/>
            <a:ext cx="6461760" cy="3626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56"/>
              </a:lnSpc>
              <a:buNone/>
            </a:pPr>
            <a:r>
              <a:rPr lang="en-US" sz="24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로컬 Git 명령어로 확인</a:t>
            </a:r>
            <a:endParaRPr lang="en-US" sz="2400" dirty="0"/>
          </a:p>
        </p:txBody>
      </p:sp>
      <p:sp>
        <p:nvSpPr>
          <p:cNvPr id="12" name="Text 2"/>
          <p:cNvSpPr/>
          <p:nvPr/>
        </p:nvSpPr>
        <p:spPr>
          <a:xfrm>
            <a:off x="6810375" y="1733550"/>
            <a:ext cx="5381625" cy="351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67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GitLab UI에서 확인</a:t>
            </a:r>
            <a:endParaRPr lang="en-US" sz="2325" dirty="0"/>
          </a:p>
        </p:txBody>
      </p:sp>
      <p:sp>
        <p:nvSpPr>
          <p:cNvPr id="13" name="Text 3"/>
          <p:cNvSpPr/>
          <p:nvPr/>
        </p:nvSpPr>
        <p:spPr>
          <a:xfrm>
            <a:off x="1571625" y="2514600"/>
            <a:ext cx="5052060" cy="3442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11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status 명령어 실행</a:t>
            </a:r>
            <a:endParaRPr lang="en-US" sz="1950" dirty="0"/>
          </a:p>
        </p:txBody>
      </p:sp>
      <p:sp>
        <p:nvSpPr>
          <p:cNvPr id="14" name="Text 4"/>
          <p:cNvSpPr/>
          <p:nvPr/>
        </p:nvSpPr>
        <p:spPr>
          <a:xfrm>
            <a:off x="1571625" y="3609975"/>
            <a:ext cx="7429500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branch -vv 명령어로 브랜치 연결</a:t>
            </a:r>
            <a:endParaRPr lang="en-US" sz="1875" dirty="0"/>
          </a:p>
        </p:txBody>
      </p:sp>
      <p:sp>
        <p:nvSpPr>
          <p:cNvPr id="15" name="Text 5"/>
          <p:cNvSpPr/>
          <p:nvPr/>
        </p:nvSpPr>
        <p:spPr>
          <a:xfrm>
            <a:off x="1571625" y="4714875"/>
            <a:ext cx="8001000" cy="3309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06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remote -v 명령어로 원격 저장소 주소</a:t>
            </a:r>
            <a:endParaRPr lang="en-US" sz="1875" dirty="0"/>
          </a:p>
        </p:txBody>
      </p:sp>
      <p:sp>
        <p:nvSpPr>
          <p:cNvPr id="16" name="Text 6"/>
          <p:cNvSpPr/>
          <p:nvPr/>
        </p:nvSpPr>
        <p:spPr>
          <a:xfrm>
            <a:off x="7477125" y="2514600"/>
            <a:ext cx="4714875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 브랜치(Protected Branches) 설정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7477125" y="3609975"/>
            <a:ext cx="4714875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 request approvals 승인 규칙</a:t>
            </a:r>
            <a:endParaRPr lang="en-US" sz="1800" dirty="0"/>
          </a:p>
        </p:txBody>
      </p:sp>
      <p:sp>
        <p:nvSpPr>
          <p:cNvPr id="18" name="Text 8"/>
          <p:cNvSpPr/>
          <p:nvPr/>
        </p:nvSpPr>
        <p:spPr>
          <a:xfrm>
            <a:off x="7477125" y="4714875"/>
            <a:ext cx="4714875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 역할(Role)에 따른 권한 범위</a:t>
            </a:r>
            <a:endParaRPr lang="en-US" sz="1800" dirty="0"/>
          </a:p>
        </p:txBody>
      </p:sp>
      <p:sp>
        <p:nvSpPr>
          <p:cNvPr id="19" name="Text 9"/>
          <p:cNvSpPr/>
          <p:nvPr/>
        </p:nvSpPr>
        <p:spPr>
          <a:xfrm>
            <a:off x="352425" y="742950"/>
            <a:ext cx="4114800" cy="3177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02"/>
              </a:lnSpc>
              <a:buNone/>
            </a:pPr>
            <a:r>
              <a:rPr lang="en-US" sz="1800" dirty="0">
                <a:solidFill>
                  <a:srgbClr val="C2C2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800" dirty="0"/>
          </a:p>
        </p:txBody>
      </p:sp>
      <p:sp>
        <p:nvSpPr>
          <p:cNvPr id="20" name="Text 10"/>
          <p:cNvSpPr/>
          <p:nvPr/>
        </p:nvSpPr>
        <p:spPr>
          <a:xfrm>
            <a:off x="1571625" y="2867025"/>
            <a:ext cx="5029200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수정, 스테이징, 미추적 파일 즉시 파악</a:t>
            </a:r>
            <a:endParaRPr lang="en-US" sz="1500" dirty="0"/>
          </a:p>
        </p:txBody>
      </p:sp>
      <p:sp>
        <p:nvSpPr>
          <p:cNvPr id="21" name="Text 11"/>
          <p:cNvSpPr/>
          <p:nvPr/>
        </p:nvSpPr>
        <p:spPr>
          <a:xfrm>
            <a:off x="1571625" y="3952875"/>
            <a:ext cx="5486400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로컬과 원격 추적 브랜치 간 연결 상태 점검</a:t>
            </a:r>
            <a:endParaRPr lang="en-US" sz="1500" dirty="0"/>
          </a:p>
        </p:txBody>
      </p:sp>
      <p:sp>
        <p:nvSpPr>
          <p:cNvPr id="22" name="Text 12"/>
          <p:cNvSpPr/>
          <p:nvPr/>
        </p:nvSpPr>
        <p:spPr>
          <a:xfrm>
            <a:off x="1571625" y="5095875"/>
            <a:ext cx="651510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SSH/HTTPS 프로토콜 및 origin URL 검증</a:t>
            </a:r>
            <a:endParaRPr lang="en-US" sz="1425" dirty="0"/>
          </a:p>
        </p:txBody>
      </p:sp>
      <p:sp>
        <p:nvSpPr>
          <p:cNvPr id="23" name="Text 13"/>
          <p:cNvSpPr/>
          <p:nvPr/>
        </p:nvSpPr>
        <p:spPr>
          <a:xfrm>
            <a:off x="7477125" y="2857500"/>
            <a:ext cx="4714875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Settings &gt; Repository &gt; Protected Branches 접근</a:t>
            </a:r>
            <a:endParaRPr lang="en-US" sz="1425" dirty="0"/>
          </a:p>
        </p:txBody>
      </p:sp>
      <p:sp>
        <p:nvSpPr>
          <p:cNvPr id="24" name="Text 14"/>
          <p:cNvSpPr/>
          <p:nvPr/>
        </p:nvSpPr>
        <p:spPr>
          <a:xfrm>
            <a:off x="7477125" y="3952875"/>
            <a:ext cx="4714875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Settings &gt; General &gt; Merge request approvals 점검</a:t>
            </a:r>
            <a:endParaRPr lang="en-US" sz="1425" dirty="0"/>
          </a:p>
        </p:txBody>
      </p:sp>
      <p:sp>
        <p:nvSpPr>
          <p:cNvPr id="25" name="Text 15"/>
          <p:cNvSpPr/>
          <p:nvPr/>
        </p:nvSpPr>
        <p:spPr>
          <a:xfrm>
            <a:off x="7477125" y="5095875"/>
            <a:ext cx="4714875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멤버 목록에서 역할 구분 및 권한 파악</a:t>
            </a:r>
            <a:endParaRPr lang="en-US" sz="1500" dirty="0"/>
          </a:p>
        </p:txBody>
      </p:sp>
      <p:sp>
        <p:nvSpPr>
          <p:cNvPr id="26" name="Text 16"/>
          <p:cNvSpPr/>
          <p:nvPr/>
        </p:nvSpPr>
        <p:spPr>
          <a:xfrm>
            <a:off x="285750" y="6448425"/>
            <a:ext cx="2286000" cy="188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85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27" name="Text 17"/>
          <p:cNvSpPr/>
          <p:nvPr/>
        </p:nvSpPr>
        <p:spPr>
          <a:xfrm>
            <a:off x="5876925" y="6705600"/>
            <a:ext cx="419100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C2C2C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  <p:sp>
        <p:nvSpPr>
          <p:cNvPr id="28" name="Text 18"/>
          <p:cNvSpPr/>
          <p:nvPr/>
        </p:nvSpPr>
        <p:spPr>
          <a:xfrm>
            <a:off x="6846094" y="5105400"/>
            <a:ext cx="471488" cy="906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14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Maintainer</a:t>
            </a:r>
            <a:endParaRPr lang="en-US" sz="600" dirty="0"/>
          </a:p>
        </p:txBody>
      </p:sp>
      <p:sp>
        <p:nvSpPr>
          <p:cNvPr id="29" name="Text 19"/>
          <p:cNvSpPr/>
          <p:nvPr/>
        </p:nvSpPr>
        <p:spPr>
          <a:xfrm>
            <a:off x="6826002" y="5276850"/>
            <a:ext cx="492323" cy="1019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03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Developer</a:t>
            </a:r>
            <a:endParaRPr lang="en-US" sz="6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6059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863" y="1220688"/>
            <a:ext cx="10302180" cy="5102275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228600" y="123825"/>
            <a:ext cx="1083564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CH01 요약: 좌표를 맞춰야 뒤 장이 풀린다</a:t>
            </a:r>
            <a:endParaRPr lang="en-US" sz="2700" dirty="0"/>
          </a:p>
        </p:txBody>
      </p:sp>
      <p:sp>
        <p:nvSpPr>
          <p:cNvPr id="6" name="Text 1"/>
          <p:cNvSpPr/>
          <p:nvPr/>
        </p:nvSpPr>
        <p:spPr>
          <a:xfrm>
            <a:off x="285750" y="742950"/>
            <a:ext cx="7715250" cy="3476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38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GitLab 협업 기본 모델 및 현위치 이해 완료</a:t>
            </a:r>
            <a:endParaRPr lang="en-US" sz="1875" dirty="0"/>
          </a:p>
        </p:txBody>
      </p:sp>
      <p:sp>
        <p:nvSpPr>
          <p:cNvPr id="7" name="Text 2"/>
          <p:cNvSpPr/>
          <p:nvPr/>
        </p:nvSpPr>
        <p:spPr>
          <a:xfrm>
            <a:off x="5813524" y="6705600"/>
            <a:ext cx="555278" cy="857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75"/>
              </a:lnSpc>
              <a:buNone/>
            </a:pPr>
            <a:r>
              <a:rPr lang="en-US" sz="675" b="1" dirty="0">
                <a:solidFill>
                  <a:srgbClr val="BFBFB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2026-04-11T14:19:55Z</dcterms:created>
  <dcterms:modified xsi:type="dcterms:W3CDTF">2026-04-11T14:19:55Z</dcterms:modified>
</cp:coreProperties>
</file>
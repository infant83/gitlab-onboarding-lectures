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0219" y="1257300"/>
            <a:ext cx="6757988" cy="12823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049"/>
              </a:lnSpc>
              <a:buNone/>
            </a:pPr>
            <a:r>
              <a:rPr lang="en-US" sz="38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충돌을 만들고, 풀고, 되돌리는</a:t>
            </a:r>
            <a:pPr algn="ctr" indent="0" marL="0">
              <a:lnSpc>
                <a:spcPts val="5049"/>
              </a:lnSpc>
              <a:buNone/>
            </a:pPr>
            <a:r>
              <a:rPr lang="en-US" sz="38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5049"/>
              </a:lnSpc>
              <a:buNone/>
            </a:pPr>
            <a:r>
              <a:rPr lang="en-US" sz="38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디딤 팀 협업 실습</a:t>
            </a:r>
            <a:endParaRPr lang="en-US" sz="3825" dirty="0"/>
          </a:p>
        </p:txBody>
      </p:sp>
      <p:sp>
        <p:nvSpPr>
          <p:cNvPr id="4" name="Text 1"/>
          <p:cNvSpPr/>
          <p:nvPr/>
        </p:nvSpPr>
        <p:spPr>
          <a:xfrm>
            <a:off x="9648825" y="5200650"/>
            <a:ext cx="2543175" cy="3287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217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3483769" y="5715000"/>
            <a:ext cx="3405188" cy="3920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87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 | 2026. 04. 10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773221" y="180975"/>
            <a:ext cx="124673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B50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B50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B50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55984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686" y="2084784"/>
            <a:ext cx="1487388" cy="113838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0086" y="2091630"/>
            <a:ext cx="1475184" cy="11315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433215"/>
            <a:ext cx="621655" cy="62403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255" y="2420838"/>
            <a:ext cx="755898" cy="75426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4165" y="2448223"/>
            <a:ext cx="780157" cy="70633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8600" y="142875"/>
            <a:ext cx="1056132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구성과 capstone-style 실습 시나리오</a:t>
            </a:r>
            <a:endParaRPr lang="en-US" sz="2475" dirty="0"/>
          </a:p>
        </p:txBody>
      </p:sp>
      <p:sp>
        <p:nvSpPr>
          <p:cNvPr id="12" name="Text 1"/>
          <p:cNvSpPr/>
          <p:nvPr/>
        </p:nvSpPr>
        <p:spPr>
          <a:xfrm>
            <a:off x="352425" y="742950"/>
            <a:ext cx="941070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CH06 팀 협업 실습: 4인 1조 역할 및 시나리오</a:t>
            </a:r>
            <a:endParaRPr lang="en-US" sz="1950" dirty="0"/>
          </a:p>
        </p:txBody>
      </p:sp>
      <p:sp>
        <p:nvSpPr>
          <p:cNvPr id="13" name="Text 2"/>
          <p:cNvSpPr/>
          <p:nvPr/>
        </p:nvSpPr>
        <p:spPr>
          <a:xfrm>
            <a:off x="471934" y="3552825"/>
            <a:ext cx="2608808" cy="6134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오너 (Owner)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의사결정 및 리스크 관리</a:t>
            </a:r>
            <a:endParaRPr lang="en-US" sz="1725" dirty="0"/>
          </a:p>
        </p:txBody>
      </p:sp>
      <p:sp>
        <p:nvSpPr>
          <p:cNvPr id="14" name="Text 3"/>
          <p:cNvSpPr/>
          <p:nvPr/>
        </p:nvSpPr>
        <p:spPr>
          <a:xfrm>
            <a:off x="3394174" y="3552825"/>
            <a:ext cx="2650778" cy="6134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메인테이너 (Maintainer)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기술 운영 및 품질 검토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6334125" y="3552825"/>
            <a:ext cx="2514600" cy="6134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A (Developer A)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구현 및 첫 MR 제출</a:t>
            </a:r>
            <a:endParaRPr lang="en-US" sz="1725" dirty="0"/>
          </a:p>
        </p:txBody>
      </p:sp>
      <p:sp>
        <p:nvSpPr>
          <p:cNvPr id="16" name="Text 5"/>
          <p:cNvSpPr/>
          <p:nvPr/>
        </p:nvSpPr>
        <p:spPr>
          <a:xfrm>
            <a:off x="9133433" y="3552825"/>
            <a:ext cx="2535436" cy="6134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B (Developer B)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구현 및 충돌 기여</a:t>
            </a:r>
            <a:endParaRPr lang="en-US" sz="1725" dirty="0"/>
          </a:p>
        </p:txBody>
      </p:sp>
      <p:sp>
        <p:nvSpPr>
          <p:cNvPr id="17" name="Text 6"/>
          <p:cNvSpPr/>
          <p:nvPr/>
        </p:nvSpPr>
        <p:spPr>
          <a:xfrm>
            <a:off x="10220325" y="742950"/>
            <a:ext cx="18335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CH06: 실습 안내 |</a:t>
            </a:r>
            <a:endParaRPr lang="en-US" sz="1725" dirty="0"/>
          </a:p>
        </p:txBody>
      </p:sp>
      <p:sp>
        <p:nvSpPr>
          <p:cNvPr id="18" name="Text 7"/>
          <p:cNvSpPr/>
          <p:nvPr/>
        </p:nvSpPr>
        <p:spPr>
          <a:xfrm>
            <a:off x="714375" y="4305300"/>
            <a:ext cx="2577405" cy="1257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병합 및 롤백 허용 시점 결정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팀 운영 전반의 리스크 식별 및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[시뮬레이션] 실제 팀의 최종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권한 체험</a:t>
            </a:r>
            <a:endParaRPr lang="en-US" sz="1425" dirty="0"/>
          </a:p>
        </p:txBody>
      </p:sp>
      <p:sp>
        <p:nvSpPr>
          <p:cNvPr id="19" name="Text 8"/>
          <p:cNvSpPr/>
          <p:nvPr/>
        </p:nvSpPr>
        <p:spPr>
          <a:xfrm>
            <a:off x="3638550" y="4305300"/>
            <a:ext cx="2472630" cy="15091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작업 분해 및 병합 순서 기술적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통합 결과물의 논리적 무결성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[시뮬레이션] 코드 통합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책임자의 역할 연습</a:t>
            </a:r>
            <a:endParaRPr lang="en-US" sz="1425" dirty="0"/>
          </a:p>
        </p:txBody>
      </p:sp>
      <p:sp>
        <p:nvSpPr>
          <p:cNvPr id="20" name="Text 9"/>
          <p:cNvSpPr/>
          <p:nvPr/>
        </p:nvSpPr>
        <p:spPr>
          <a:xfrm>
            <a:off x="6448425" y="4305300"/>
            <a:ext cx="2514600" cy="14296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브랜치 생성·커밋·MR 수행 전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 체험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docs/process.md 문서 내용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먼저 Merge Request 제출 및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검토</a:t>
            </a:r>
            <a:endParaRPr lang="en-US" sz="1350" dirty="0"/>
          </a:p>
        </p:txBody>
      </p:sp>
      <p:sp>
        <p:nvSpPr>
          <p:cNvPr id="21" name="Text 10"/>
          <p:cNvSpPr/>
          <p:nvPr/>
        </p:nvSpPr>
        <p:spPr>
          <a:xfrm>
            <a:off x="9372600" y="4305300"/>
            <a:ext cx="2409825" cy="13501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브랜치 생성·커밋·MR 수행 전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 체험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docs/process.md 동일 구간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나중 Merge Request 제출 및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Conflict 발생</a:t>
            </a:r>
            <a:endParaRPr lang="en-US" sz="1275" dirty="0"/>
          </a:p>
        </p:txBody>
      </p:sp>
      <p:sp>
        <p:nvSpPr>
          <p:cNvPr id="22" name="Text 11"/>
          <p:cNvSpPr/>
          <p:nvPr/>
        </p:nvSpPr>
        <p:spPr>
          <a:xfrm>
            <a:off x="9496425" y="190500"/>
            <a:ext cx="2556421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466725" y="6638925"/>
            <a:ext cx="1828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9687371" y="6638925"/>
            <a:ext cx="82763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825" dirty="0"/>
          </a:p>
        </p:txBody>
      </p:sp>
      <p:sp>
        <p:nvSpPr>
          <p:cNvPr id="25" name="Text 14"/>
          <p:cNvSpPr/>
          <p:nvPr/>
        </p:nvSpPr>
        <p:spPr>
          <a:xfrm>
            <a:off x="10696575" y="6638925"/>
            <a:ext cx="62865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7373" y="3668911"/>
            <a:ext cx="451098" cy="5691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7373" y="2804815"/>
            <a:ext cx="536377" cy="56911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086" y="2660898"/>
            <a:ext cx="4047679" cy="148128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28600" y="123825"/>
            <a:ext cx="11963400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1~2: branch 생성과 동일 구간 수정</a:t>
            </a:r>
            <a:endParaRPr lang="en-US" sz="2625" dirty="0"/>
          </a:p>
        </p:txBody>
      </p:sp>
      <p:sp>
        <p:nvSpPr>
          <p:cNvPr id="10" name="Text 1"/>
          <p:cNvSpPr/>
          <p:nvPr/>
        </p:nvSpPr>
        <p:spPr>
          <a:xfrm>
            <a:off x="352425" y="742950"/>
            <a:ext cx="57150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협업 실습 - 충돌 시나리오 구성</a:t>
            </a:r>
            <a:endParaRPr lang="en-US" sz="1875" dirty="0"/>
          </a:p>
        </p:txBody>
      </p:sp>
      <p:sp>
        <p:nvSpPr>
          <p:cNvPr id="11" name="Text 2"/>
          <p:cNvSpPr/>
          <p:nvPr/>
        </p:nvSpPr>
        <p:spPr>
          <a:xfrm>
            <a:off x="1820614" y="2152650"/>
            <a:ext cx="2483048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준비: 브랜치 분기</a:t>
            </a:r>
            <a:endParaRPr lang="en-US" sz="1725" dirty="0"/>
          </a:p>
        </p:txBody>
      </p:sp>
      <p:sp>
        <p:nvSpPr>
          <p:cNvPr id="12" name="Text 3"/>
          <p:cNvSpPr/>
          <p:nvPr/>
        </p:nvSpPr>
        <p:spPr>
          <a:xfrm>
            <a:off x="7934325" y="2152650"/>
            <a:ext cx="2095500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개발자별 수정 내용</a:t>
            </a:r>
            <a:endParaRPr lang="en-US" sz="1725" dirty="0"/>
          </a:p>
        </p:txBody>
      </p:sp>
      <p:sp>
        <p:nvSpPr>
          <p:cNvPr id="13" name="Text 4"/>
          <p:cNvSpPr/>
          <p:nvPr/>
        </p:nvSpPr>
        <p:spPr>
          <a:xfrm>
            <a:off x="857250" y="4324350"/>
            <a:ext cx="600075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main 브랜치 최신화 (git pull)</a:t>
            </a:r>
            <a:endParaRPr lang="en-US" sz="1575" dirty="0"/>
          </a:p>
        </p:txBody>
      </p:sp>
      <p:sp>
        <p:nvSpPr>
          <p:cNvPr id="14" name="Text 5"/>
          <p:cNvSpPr/>
          <p:nvPr/>
        </p:nvSpPr>
        <p:spPr>
          <a:xfrm>
            <a:off x="857250" y="4638675"/>
            <a:ext cx="4767263" cy="11898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개별 feature 브랜치 생성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feature/process-a (Developer A)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feature/process-b (Developer B)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공통 소스 파일 병렬 수정 대상 (docs/process.md,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src/app.txt)</a:t>
            </a:r>
            <a:endParaRPr lang="en-US" sz="1575" dirty="0"/>
          </a:p>
        </p:txBody>
      </p:sp>
      <p:sp>
        <p:nvSpPr>
          <p:cNvPr id="15" name="Text 6"/>
          <p:cNvSpPr/>
          <p:nvPr/>
        </p:nvSpPr>
        <p:spPr>
          <a:xfrm>
            <a:off x="6810375" y="2724150"/>
            <a:ext cx="3604171" cy="7483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Developer A: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docs/process.md 2단계 설명 상세화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(구체적인 표현으로 문서 수정)</a:t>
            </a:r>
            <a:endParaRPr lang="en-US" sz="1650" dirty="0"/>
          </a:p>
        </p:txBody>
      </p:sp>
      <p:sp>
        <p:nvSpPr>
          <p:cNvPr id="16" name="Text 7"/>
          <p:cNvSpPr/>
          <p:nvPr/>
        </p:nvSpPr>
        <p:spPr>
          <a:xfrm>
            <a:off x="6810375" y="3657600"/>
            <a:ext cx="4641503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Developer B: docs/process.md 2단계 용어 변경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(동일 구간을 다른 용어로 교체하여 충돌 전조 조성)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6810375" y="4638675"/>
            <a:ext cx="192024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유도 목적</a:t>
            </a:r>
            <a:endParaRPr lang="en-US" sz="1575" dirty="0"/>
          </a:p>
        </p:txBody>
      </p:sp>
      <p:sp>
        <p:nvSpPr>
          <p:cNvPr id="18" name="Text 9"/>
          <p:cNvSpPr/>
          <p:nvPr/>
        </p:nvSpPr>
        <p:spPr>
          <a:xfrm>
            <a:off x="6810375" y="4914900"/>
            <a:ext cx="4872038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의도적 충돌 설계: 동일 파일의 동일 구간을 서로 다른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방식으로 수정하여 줄 충돌과 의미 충돌 체험 유도.</a:t>
            </a:r>
            <a:endParaRPr lang="en-US" sz="1575" dirty="0"/>
          </a:p>
        </p:txBody>
      </p:sp>
      <p:sp>
        <p:nvSpPr>
          <p:cNvPr id="19" name="Text 10"/>
          <p:cNvSpPr/>
          <p:nvPr/>
        </p:nvSpPr>
        <p:spPr>
          <a:xfrm>
            <a:off x="8867775" y="266700"/>
            <a:ext cx="332422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CH06 팀 협업: 충돌과 복구 실습</a:t>
            </a:r>
            <a:endParaRPr lang="en-US" sz="1125" dirty="0"/>
          </a:p>
        </p:txBody>
      </p:sp>
      <p:sp>
        <p:nvSpPr>
          <p:cNvPr id="20" name="Text 11"/>
          <p:cNvSpPr/>
          <p:nvPr/>
        </p:nvSpPr>
        <p:spPr>
          <a:xfrm>
            <a:off x="10953750" y="190500"/>
            <a:ext cx="1037183" cy="2866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8"/>
              </a:lnSpc>
              <a:buNone/>
            </a:pPr>
            <a:r>
              <a:rPr lang="en-US" sz="12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8"/>
              </a:lnSpc>
              <a:buNone/>
            </a:pPr>
            <a:r>
              <a:rPr lang="en-US" sz="12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8"/>
              </a:lnSpc>
              <a:buNone/>
            </a:pPr>
            <a:r>
              <a:rPr lang="en-US" sz="12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80392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486" y="1940719"/>
            <a:ext cx="11301859" cy="416272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66700" y="142875"/>
            <a:ext cx="1086612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83"/>
              </a:lnSpc>
              <a:buNone/>
            </a:pPr>
            <a:r>
              <a:rPr lang="en-US" sz="2325" b="1" dirty="0">
                <a:solidFill>
                  <a:srgbClr val="3F3F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3: Developer A의 MR과 첫 반영</a:t>
            </a:r>
            <a:endParaRPr lang="en-US" sz="2325" dirty="0"/>
          </a:p>
        </p:txBody>
      </p:sp>
      <p:sp>
        <p:nvSpPr>
          <p:cNvPr id="8" name="Text 1"/>
          <p:cNvSpPr/>
          <p:nvPr/>
        </p:nvSpPr>
        <p:spPr>
          <a:xfrm>
            <a:off x="352425" y="781050"/>
            <a:ext cx="84124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 A의 변경사항을 main에 반영하는 과정</a:t>
            </a:r>
            <a:endParaRPr lang="en-US" sz="1725" dirty="0"/>
          </a:p>
        </p:txBody>
      </p:sp>
      <p:sp>
        <p:nvSpPr>
          <p:cNvPr id="9" name="Text 2"/>
          <p:cNvSpPr/>
          <p:nvPr/>
        </p:nvSpPr>
        <p:spPr>
          <a:xfrm>
            <a:off x="9772650" y="228600"/>
            <a:ext cx="228406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9772650" y="257175"/>
            <a:ext cx="1162943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협업 실습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1467" y="5225653"/>
            <a:ext cx="499765" cy="49366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377" y="2372767"/>
            <a:ext cx="2133600" cy="191333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66700" y="142875"/>
            <a:ext cx="119253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4: Developer B의 MR과 conflict 발생</a:t>
            </a:r>
            <a:endParaRPr lang="en-US" sz="2250" dirty="0"/>
          </a:p>
        </p:txBody>
      </p:sp>
      <p:sp>
        <p:nvSpPr>
          <p:cNvPr id="9" name="Text 1"/>
          <p:cNvSpPr/>
          <p:nvPr/>
        </p:nvSpPr>
        <p:spPr>
          <a:xfrm>
            <a:off x="352425" y="742950"/>
            <a:ext cx="604647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UI의 경고와 자동 병합 실패</a:t>
            </a:r>
            <a:endParaRPr lang="en-US" sz="1725" dirty="0"/>
          </a:p>
        </p:txBody>
      </p:sp>
      <p:sp>
        <p:nvSpPr>
          <p:cNvPr id="10" name="Text 2"/>
          <p:cNvSpPr/>
          <p:nvPr/>
        </p:nvSpPr>
        <p:spPr>
          <a:xfrm>
            <a:off x="742950" y="1800225"/>
            <a:ext cx="40233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발생 상황 및 UI 경고</a:t>
            </a:r>
            <a:endParaRPr lang="en-US" sz="1650" dirty="0"/>
          </a:p>
        </p:txBody>
      </p:sp>
      <p:sp>
        <p:nvSpPr>
          <p:cNvPr id="11" name="Text 3"/>
          <p:cNvSpPr/>
          <p:nvPr/>
        </p:nvSpPr>
        <p:spPr>
          <a:xfrm>
            <a:off x="762000" y="2362200"/>
            <a:ext cx="2849761" cy="10513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Developer B의 커밋 및 푸시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업데이트 없이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feature/process-b 브랜치를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원격에 푸시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771525" y="3600450"/>
            <a:ext cx="2755553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GitLab UI의 충돌 경고 표시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생성 시 ‘Merge conflict’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메시지가 UI에 나타남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771525" y="4638675"/>
            <a:ext cx="2221111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Merge 버튼 비활성화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미해결 상태에서는 병합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버튼이 자동으로 비활성화됨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6362700" y="1800225"/>
            <a:ext cx="27660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병합 실패 원인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6429375" y="2200275"/>
            <a:ext cx="365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구간 수정으로 인한 충돌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6429375" y="2476500"/>
            <a:ext cx="57626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파일의 동일 라인 구간을 두 브랜치가 서로 다르게 수정했기 때문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6362700" y="3209925"/>
            <a:ext cx="20116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확인 방법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6429375" y="3552825"/>
            <a:ext cx="457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log로 브랜치 간 분기 확인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6418808" y="3829050"/>
            <a:ext cx="577304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 후, git log 명령어를 통해 로컬에서 두 브랜치의 분기 지점과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이력을 시각적으로 확인 가능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6429375" y="4381500"/>
            <a:ext cx="3436590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6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 git fetch origin</a:t>
            </a:r>
            <a:pPr indent="0" marL="0">
              <a:lnSpc>
                <a:spcPts val="1466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6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 git log --graph --oneline --all</a:t>
            </a:r>
            <a:endParaRPr lang="en-US" sz="1275" dirty="0"/>
          </a:p>
        </p:txBody>
      </p:sp>
      <p:sp>
        <p:nvSpPr>
          <p:cNvPr id="21" name="Text 13"/>
          <p:cNvSpPr/>
          <p:nvPr/>
        </p:nvSpPr>
        <p:spPr>
          <a:xfrm>
            <a:off x="6362700" y="5200650"/>
            <a:ext cx="20116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분석 수칙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6429375" y="5543550"/>
            <a:ext cx="3657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해결 전 원인 분석 선행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6429375" y="5810250"/>
            <a:ext cx="57626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무작정 수정 대신, 충돌 원인을 먼저 파악하여 올바른 해결 방안 도출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10763250" y="180975"/>
            <a:ext cx="12573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Dream.</a:t>
            </a:r>
            <a:pPr algn="ct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94" y="1961257"/>
            <a:ext cx="3072384" cy="15144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94" y="1961257"/>
            <a:ext cx="238135" cy="50589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29" y="1961257"/>
            <a:ext cx="2834249" cy="50589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94" y="2467148"/>
            <a:ext cx="238135" cy="30579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829" y="2467148"/>
            <a:ext cx="2834249" cy="30579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94" y="2772941"/>
            <a:ext cx="238135" cy="70280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829" y="2772941"/>
            <a:ext cx="2834249" cy="70280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659017"/>
            <a:ext cx="268188" cy="19883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3694" y="5280571"/>
            <a:ext cx="390079" cy="41820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7953" y="4457700"/>
            <a:ext cx="341263" cy="41820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4165" y="2626519"/>
            <a:ext cx="243780" cy="76795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3694" y="1975098"/>
            <a:ext cx="414486" cy="39766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5388" y="5321796"/>
            <a:ext cx="390079" cy="37713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5388" y="4471392"/>
            <a:ext cx="402282" cy="39082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1992" y="2105323"/>
            <a:ext cx="2084784" cy="1213842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5388" y="1988790"/>
            <a:ext cx="402282" cy="39082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0" y="1501825"/>
            <a:ext cx="329059" cy="33590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3694" y="5321796"/>
            <a:ext cx="316855" cy="329059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3694" y="4464546"/>
            <a:ext cx="329059" cy="411361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3694" y="3675757"/>
            <a:ext cx="329059" cy="425053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1077083" y="1961257"/>
            <a:ext cx="2643749" cy="505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&lt;&lt;&lt;&lt;&lt;&lt;&lt; HEAD (내 브랜치 변경 사항)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(ours 영역)</a:t>
            </a:r>
            <a:endParaRPr lang="en-US" sz="1125" dirty="0"/>
          </a:p>
        </p:txBody>
      </p:sp>
      <p:sp>
        <p:nvSpPr>
          <p:cNvPr id="26" name="Text 1"/>
          <p:cNvSpPr/>
          <p:nvPr/>
        </p:nvSpPr>
        <p:spPr>
          <a:xfrm>
            <a:off x="1077083" y="2467148"/>
            <a:ext cx="2643749" cy="3057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=======</a:t>
            </a:r>
            <a:endParaRPr lang="en-US" sz="1125" dirty="0"/>
          </a:p>
        </p:txBody>
      </p:sp>
      <p:sp>
        <p:nvSpPr>
          <p:cNvPr id="27" name="Text 2"/>
          <p:cNvSpPr/>
          <p:nvPr/>
        </p:nvSpPr>
        <p:spPr>
          <a:xfrm>
            <a:off x="1077083" y="2772941"/>
            <a:ext cx="2643749" cy="7028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&gt;&gt;&gt;&gt;&gt;&gt;&gt; origin/main (상대 브랜치 변경 사항)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(theirs 영역)</a:t>
            </a:r>
            <a:endParaRPr lang="en-US" sz="1125" dirty="0"/>
          </a:p>
        </p:txBody>
      </p:sp>
      <p:sp>
        <p:nvSpPr>
          <p:cNvPr id="28" name="Text 3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5: conflict marker를 읽고 원인을 분해하기</a:t>
            </a:r>
            <a:endParaRPr lang="en-US" sz="2550" dirty="0"/>
          </a:p>
        </p:txBody>
      </p:sp>
      <p:sp>
        <p:nvSpPr>
          <p:cNvPr id="29" name="Text 4"/>
          <p:cNvSpPr/>
          <p:nvPr/>
        </p:nvSpPr>
        <p:spPr>
          <a:xfrm>
            <a:off x="352425" y="742950"/>
            <a:ext cx="428625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875" dirty="0"/>
          </a:p>
        </p:txBody>
      </p:sp>
      <p:sp>
        <p:nvSpPr>
          <p:cNvPr id="30" name="Text 5"/>
          <p:cNvSpPr/>
          <p:nvPr/>
        </p:nvSpPr>
        <p:spPr>
          <a:xfrm>
            <a:off x="831056" y="1466850"/>
            <a:ext cx="288131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마커의 3구간 구조 이해</a:t>
            </a:r>
            <a:endParaRPr lang="en-US" sz="1725" dirty="0"/>
          </a:p>
        </p:txBody>
      </p:sp>
      <p:sp>
        <p:nvSpPr>
          <p:cNvPr id="31" name="Text 6"/>
          <p:cNvSpPr/>
          <p:nvPr/>
        </p:nvSpPr>
        <p:spPr>
          <a:xfrm>
            <a:off x="4984849" y="1495425"/>
            <a:ext cx="2650778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ours vs theirs 개념 구분</a:t>
            </a:r>
            <a:endParaRPr lang="en-US" sz="1725" dirty="0"/>
          </a:p>
        </p:txBody>
      </p:sp>
      <p:sp>
        <p:nvSpPr>
          <p:cNvPr id="32" name="Text 7"/>
          <p:cNvSpPr/>
          <p:nvPr/>
        </p:nvSpPr>
        <p:spPr>
          <a:xfrm>
            <a:off x="8368159" y="1495425"/>
            <a:ext cx="3237458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 후 로그로 분기점 확인</a:t>
            </a:r>
            <a:endParaRPr lang="en-US" sz="1725" dirty="0"/>
          </a:p>
        </p:txBody>
      </p:sp>
      <p:sp>
        <p:nvSpPr>
          <p:cNvPr id="33" name="Text 8"/>
          <p:cNvSpPr/>
          <p:nvPr/>
        </p:nvSpPr>
        <p:spPr>
          <a:xfrm>
            <a:off x="1143000" y="5334000"/>
            <a:ext cx="4572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ours vs theirs 개념 구분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1200150" y="4476750"/>
            <a:ext cx="3810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마커의 3구간 구조 이해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9001125" y="5334000"/>
            <a:ext cx="25146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결정 기준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5105400" y="4476750"/>
            <a:ext cx="50292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 후 로그로 분기점 확인</a:t>
            </a:r>
            <a:endParaRPr lang="en-US" sz="1500" dirty="0"/>
          </a:p>
        </p:txBody>
      </p:sp>
      <p:sp>
        <p:nvSpPr>
          <p:cNvPr id="37" name="Text 12"/>
          <p:cNvSpPr/>
          <p:nvPr/>
        </p:nvSpPr>
        <p:spPr>
          <a:xfrm>
            <a:off x="1200150" y="5610225"/>
            <a:ext cx="2975521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HEAD는 내 브랜치(ours), origin/main은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상대방 브랜치(theirs)를 의미합니다.</a:t>
            </a:r>
            <a:endParaRPr lang="en-US" sz="1275" dirty="0"/>
          </a:p>
        </p:txBody>
      </p:sp>
      <p:sp>
        <p:nvSpPr>
          <p:cNvPr id="38" name="Text 13"/>
          <p:cNvSpPr/>
          <p:nvPr/>
        </p:nvSpPr>
        <p:spPr>
          <a:xfrm>
            <a:off x="1200150" y="3686175"/>
            <a:ext cx="4400550" cy="92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730"/>
              </a:lnSpc>
              <a:buNone/>
            </a:pPr>
            <a:r>
              <a:rPr lang="en-US" sz="5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&lt;&lt;&lt;&lt;&lt;&lt;&lt; HEAD, ========, &gt;&gt;&gt;&gt;&gt;&gt;&gt;&gt; 로 구분된 세 영역의 의미를 파악합니다.</a:t>
            </a:r>
            <a:endParaRPr lang="en-US" sz="525" dirty="0"/>
          </a:p>
        </p:txBody>
      </p:sp>
      <p:sp>
        <p:nvSpPr>
          <p:cNvPr id="39" name="Text 14"/>
          <p:cNvSpPr/>
          <p:nvPr/>
        </p:nvSpPr>
        <p:spPr>
          <a:xfrm>
            <a:off x="1200150" y="4867275"/>
            <a:ext cx="4400550" cy="92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730"/>
              </a:lnSpc>
              <a:buNone/>
            </a:pPr>
            <a:r>
              <a:rPr lang="en-US" sz="5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&lt;&lt;&lt;&lt;&lt;&lt;&lt; HEAD, ========, &gt;&gt;&gt;&gt;&gt;&gt;&gt;&gt; 로 구분된 세 영역의 의미를 파악합니다.</a:t>
            </a:r>
            <a:endParaRPr lang="en-US" sz="525" dirty="0"/>
          </a:p>
        </p:txBody>
      </p:sp>
      <p:sp>
        <p:nvSpPr>
          <p:cNvPr id="40" name="Text 15"/>
          <p:cNvSpPr/>
          <p:nvPr/>
        </p:nvSpPr>
        <p:spPr>
          <a:xfrm>
            <a:off x="9001125" y="5610225"/>
            <a:ext cx="3006923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한쪽 선택, 두 내용 조합, 새로운 내용 작성 중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요구사항에 맞는 방향을 선택합니다.</a:t>
            </a:r>
            <a:endParaRPr lang="en-US" sz="1275" dirty="0"/>
          </a:p>
        </p:txBody>
      </p:sp>
      <p:sp>
        <p:nvSpPr>
          <p:cNvPr id="41" name="Text 16"/>
          <p:cNvSpPr/>
          <p:nvPr/>
        </p:nvSpPr>
        <p:spPr>
          <a:xfrm>
            <a:off x="9001125" y="3686175"/>
            <a:ext cx="2504033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log --oneline --graph --all 로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브랜치의 분기 시점을 시각화합니다.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9001125" y="4610100"/>
            <a:ext cx="2870746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의미 영역을 서로 다른 기준으로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수정했는지 이슈와 MR을 함께 검토합니다.</a:t>
            </a:r>
            <a:endParaRPr lang="en-US" sz="1275" dirty="0"/>
          </a:p>
        </p:txBody>
      </p:sp>
      <p:sp>
        <p:nvSpPr>
          <p:cNvPr id="43" name="Text 18"/>
          <p:cNvSpPr/>
          <p:nvPr/>
        </p:nvSpPr>
        <p:spPr>
          <a:xfrm>
            <a:off x="5105400" y="5610225"/>
            <a:ext cx="3206055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 제거만으로는 논리적 오류가 남을 수 있어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의도 파악이 필수입니다.</a:t>
            </a:r>
            <a:endParaRPr lang="en-US" sz="1275" dirty="0"/>
          </a:p>
        </p:txBody>
      </p:sp>
      <p:sp>
        <p:nvSpPr>
          <p:cNvPr id="44" name="Text 19"/>
          <p:cNvSpPr/>
          <p:nvPr/>
        </p:nvSpPr>
        <p:spPr>
          <a:xfrm>
            <a:off x="4619625" y="3686175"/>
            <a:ext cx="3478411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HEAD는 내 브랜치(ours), origin/main은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상대방 브랜치(theirs)를 의미합니다.</a:t>
            </a:r>
            <a:endParaRPr lang="en-US" sz="1275" dirty="0"/>
          </a:p>
        </p:txBody>
      </p:sp>
      <p:sp>
        <p:nvSpPr>
          <p:cNvPr id="45" name="Text 20"/>
          <p:cNvSpPr/>
          <p:nvPr/>
        </p:nvSpPr>
        <p:spPr>
          <a:xfrm>
            <a:off x="5105400" y="4752975"/>
            <a:ext cx="2650778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 origin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log --oneline --graph --all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9144000" y="2038350"/>
            <a:ext cx="2566988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 origin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log --oneline --graph --all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10953750" y="161925"/>
            <a:ext cx="1037183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547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547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547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71" y="1604665"/>
            <a:ext cx="11350675" cy="419010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66700" y="142875"/>
            <a:ext cx="1086612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6: conflict 해결 절차와 검증 순서</a:t>
            </a:r>
            <a:endParaRPr lang="en-US" sz="2325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394335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9" name="Text 2"/>
          <p:cNvSpPr/>
          <p:nvPr/>
        </p:nvSpPr>
        <p:spPr>
          <a:xfrm>
            <a:off x="9648825" y="228600"/>
            <a:ext cx="142488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웹티업을 입력해 주세요</a:t>
            </a:r>
            <a:endParaRPr lang="en-US" sz="1125" dirty="0"/>
          </a:p>
        </p:txBody>
      </p:sp>
      <p:sp>
        <p:nvSpPr>
          <p:cNvPr id="10" name="Text 3"/>
          <p:cNvSpPr/>
          <p:nvPr/>
        </p:nvSpPr>
        <p:spPr>
          <a:xfrm>
            <a:off x="10953750" y="190500"/>
            <a:ext cx="1037183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882" y="3504307"/>
            <a:ext cx="755898" cy="41136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3" y="3463230"/>
            <a:ext cx="511969" cy="493663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11963400" cy="3734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0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conflict와 rebase conflict는 무엇이 다른가</a:t>
            </a:r>
            <a:endParaRPr lang="en-US" sz="2625" dirty="0"/>
          </a:p>
        </p:txBody>
      </p:sp>
      <p:sp>
        <p:nvSpPr>
          <p:cNvPr id="9" name="Text 1"/>
          <p:cNvSpPr/>
          <p:nvPr/>
        </p:nvSpPr>
        <p:spPr>
          <a:xfrm>
            <a:off x="352425" y="742950"/>
            <a:ext cx="445770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비교 및 팀 협업 전략</a:t>
            </a:r>
            <a:endParaRPr lang="en-US" sz="1950" dirty="0"/>
          </a:p>
        </p:txBody>
      </p:sp>
      <p:sp>
        <p:nvSpPr>
          <p:cNvPr id="10" name="Text 2"/>
          <p:cNvSpPr/>
          <p:nvPr/>
        </p:nvSpPr>
        <p:spPr>
          <a:xfrm>
            <a:off x="3245048" y="2838450"/>
            <a:ext cx="691455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8909596" y="2838450"/>
            <a:ext cx="754261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Rebase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4597152" y="2076450"/>
            <a:ext cx="300692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vs. Rebase 상세 비교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3390900" y="5267325"/>
            <a:ext cx="5448300" cy="794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공유 브랜치: Merge 활용 (충돌 해결 이력 보존)</a:t>
            </a:r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개인 브랜치 정리: Rebase 활용 (커밋 이력 단순화)</a:t>
            </a:r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팀 정책 수립: 일관된 병합 전략으로 이력 혼란 및 충돌 방지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934789" y="3962400"/>
            <a:ext cx="597098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히스토리</a:t>
            </a:r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보존</a:t>
            </a:r>
            <a:endParaRPr lang="en-US" sz="1125" dirty="0"/>
          </a:p>
        </p:txBody>
      </p:sp>
      <p:sp>
        <p:nvSpPr>
          <p:cNvPr id="15" name="Text 7"/>
          <p:cNvSpPr/>
          <p:nvPr/>
        </p:nvSpPr>
        <p:spPr>
          <a:xfrm>
            <a:off x="704850" y="3067050"/>
            <a:ext cx="1645920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핵심: 단일 해결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1990725" y="3381375"/>
            <a:ext cx="2944118" cy="714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병합 시 단일 충돌 발생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2) 병합 커밋으로 분기 이력 보존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3) 후속 푸시 시 일반 푸시 가능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914400" y="4419600"/>
            <a:ext cx="104013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히스토리 보존</a:t>
            </a:r>
            <a:endParaRPr lang="en-US" sz="975" dirty="0"/>
          </a:p>
        </p:txBody>
      </p:sp>
      <p:sp>
        <p:nvSpPr>
          <p:cNvPr id="18" name="Text 10"/>
          <p:cNvSpPr/>
          <p:nvPr/>
        </p:nvSpPr>
        <p:spPr>
          <a:xfrm>
            <a:off x="7131248" y="3962400"/>
            <a:ext cx="901005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직선형 이력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</a:t>
            </a:r>
            <a:endParaRPr lang="en-US" sz="1275" dirty="0"/>
          </a:p>
        </p:txBody>
      </p:sp>
      <p:sp>
        <p:nvSpPr>
          <p:cNvPr id="19" name="Text 11"/>
          <p:cNvSpPr/>
          <p:nvPr/>
        </p:nvSpPr>
        <p:spPr>
          <a:xfrm>
            <a:off x="7058025" y="3067050"/>
            <a:ext cx="1645920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핵심: 반복 해결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8334375" y="3381375"/>
            <a:ext cx="3625155" cy="9530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각 커밋마다 반복 충돌 가능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2) 커밋을 재작용하여 직선형 이력 유지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3) 후속 푸시 시 강제 푸시 (--force) 필수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(주의)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9734550" y="190500"/>
            <a:ext cx="2325886" cy="2866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66725" y="6638925"/>
            <a:ext cx="1828800" cy="1707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44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9610725" y="266700"/>
            <a:ext cx="141446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협티명을 입력해 주세요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286" y="4731990"/>
            <a:ext cx="670471" cy="685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898" y="3278088"/>
            <a:ext cx="585192" cy="65142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57700"/>
            <a:ext cx="694879" cy="74056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886" y="3209479"/>
            <a:ext cx="1145977" cy="1172617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38125" y="142875"/>
            <a:ext cx="11953875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merge / rebase abort는 언제 쓰는가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304800" y="742950"/>
            <a:ext cx="11727180" cy="3472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34"/>
              </a:lnSpc>
              <a:buNone/>
            </a:pPr>
            <a:r>
              <a:rPr lang="en-US" sz="20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중인 병합/리베이스 작업을 안전하게 중단하고 복원하는 시점 이해</a:t>
            </a:r>
            <a:endParaRPr lang="en-US" sz="2025" dirty="0"/>
          </a:p>
        </p:txBody>
      </p:sp>
      <p:sp>
        <p:nvSpPr>
          <p:cNvPr id="12" name="Text 2"/>
          <p:cNvSpPr/>
          <p:nvPr/>
        </p:nvSpPr>
        <p:spPr>
          <a:xfrm>
            <a:off x="4533900" y="3657600"/>
            <a:ext cx="83820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RESET</a:t>
            </a:r>
            <a:endParaRPr lang="en-US" sz="1725" dirty="0"/>
          </a:p>
        </p:txBody>
      </p:sp>
      <p:sp>
        <p:nvSpPr>
          <p:cNvPr id="13" name="Text 3"/>
          <p:cNvSpPr/>
          <p:nvPr/>
        </p:nvSpPr>
        <p:spPr>
          <a:xfrm>
            <a:off x="895350" y="2838450"/>
            <a:ext cx="4410968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진행 중인 merge/rebase 작업을 중단하고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상태로 복원하는 명령입니다.</a:t>
            </a:r>
            <a:endParaRPr lang="en-US" sz="1725" dirty="0"/>
          </a:p>
        </p:txBody>
      </p:sp>
      <p:sp>
        <p:nvSpPr>
          <p:cNvPr id="14" name="Text 4"/>
          <p:cNvSpPr/>
          <p:nvPr/>
        </p:nvSpPr>
        <p:spPr>
          <a:xfrm>
            <a:off x="895350" y="3524250"/>
            <a:ext cx="4400550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안전한 작업 상태로 돌아가는 현명한 판단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보류의 선택입니다.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895350" y="4210050"/>
            <a:ext cx="3667125" cy="9465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핵심 차이: abort는 진행 중 취소 vs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rollback은 완료된 결과 되돌림 (예: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revert)</a:t>
            </a:r>
            <a:endParaRPr lang="en-US" sz="1725" dirty="0"/>
          </a:p>
        </p:txBody>
      </p:sp>
      <p:sp>
        <p:nvSpPr>
          <p:cNvPr id="16" name="Text 6"/>
          <p:cNvSpPr/>
          <p:nvPr/>
        </p:nvSpPr>
        <p:spPr>
          <a:xfrm>
            <a:off x="6686550" y="2867025"/>
            <a:ext cx="499491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git merge --abort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7724775" y="3276600"/>
            <a:ext cx="3174653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충돌 해결 방향이 불확실하거나</a:t>
            </a:r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동료와의 논의가 필요할 때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6686550" y="4305300"/>
            <a:ext cx="525780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git rebase --abort</a:t>
            </a:r>
            <a:endParaRPr lang="en-US" sz="1725" dirty="0"/>
          </a:p>
        </p:txBody>
      </p:sp>
      <p:sp>
        <p:nvSpPr>
          <p:cNvPr id="19" name="Text 9"/>
          <p:cNvSpPr/>
          <p:nvPr/>
        </p:nvSpPr>
        <p:spPr>
          <a:xfrm>
            <a:off x="7724775" y="4705350"/>
            <a:ext cx="3436590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여러 커밋에서 반복적으로 복잡한</a:t>
            </a:r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충돌이 발생할 때</a:t>
            </a:r>
            <a:endParaRPr lang="en-US" sz="1650" dirty="0"/>
          </a:p>
        </p:txBody>
      </p:sp>
      <p:sp>
        <p:nvSpPr>
          <p:cNvPr id="20" name="Text 10"/>
          <p:cNvSpPr/>
          <p:nvPr/>
        </p:nvSpPr>
        <p:spPr>
          <a:xfrm>
            <a:off x="1580108" y="2276475"/>
            <a:ext cx="1068586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및 목적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7141815" y="2276475"/>
            <a:ext cx="1299121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사용 시점</a:t>
            </a:r>
            <a:endParaRPr lang="en-US" sz="1500" dirty="0"/>
          </a:p>
        </p:txBody>
      </p:sp>
      <p:sp>
        <p:nvSpPr>
          <p:cNvPr id="22" name="Text 12"/>
          <p:cNvSpPr/>
          <p:nvPr/>
        </p:nvSpPr>
        <p:spPr>
          <a:xfrm>
            <a:off x="9448800" y="180975"/>
            <a:ext cx="1561058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789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협티명을 입력해 주세요</a:t>
            </a:r>
            <a:endParaRPr lang="en-US" sz="1125" dirty="0"/>
          </a:p>
        </p:txBody>
      </p:sp>
      <p:sp>
        <p:nvSpPr>
          <p:cNvPr id="23" name="Text 13"/>
          <p:cNvSpPr/>
          <p:nvPr/>
        </p:nvSpPr>
        <p:spPr>
          <a:xfrm>
            <a:off x="10915650" y="180975"/>
            <a:ext cx="1047750" cy="454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789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789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789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24" name="Text 14"/>
          <p:cNvSpPr/>
          <p:nvPr/>
        </p:nvSpPr>
        <p:spPr>
          <a:xfrm>
            <a:off x="3785592" y="5286375"/>
            <a:ext cx="2210693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abort = 안전한 상태 복원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4565" y="4272409"/>
            <a:ext cx="719286" cy="8914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988" y="3785592"/>
            <a:ext cx="1755577" cy="49366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4565" y="2475607"/>
            <a:ext cx="719286" cy="87094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8173" y="1968103"/>
            <a:ext cx="1731169" cy="45258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380" y="5239494"/>
            <a:ext cx="743694" cy="72687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992" y="3929509"/>
            <a:ext cx="682675" cy="6651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196" y="2571750"/>
            <a:ext cx="633859" cy="651421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228600" y="123825"/>
            <a:ext cx="11963400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8: merge 후 문제 발견, 이제 어떻게 되돌릴까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937171" y="1666875"/>
            <a:ext cx="452616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중 장애 발생 시 기본 가이드</a:t>
            </a:r>
            <a:endParaRPr lang="en-US" sz="2100" dirty="0"/>
          </a:p>
        </p:txBody>
      </p:sp>
      <p:sp>
        <p:nvSpPr>
          <p:cNvPr id="15" name="Text 2"/>
          <p:cNvSpPr/>
          <p:nvPr/>
        </p:nvSpPr>
        <p:spPr>
          <a:xfrm>
            <a:off x="6448425" y="1495425"/>
            <a:ext cx="574357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git revert: 이력 보존형 롤백</a:t>
            </a:r>
            <a:endParaRPr lang="en-US" sz="2100" dirty="0"/>
          </a:p>
        </p:txBody>
      </p:sp>
      <p:sp>
        <p:nvSpPr>
          <p:cNvPr id="16" name="Text 3"/>
          <p:cNvSpPr/>
          <p:nvPr/>
        </p:nvSpPr>
        <p:spPr>
          <a:xfrm>
            <a:off x="6448425" y="3343275"/>
            <a:ext cx="574357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git reset은 공유 브랜치에서 위험</a:t>
            </a:r>
            <a:endParaRPr lang="en-US" sz="2100" dirty="0"/>
          </a:p>
        </p:txBody>
      </p:sp>
      <p:sp>
        <p:nvSpPr>
          <p:cNvPr id="17" name="Text 4"/>
          <p:cNvSpPr/>
          <p:nvPr/>
        </p:nvSpPr>
        <p:spPr>
          <a:xfrm>
            <a:off x="6448425" y="5124450"/>
            <a:ext cx="574357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병합 커밋 revert 시 -m 1 옵션</a:t>
            </a:r>
            <a:endParaRPr lang="en-US" sz="2100" dirty="0"/>
          </a:p>
        </p:txBody>
      </p:sp>
      <p:sp>
        <p:nvSpPr>
          <p:cNvPr id="18" name="Text 5"/>
          <p:cNvSpPr/>
          <p:nvPr/>
        </p:nvSpPr>
        <p:spPr>
          <a:xfrm>
            <a:off x="352425" y="742950"/>
            <a:ext cx="11839575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 장애 시 안전한 롤백을 위한 git revert 원칙과 실행 가이드</a:t>
            </a:r>
            <a:endParaRPr lang="en-US" sz="2025" dirty="0"/>
          </a:p>
        </p:txBody>
      </p:sp>
      <p:sp>
        <p:nvSpPr>
          <p:cNvPr id="19" name="Text 6"/>
          <p:cNvSpPr/>
          <p:nvPr/>
        </p:nvSpPr>
        <p:spPr>
          <a:xfrm>
            <a:off x="1809750" y="2457450"/>
            <a:ext cx="216027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즉각적인 대응</a:t>
            </a:r>
            <a:endParaRPr lang="en-US" sz="2025" dirty="0"/>
          </a:p>
        </p:txBody>
      </p:sp>
      <p:sp>
        <p:nvSpPr>
          <p:cNvPr id="20" name="Text 7"/>
          <p:cNvSpPr/>
          <p:nvPr/>
        </p:nvSpPr>
        <p:spPr>
          <a:xfrm>
            <a:off x="1809750" y="3810000"/>
            <a:ext cx="277749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기준점 유지</a:t>
            </a:r>
            <a:endParaRPr lang="en-US" sz="2025" dirty="0"/>
          </a:p>
        </p:txBody>
      </p:sp>
      <p:sp>
        <p:nvSpPr>
          <p:cNvPr id="21" name="Text 8"/>
          <p:cNvSpPr/>
          <p:nvPr/>
        </p:nvSpPr>
        <p:spPr>
          <a:xfrm>
            <a:off x="1809750" y="5162550"/>
            <a:ext cx="185166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책임</a:t>
            </a:r>
            <a:endParaRPr lang="en-US" sz="2025" dirty="0"/>
          </a:p>
        </p:txBody>
      </p:sp>
      <p:sp>
        <p:nvSpPr>
          <p:cNvPr id="22" name="Text 9"/>
          <p:cNvSpPr/>
          <p:nvPr/>
        </p:nvSpPr>
        <p:spPr>
          <a:xfrm>
            <a:off x="9496425" y="190500"/>
            <a:ext cx="25669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1809750" y="2828925"/>
            <a:ext cx="361473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테스터·리뷰 논리 오류 발견 시 신속한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판단이 중요합니다.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1809750" y="4181475"/>
            <a:ext cx="414903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revert는 기존 이력을 보존하여 다른 팀원의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흐름에 혼란을 주지 않습니다.</a:t>
            </a:r>
            <a:endParaRPr lang="en-US" sz="1500" dirty="0"/>
          </a:p>
        </p:txBody>
      </p:sp>
      <p:sp>
        <p:nvSpPr>
          <p:cNvPr id="25" name="Text 12"/>
          <p:cNvSpPr/>
          <p:nvPr/>
        </p:nvSpPr>
        <p:spPr>
          <a:xfrm>
            <a:off x="1809750" y="5543550"/>
            <a:ext cx="306987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승인, Maintainer 검토,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Developer가 직접 revert 수행.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6562725" y="1905000"/>
            <a:ext cx="3258443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커밋으로 변경을 취소하여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이력을 삭제하지 않습니다.</a:t>
            </a:r>
            <a:endParaRPr lang="en-US" sz="1500" dirty="0"/>
          </a:p>
        </p:txBody>
      </p:sp>
      <p:sp>
        <p:nvSpPr>
          <p:cNvPr id="27" name="Text 14"/>
          <p:cNvSpPr/>
          <p:nvPr/>
        </p:nvSpPr>
        <p:spPr>
          <a:xfrm>
            <a:off x="6562725" y="3752850"/>
            <a:ext cx="3593753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강제 삭제로 팀원 로컬 저장소와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충돌을 유발합니다.</a:t>
            </a:r>
            <a:endParaRPr lang="en-US" sz="1500" dirty="0"/>
          </a:p>
        </p:txBody>
      </p:sp>
      <p:sp>
        <p:nvSpPr>
          <p:cNvPr id="28" name="Text 15"/>
          <p:cNvSpPr/>
          <p:nvPr/>
        </p:nvSpPr>
        <p:spPr>
          <a:xfrm>
            <a:off x="6408390" y="5543550"/>
            <a:ext cx="578361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부모 브랜치 기준을 main으로 지정하여 안전하게 되돌립니다.</a:t>
            </a:r>
            <a:endParaRPr lang="en-US" sz="1500" dirty="0"/>
          </a:p>
        </p:txBody>
      </p:sp>
      <p:sp>
        <p:nvSpPr>
          <p:cNvPr id="29" name="Text 16"/>
          <p:cNvSpPr/>
          <p:nvPr/>
        </p:nvSpPr>
        <p:spPr>
          <a:xfrm>
            <a:off x="7058025" y="6019800"/>
            <a:ext cx="407565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revert -m 1</a:t>
            </a:r>
            <a:endParaRPr lang="en-US" sz="1500" dirty="0"/>
          </a:p>
        </p:txBody>
      </p:sp>
      <p:sp>
        <p:nvSpPr>
          <p:cNvPr id="30" name="Text 17"/>
          <p:cNvSpPr/>
          <p:nvPr/>
        </p:nvSpPr>
        <p:spPr>
          <a:xfrm>
            <a:off x="9496425" y="266700"/>
            <a:ext cx="1508671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협업과 장애 복구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494" y="4361557"/>
            <a:ext cx="938659" cy="70633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584" y="4395936"/>
            <a:ext cx="902196" cy="67880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765" y="4560540"/>
            <a:ext cx="1170384" cy="41820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0980" y="4320480"/>
            <a:ext cx="950863" cy="76110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6588" y="4327327"/>
            <a:ext cx="1060698" cy="65142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4457700"/>
            <a:ext cx="487561" cy="59650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067" y="4437013"/>
            <a:ext cx="585192" cy="630882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285750" y="142875"/>
            <a:ext cx="1190625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왜 reset --hard를 기본 복구로 가치지 않는가</a:t>
            </a:r>
            <a:endParaRPr lang="en-US" sz="2325" dirty="0"/>
          </a:p>
        </p:txBody>
      </p:sp>
      <p:sp>
        <p:nvSpPr>
          <p:cNvPr id="14" name="Text 1"/>
          <p:cNvSpPr/>
          <p:nvPr/>
        </p:nvSpPr>
        <p:spPr>
          <a:xfrm>
            <a:off x="323850" y="742950"/>
            <a:ext cx="39433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15" name="Text 2"/>
          <p:cNvSpPr/>
          <p:nvPr/>
        </p:nvSpPr>
        <p:spPr>
          <a:xfrm>
            <a:off x="1665833" y="3143250"/>
            <a:ext cx="316408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95"/>
              </a:lnSpc>
              <a:buNone/>
            </a:pPr>
            <a:r>
              <a:rPr lang="en-US" sz="1575" b="1" dirty="0">
                <a:solidFill>
                  <a:srgbClr val="B512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시 리셋은 연구적인 문제 유발</a:t>
            </a:r>
            <a:endParaRPr lang="en-US" sz="1575" dirty="0"/>
          </a:p>
        </p:txBody>
      </p:sp>
      <p:sp>
        <p:nvSpPr>
          <p:cNvPr id="16" name="Text 3"/>
          <p:cNvSpPr/>
          <p:nvPr/>
        </p:nvSpPr>
        <p:spPr>
          <a:xfrm>
            <a:off x="6994624" y="3143250"/>
            <a:ext cx="390807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95"/>
              </a:lnSpc>
              <a:buNone/>
            </a:pPr>
            <a:r>
              <a:rPr lang="en-US" sz="1575" b="1" dirty="0">
                <a:solidFill>
                  <a:srgbClr val="B512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협업은 Revert 기반, Reset은 로컬로 제한</a:t>
            </a:r>
            <a:endParaRPr lang="en-US" sz="1575" dirty="0"/>
          </a:p>
        </p:txBody>
      </p:sp>
      <p:sp>
        <p:nvSpPr>
          <p:cNvPr id="17" name="Text 4"/>
          <p:cNvSpPr/>
          <p:nvPr/>
        </p:nvSpPr>
        <p:spPr>
          <a:xfrm>
            <a:off x="908596" y="5181600"/>
            <a:ext cx="11733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연구 삭제</a:t>
            </a:r>
            <a:endParaRPr lang="en-US" sz="1125" dirty="0"/>
          </a:p>
        </p:txBody>
      </p:sp>
      <p:sp>
        <p:nvSpPr>
          <p:cNvPr id="18" name="Text 5"/>
          <p:cNvSpPr/>
          <p:nvPr/>
        </p:nvSpPr>
        <p:spPr>
          <a:xfrm>
            <a:off x="2744986" y="5181600"/>
            <a:ext cx="100578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4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 불균</a:t>
            </a:r>
            <a:endParaRPr lang="en-US" sz="1125" dirty="0"/>
          </a:p>
        </p:txBody>
      </p:sp>
      <p:sp>
        <p:nvSpPr>
          <p:cNvPr id="19" name="Text 6"/>
          <p:cNvSpPr/>
          <p:nvPr/>
        </p:nvSpPr>
        <p:spPr>
          <a:xfrm>
            <a:off x="4214217" y="5181600"/>
            <a:ext cx="15820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작업 강제 유실</a:t>
            </a:r>
            <a:endParaRPr lang="en-US" sz="1125" dirty="0"/>
          </a:p>
        </p:txBody>
      </p:sp>
      <p:sp>
        <p:nvSpPr>
          <p:cNvPr id="20" name="Text 7"/>
          <p:cNvSpPr/>
          <p:nvPr/>
        </p:nvSpPr>
        <p:spPr>
          <a:xfrm>
            <a:off x="6467921" y="5181600"/>
            <a:ext cx="145628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4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전략 사용</a:t>
            </a:r>
            <a:endParaRPr lang="en-US" sz="1125" dirty="0"/>
          </a:p>
        </p:txBody>
      </p:sp>
      <p:sp>
        <p:nvSpPr>
          <p:cNvPr id="21" name="Text 8"/>
          <p:cNvSpPr/>
          <p:nvPr/>
        </p:nvSpPr>
        <p:spPr>
          <a:xfrm>
            <a:off x="8272909" y="5181600"/>
            <a:ext cx="135150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4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및 감사 보존</a:t>
            </a:r>
            <a:endParaRPr lang="en-US" sz="1125" dirty="0"/>
          </a:p>
        </p:txBody>
      </p:sp>
      <p:sp>
        <p:nvSpPr>
          <p:cNvPr id="22" name="Text 9"/>
          <p:cNvSpPr/>
          <p:nvPr/>
        </p:nvSpPr>
        <p:spPr>
          <a:xfrm>
            <a:off x="9836348" y="5181600"/>
            <a:ext cx="173920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4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Reset: 로컬 전용 제한</a:t>
            </a:r>
            <a:endParaRPr lang="en-US" sz="1125" dirty="0"/>
          </a:p>
        </p:txBody>
      </p:sp>
      <p:sp>
        <p:nvSpPr>
          <p:cNvPr id="23" name="Text 10"/>
          <p:cNvSpPr/>
          <p:nvPr/>
        </p:nvSpPr>
        <p:spPr>
          <a:xfrm>
            <a:off x="2609850" y="2314575"/>
            <a:ext cx="1257300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38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시 위험성</a:t>
            </a:r>
            <a:endParaRPr lang="en-US" sz="1425" dirty="0"/>
          </a:p>
        </p:txBody>
      </p:sp>
      <p:sp>
        <p:nvSpPr>
          <p:cNvPr id="24" name="Text 11"/>
          <p:cNvSpPr/>
          <p:nvPr/>
        </p:nvSpPr>
        <p:spPr>
          <a:xfrm>
            <a:off x="8231386" y="2314575"/>
            <a:ext cx="1424880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38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복구 전략</a:t>
            </a:r>
            <a:endParaRPr lang="en-US" sz="1425" dirty="0"/>
          </a:p>
        </p:txBody>
      </p:sp>
      <p:sp>
        <p:nvSpPr>
          <p:cNvPr id="25" name="Text 12"/>
          <p:cNvSpPr/>
          <p:nvPr/>
        </p:nvSpPr>
        <p:spPr>
          <a:xfrm>
            <a:off x="9629775" y="142875"/>
            <a:ext cx="2441228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49"/>
              </a:lnSpc>
              <a:buNone/>
            </a:pPr>
            <a:r>
              <a:rPr lang="en-US" sz="1125" b="1" dirty="0">
                <a:solidFill>
                  <a:srgbClr val="B512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49"/>
              </a:lnSpc>
              <a:buNone/>
            </a:pPr>
            <a:r>
              <a:rPr lang="en-US" sz="1125" b="1" dirty="0">
                <a:solidFill>
                  <a:srgbClr val="B512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49"/>
              </a:lnSpc>
              <a:buNone/>
            </a:pPr>
            <a:r>
              <a:rPr lang="en-US" sz="1125" b="1" dirty="0">
                <a:solidFill>
                  <a:srgbClr val="B512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26" name="Text 13"/>
          <p:cNvSpPr/>
          <p:nvPr/>
        </p:nvSpPr>
        <p:spPr>
          <a:xfrm>
            <a:off x="9610725" y="781050"/>
            <a:ext cx="2483048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01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CH06: 충돌 해결과 복구 실습</a:t>
            </a:r>
            <a:endParaRPr lang="en-US" sz="1125" dirty="0"/>
          </a:p>
        </p:txBody>
      </p:sp>
      <p:sp>
        <p:nvSpPr>
          <p:cNvPr id="27" name="Text 14"/>
          <p:cNvSpPr/>
          <p:nvPr/>
        </p:nvSpPr>
        <p:spPr>
          <a:xfrm>
            <a:off x="9591675" y="257175"/>
            <a:ext cx="12887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99"/>
              </a:lnSpc>
              <a:buNone/>
            </a:pPr>
            <a:r>
              <a:rPr lang="en-US" sz="900" b="1" dirty="0">
                <a:solidFill>
                  <a:srgbClr val="B512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협터영을 입력해 주세요</a:t>
            </a:r>
            <a:endParaRPr lang="en-US" sz="900" dirty="0"/>
          </a:p>
        </p:txBody>
      </p:sp>
      <p:sp>
        <p:nvSpPr>
          <p:cNvPr id="28" name="Text 15"/>
          <p:cNvSpPr/>
          <p:nvPr/>
        </p:nvSpPr>
        <p:spPr>
          <a:xfrm>
            <a:off x="466725" y="6619875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9" name="Text 16"/>
          <p:cNvSpPr/>
          <p:nvPr/>
        </p:nvSpPr>
        <p:spPr>
          <a:xfrm>
            <a:off x="5870674" y="6696075"/>
            <a:ext cx="555278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80392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742950"/>
            <a:ext cx="11963400" cy="3406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안정성 강화 전략 / Collaborative Stability Enhancement Strategy</a:t>
            </a:r>
            <a:endParaRPr lang="en-US" sz="1800" dirty="0"/>
          </a:p>
        </p:txBody>
      </p:sp>
      <p:sp>
        <p:nvSpPr>
          <p:cNvPr id="7" name="Text 1"/>
          <p:cNvSpPr/>
          <p:nvPr/>
        </p:nvSpPr>
        <p:spPr>
          <a:xfrm>
            <a:off x="1802606" y="1609725"/>
            <a:ext cx="162401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충돌의 주요 원인</a:t>
            </a:r>
            <a:endParaRPr lang="en-US" sz="1650" dirty="0"/>
          </a:p>
        </p:txBody>
      </p:sp>
      <p:sp>
        <p:nvSpPr>
          <p:cNvPr id="8" name="Text 2"/>
          <p:cNvSpPr/>
          <p:nvPr/>
        </p:nvSpPr>
        <p:spPr>
          <a:xfrm>
            <a:off x="7483673" y="1609725"/>
            <a:ext cx="173920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 및 해결 규칙</a:t>
            </a:r>
            <a:endParaRPr lang="en-US" sz="1650" dirty="0"/>
          </a:p>
        </p:txBody>
      </p:sp>
      <p:sp>
        <p:nvSpPr>
          <p:cNvPr id="9" name="Text 3"/>
          <p:cNvSpPr/>
          <p:nvPr/>
        </p:nvSpPr>
        <p:spPr>
          <a:xfrm>
            <a:off x="659011" y="2590800"/>
            <a:ext cx="393948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브랜치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910530" y="3657600"/>
            <a:ext cx="343659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Merge Request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910530" y="4733925"/>
            <a:ext cx="343659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실행 MR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790158" y="2476500"/>
            <a:ext cx="1068586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브랜치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7856637" y="2476500"/>
            <a:ext cx="107915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잦은 동기화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0071646" y="2476500"/>
            <a:ext cx="963811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MR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5740152" y="3486150"/>
            <a:ext cx="112097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브랜치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853809" y="3486150"/>
            <a:ext cx="114195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잦은 동기화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0057805" y="3486150"/>
            <a:ext cx="105816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MR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320605" y="4600575"/>
            <a:ext cx="196974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[작은 단위 브랜치 유지]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715250" y="4600575"/>
            <a:ext cx="146685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[main 자주 pull]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9754939" y="4600575"/>
            <a:ext cx="1644848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[작업 단위 MR 생성]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530155" y="5143500"/>
            <a:ext cx="155064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[충돌 범위 최소화]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882384" y="5143500"/>
            <a:ext cx="1141958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[격차 최소화]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921180" y="5143500"/>
            <a:ext cx="134109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[빠른 병합 유도]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0972800" y="180975"/>
            <a:ext cx="96381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87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987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987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38100" y="180975"/>
            <a:ext cx="1215390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conflict가 자주 나는 진짜 원인과 예방 규칙 / Causes and Prevention Rules for Frequent Conflicts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4937671"/>
            <a:ext cx="597396" cy="39082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279" y="4930825"/>
            <a:ext cx="390079" cy="4113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957" y="4917132"/>
            <a:ext cx="414486" cy="43889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3765" y="2647057"/>
            <a:ext cx="487561" cy="45943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071" y="2647057"/>
            <a:ext cx="463153" cy="45943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0377" y="2647057"/>
            <a:ext cx="438894" cy="452586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23825"/>
            <a:ext cx="11963400" cy="3626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56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retrospective 질문과 역할별 플레이북 / Retrospective Questions</a:t>
            </a:r>
            <a:endParaRPr lang="en-US" sz="2400" dirty="0"/>
          </a:p>
        </p:txBody>
      </p:sp>
      <p:sp>
        <p:nvSpPr>
          <p:cNvPr id="13" name="Text 1"/>
          <p:cNvSpPr/>
          <p:nvPr/>
        </p:nvSpPr>
        <p:spPr>
          <a:xfrm>
            <a:off x="1501080" y="3105150"/>
            <a:ext cx="15506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회고</a:t>
            </a:r>
            <a:endParaRPr lang="en-US" sz="1950" dirty="0"/>
          </a:p>
        </p:txBody>
      </p:sp>
      <p:sp>
        <p:nvSpPr>
          <p:cNvPr id="14" name="Text 2"/>
          <p:cNvSpPr/>
          <p:nvPr/>
        </p:nvSpPr>
        <p:spPr>
          <a:xfrm>
            <a:off x="5026223" y="3105150"/>
            <a:ext cx="215830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 회고</a:t>
            </a:r>
            <a:endParaRPr lang="en-US" sz="1950" dirty="0"/>
          </a:p>
        </p:txBody>
      </p:sp>
      <p:sp>
        <p:nvSpPr>
          <p:cNvPr id="15" name="Text 3"/>
          <p:cNvSpPr/>
          <p:nvPr/>
        </p:nvSpPr>
        <p:spPr>
          <a:xfrm>
            <a:off x="8909596" y="3105150"/>
            <a:ext cx="2011561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 회고</a:t>
            </a:r>
            <a:endParaRPr lang="en-US" sz="1875" dirty="0"/>
          </a:p>
        </p:txBody>
      </p:sp>
      <p:sp>
        <p:nvSpPr>
          <p:cNvPr id="16" name="Text 4"/>
          <p:cNvSpPr/>
          <p:nvPr/>
        </p:nvSpPr>
        <p:spPr>
          <a:xfrm>
            <a:off x="957263" y="3609975"/>
            <a:ext cx="2619375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병합·클백 허용 시점을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올바르게 판단했는가?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4640014" y="3609975"/>
            <a:ext cx="2902148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분해와 병합 순서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설계가 충동을 줄였는가?</a:t>
            </a:r>
            <a:endParaRPr lang="en-US" sz="1725" dirty="0"/>
          </a:p>
        </p:txBody>
      </p:sp>
      <p:sp>
        <p:nvSpPr>
          <p:cNvPr id="18" name="Text 6"/>
          <p:cNvSpPr/>
          <p:nvPr/>
        </p:nvSpPr>
        <p:spPr>
          <a:xfrm>
            <a:off x="8178105" y="3609975"/>
            <a:ext cx="3436590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브랜치·커밋·충돌 해결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과정을 스스로 수행했는가?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1571625" y="4991100"/>
            <a:ext cx="210312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충돌 점검</a:t>
            </a:r>
            <a:endParaRPr lang="en-US" sz="1725" dirty="0"/>
          </a:p>
        </p:txBody>
      </p:sp>
      <p:sp>
        <p:nvSpPr>
          <p:cNvPr id="20" name="Text 8"/>
          <p:cNvSpPr/>
          <p:nvPr/>
        </p:nvSpPr>
        <p:spPr>
          <a:xfrm>
            <a:off x="5105400" y="4991100"/>
            <a:ext cx="262890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플레이북 핵심 원칙</a:t>
            </a:r>
            <a:endParaRPr lang="en-US" sz="1725" dirty="0"/>
          </a:p>
        </p:txBody>
      </p:sp>
      <p:sp>
        <p:nvSpPr>
          <p:cNvPr id="21" name="Text 9"/>
          <p:cNvSpPr/>
          <p:nvPr/>
        </p:nvSpPr>
        <p:spPr>
          <a:xfrm>
            <a:off x="9201150" y="4991100"/>
            <a:ext cx="210312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완료 기준</a:t>
            </a:r>
            <a:endParaRPr lang="en-US" sz="1725" dirty="0"/>
          </a:p>
        </p:txBody>
      </p:sp>
      <p:sp>
        <p:nvSpPr>
          <p:cNvPr id="22" name="Text 10"/>
          <p:cNvSpPr/>
          <p:nvPr/>
        </p:nvSpPr>
        <p:spPr>
          <a:xfrm>
            <a:off x="952500" y="5400675"/>
            <a:ext cx="2724150" cy="6244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충돌 해결 후 논리적</a:t>
            </a:r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오류가 남지 않았는가?</a:t>
            </a:r>
            <a:endParaRPr lang="en-US" sz="1650" dirty="0"/>
          </a:p>
        </p:txBody>
      </p:sp>
      <p:sp>
        <p:nvSpPr>
          <p:cNvPr id="23" name="Text 11"/>
          <p:cNvSpPr/>
          <p:nvPr/>
        </p:nvSpPr>
        <p:spPr>
          <a:xfrm>
            <a:off x="4638080" y="5400675"/>
            <a:ext cx="2944118" cy="6244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revert를 기본 클백 전략으로</a:t>
            </a:r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전체가 공유했는가?</a:t>
            </a:r>
            <a:endParaRPr lang="en-US" sz="1650" dirty="0"/>
          </a:p>
        </p:txBody>
      </p:sp>
      <p:sp>
        <p:nvSpPr>
          <p:cNvPr id="24" name="Text 12"/>
          <p:cNvSpPr/>
          <p:nvPr/>
        </p:nvSpPr>
        <p:spPr>
          <a:xfrm>
            <a:off x="8450014" y="5400675"/>
            <a:ext cx="2902148" cy="6244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판단 기준을 설명하고</a:t>
            </a:r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5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협업에 적용 가능한가?</a:t>
            </a:r>
            <a:endParaRPr lang="en-US" sz="1650" dirty="0"/>
          </a:p>
        </p:txBody>
      </p:sp>
      <p:sp>
        <p:nvSpPr>
          <p:cNvPr id="25" name="Text 13"/>
          <p:cNvSpPr/>
          <p:nvPr/>
        </p:nvSpPr>
        <p:spPr>
          <a:xfrm>
            <a:off x="4838700" y="2085975"/>
            <a:ext cx="2514600" cy="2552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성찰과 플레이북 적용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9648825" y="228600"/>
            <a:ext cx="134109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CH06 팀 협업 실습</a:t>
            </a:r>
            <a:endParaRPr lang="en-US" sz="1275" dirty="0"/>
          </a:p>
        </p:txBody>
      </p:sp>
      <p:sp>
        <p:nvSpPr>
          <p:cNvPr id="27" name="Text 15"/>
          <p:cNvSpPr/>
          <p:nvPr/>
        </p:nvSpPr>
        <p:spPr>
          <a:xfrm>
            <a:off x="10953750" y="190500"/>
            <a:ext cx="95339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55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355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355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80392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157" y="6645325"/>
            <a:ext cx="268188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282" y="2804815"/>
            <a:ext cx="487561" cy="4320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071" y="4114800"/>
            <a:ext cx="390079" cy="4250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529209"/>
            <a:ext cx="511969" cy="38397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090" y="4162723"/>
            <a:ext cx="475357" cy="33590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7757" y="1515517"/>
            <a:ext cx="353467" cy="42505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8879" y="2825353"/>
            <a:ext cx="390079" cy="383977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23825"/>
            <a:ext cx="98755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lab 산출물과 위험 관리 관점 정리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352425" y="742950"/>
            <a:ext cx="6835140" cy="3318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3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최종 산출물 및 위험 관리 역량 점검</a:t>
            </a:r>
            <a:endParaRPr lang="en-US" sz="1950" dirty="0"/>
          </a:p>
        </p:txBody>
      </p:sp>
      <p:sp>
        <p:nvSpPr>
          <p:cNvPr id="14" name="Text 2"/>
          <p:cNvSpPr/>
          <p:nvPr/>
        </p:nvSpPr>
        <p:spPr>
          <a:xfrm>
            <a:off x="3670846" y="4648200"/>
            <a:ext cx="201156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운영적 재현성 검증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1276796" y="3333750"/>
            <a:ext cx="2294483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콜백 판단 기준 문서화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3340894" y="2076450"/>
            <a:ext cx="256698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및 MR 산출물 확인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6594128" y="2076450"/>
            <a:ext cx="20325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총들 해결 기록 보존</a:t>
            </a:r>
            <a:endParaRPr lang="en-US" sz="1725" dirty="0"/>
          </a:p>
        </p:txBody>
      </p:sp>
      <p:sp>
        <p:nvSpPr>
          <p:cNvPr id="18" name="Text 6"/>
          <p:cNvSpPr/>
          <p:nvPr/>
        </p:nvSpPr>
        <p:spPr>
          <a:xfrm>
            <a:off x="8718203" y="3333750"/>
            <a:ext cx="224209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책임 이력 점검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6331744" y="4648200"/>
            <a:ext cx="256698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 능력 최종 점검</a:t>
            </a:r>
            <a:endParaRPr lang="en-US" sz="1725" dirty="0"/>
          </a:p>
        </p:txBody>
      </p:sp>
      <p:sp>
        <p:nvSpPr>
          <p:cNvPr id="20" name="Text 8"/>
          <p:cNvSpPr/>
          <p:nvPr/>
        </p:nvSpPr>
        <p:spPr>
          <a:xfrm>
            <a:off x="3528417" y="5057775"/>
            <a:ext cx="242024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시나리오를 다시 실행해도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결과로 재현 가능한지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단위로 점검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1076325" y="3752850"/>
            <a:ext cx="27241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실행 시점·사유·담당자를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코밋 메시지와 MR 설명에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명시했는지 검토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3476030" y="2457450"/>
            <a:ext cx="231546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브랜치, 코밋 이력,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생성·승인 기록이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남아 있는지 점검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6456908" y="2457450"/>
            <a:ext cx="232588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총들 마커 제거 및 병합 코밋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메시지로 해결 근거가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가능한지 확인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8520113" y="3752850"/>
            <a:ext cx="261937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승인, Maintainer 리뷰,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 수행 기록이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GitLab에 남아 있는지 확인</a:t>
            </a:r>
            <a:endParaRPr lang="en-US" sz="1500" dirty="0"/>
          </a:p>
        </p:txBody>
      </p:sp>
      <p:sp>
        <p:nvSpPr>
          <p:cNvPr id="25" name="Text 13"/>
          <p:cNvSpPr/>
          <p:nvPr/>
        </p:nvSpPr>
        <p:spPr>
          <a:xfrm>
            <a:off x="6257925" y="5057775"/>
            <a:ext cx="27241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abort·revert·reset 사용 기준을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모두가 설명할 수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있는지 확인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10772775" y="190500"/>
            <a:ext cx="118392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A822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A822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A822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882" y="2914650"/>
            <a:ext cx="877788" cy="98062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796" y="2873425"/>
            <a:ext cx="926455" cy="96693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577" y="3230017"/>
            <a:ext cx="451098" cy="473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2377" y="2777430"/>
            <a:ext cx="585192" cy="111784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361" y="3579763"/>
            <a:ext cx="390079" cy="42505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894" y="3079105"/>
            <a:ext cx="767953" cy="44574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2565" y="3106638"/>
            <a:ext cx="377875" cy="43204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361" y="2674590"/>
            <a:ext cx="390079" cy="40451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8259" y="2743200"/>
            <a:ext cx="1097161" cy="1179463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85750" y="171450"/>
            <a:ext cx="84582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CH06 요약 / CH06 Summary</a:t>
            </a:r>
            <a:endParaRPr lang="en-US" sz="2250" dirty="0"/>
          </a:p>
        </p:txBody>
      </p:sp>
      <p:sp>
        <p:nvSpPr>
          <p:cNvPr id="16" name="Text 1"/>
          <p:cNvSpPr/>
          <p:nvPr/>
        </p:nvSpPr>
        <p:spPr>
          <a:xfrm>
            <a:off x="1047750" y="4305300"/>
            <a:ext cx="2095500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충돌의 본질: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프로세스 설계</a:t>
            </a:r>
            <a:endParaRPr lang="en-US" sz="1875" dirty="0"/>
          </a:p>
        </p:txBody>
      </p:sp>
      <p:sp>
        <p:nvSpPr>
          <p:cNvPr id="17" name="Text 2"/>
          <p:cNvSpPr/>
          <p:nvPr/>
        </p:nvSpPr>
        <p:spPr>
          <a:xfrm>
            <a:off x="3662809" y="4305300"/>
            <a:ext cx="218970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책임 분리로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확보</a:t>
            </a:r>
            <a:endParaRPr lang="en-US" sz="1950" dirty="0"/>
          </a:p>
        </p:txBody>
      </p:sp>
      <p:sp>
        <p:nvSpPr>
          <p:cNvPr id="18" name="Text 3"/>
          <p:cNvSpPr/>
          <p:nvPr/>
        </p:nvSpPr>
        <p:spPr>
          <a:xfrm>
            <a:off x="6210300" y="4305300"/>
            <a:ext cx="2514600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브랜치 복구 원칙: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우선</a:t>
            </a:r>
            <a:endParaRPr lang="en-US" sz="1875" dirty="0"/>
          </a:p>
        </p:txBody>
      </p:sp>
      <p:sp>
        <p:nvSpPr>
          <p:cNvPr id="19" name="Text 4"/>
          <p:cNvSpPr/>
          <p:nvPr/>
        </p:nvSpPr>
        <p:spPr>
          <a:xfrm>
            <a:off x="9046815" y="4305300"/>
            <a:ext cx="2137321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무결성 검증 및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연결</a:t>
            </a:r>
            <a:endParaRPr lang="en-US" sz="1875" dirty="0"/>
          </a:p>
        </p:txBody>
      </p:sp>
      <p:sp>
        <p:nvSpPr>
          <p:cNvPr id="20" name="Text 5"/>
          <p:cNvSpPr/>
          <p:nvPr/>
        </p:nvSpPr>
        <p:spPr>
          <a:xfrm>
            <a:off x="4336703" y="1771650"/>
            <a:ext cx="3499396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/ Key Takeaways</a:t>
            </a:r>
            <a:endParaRPr lang="en-US" sz="1875" dirty="0"/>
          </a:p>
        </p:txBody>
      </p:sp>
      <p:sp>
        <p:nvSpPr>
          <p:cNvPr id="21" name="Text 6"/>
          <p:cNvSpPr/>
          <p:nvPr/>
        </p:nvSpPr>
        <p:spPr>
          <a:xfrm>
            <a:off x="0" y="742950"/>
            <a:ext cx="1219200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충돌은 해결보다 운영 방식이 더 중요하다 / Collaboration is more critical than conflict resolution</a:t>
            </a:r>
            <a:endParaRPr lang="en-US" sz="1950" dirty="0"/>
          </a:p>
        </p:txBody>
      </p:sp>
      <p:sp>
        <p:nvSpPr>
          <p:cNvPr id="22" name="Text 7"/>
          <p:cNvSpPr/>
          <p:nvPr/>
        </p:nvSpPr>
        <p:spPr>
          <a:xfrm>
            <a:off x="1108621" y="5057775"/>
            <a:ext cx="2011561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문제가 아닌</a:t>
            </a:r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분해·병합 순서 정의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3523655" y="5057775"/>
            <a:ext cx="2525018" cy="2838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기준 명확화로 품질 보장</a:t>
            </a:r>
            <a:endParaRPr lang="en-US" sz="1500" dirty="0"/>
          </a:p>
        </p:txBody>
      </p:sp>
      <p:sp>
        <p:nvSpPr>
          <p:cNvPr id="24" name="Text 9"/>
          <p:cNvSpPr/>
          <p:nvPr/>
        </p:nvSpPr>
        <p:spPr>
          <a:xfrm>
            <a:off x="6271617" y="5057775"/>
            <a:ext cx="2420243" cy="2838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보존 및 reset 사용 지양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9432131" y="5057775"/>
            <a:ext cx="1414463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충돌 방지 및</a:t>
            </a:r>
            <a:pPr algn="ctr"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성숙도 제고</a:t>
            </a:r>
            <a:endParaRPr lang="en-US" sz="1425" dirty="0"/>
          </a:p>
        </p:txBody>
      </p:sp>
      <p:sp>
        <p:nvSpPr>
          <p:cNvPr id="26" name="Text 11"/>
          <p:cNvSpPr/>
          <p:nvPr/>
        </p:nvSpPr>
        <p:spPr>
          <a:xfrm>
            <a:off x="4238625" y="2800350"/>
            <a:ext cx="97155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</a:t>
            </a:r>
            <a:endParaRPr lang="en-US" sz="1275" dirty="0"/>
          </a:p>
        </p:txBody>
      </p:sp>
      <p:sp>
        <p:nvSpPr>
          <p:cNvPr id="27" name="Text 12"/>
          <p:cNvSpPr/>
          <p:nvPr/>
        </p:nvSpPr>
        <p:spPr>
          <a:xfrm>
            <a:off x="4238625" y="3238500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4238625" y="3686175"/>
            <a:ext cx="174879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</a:t>
            </a:r>
            <a:endParaRPr lang="en-US" sz="1275" dirty="0"/>
          </a:p>
        </p:txBody>
      </p:sp>
      <p:sp>
        <p:nvSpPr>
          <p:cNvPr id="29" name="Text 14"/>
          <p:cNvSpPr/>
          <p:nvPr/>
        </p:nvSpPr>
        <p:spPr>
          <a:xfrm>
            <a:off x="7239000" y="2800350"/>
            <a:ext cx="14630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tree</a:t>
            </a:r>
            <a:endParaRPr lang="en-US" sz="1200" dirty="0"/>
          </a:p>
        </p:txBody>
      </p:sp>
      <p:sp>
        <p:nvSpPr>
          <p:cNvPr id="30" name="Text 15"/>
          <p:cNvSpPr/>
          <p:nvPr/>
        </p:nvSpPr>
        <p:spPr>
          <a:xfrm>
            <a:off x="7239000" y="3067050"/>
            <a:ext cx="116586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</a:t>
            </a:r>
            <a:endParaRPr lang="en-US" sz="1275" dirty="0"/>
          </a:p>
        </p:txBody>
      </p:sp>
      <p:sp>
        <p:nvSpPr>
          <p:cNvPr id="31" name="Text 16"/>
          <p:cNvSpPr/>
          <p:nvPr/>
        </p:nvSpPr>
        <p:spPr>
          <a:xfrm>
            <a:off x="7239000" y="3333750"/>
            <a:ext cx="155448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reverted</a:t>
            </a:r>
            <a:endParaRPr lang="en-US" sz="1275" dirty="0"/>
          </a:p>
        </p:txBody>
      </p:sp>
      <p:sp>
        <p:nvSpPr>
          <p:cNvPr id="32" name="Text 17"/>
          <p:cNvSpPr/>
          <p:nvPr/>
        </p:nvSpPr>
        <p:spPr>
          <a:xfrm>
            <a:off x="10843171" y="142875"/>
            <a:ext cx="1173361" cy="3223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9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269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9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2026-04-10T20:57:20Z</dcterms:created>
  <dcterms:modified xsi:type="dcterms:W3CDTF">2026-04-10T20:57:20Z</dcterms:modified>
</cp:coreProperties>
</file>
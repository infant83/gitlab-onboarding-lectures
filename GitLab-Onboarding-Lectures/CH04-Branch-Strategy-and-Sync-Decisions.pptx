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  <p:embeddedFont>
      <p:font typeface="NanumGothic"/>
      <p:regular r:id="rId201315"/>
      <p:bold r:id="rId3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34550" y="5143500"/>
            <a:ext cx="2457450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2025" dirty="0"/>
          </a:p>
        </p:txBody>
      </p:sp>
      <p:sp>
        <p:nvSpPr>
          <p:cNvPr id="4" name="Text 1"/>
          <p:cNvSpPr/>
          <p:nvPr/>
        </p:nvSpPr>
        <p:spPr>
          <a:xfrm>
            <a:off x="1200150" y="2924175"/>
            <a:ext cx="9875520" cy="5898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644"/>
              </a:lnSpc>
              <a:buNone/>
            </a:pPr>
            <a:r>
              <a:rPr lang="en-US" sz="3600" b="1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전략과 동기화 판단의 기준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200150" y="3609975"/>
            <a:ext cx="7313265" cy="1168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67"/>
              </a:lnSpc>
              <a:buNone/>
            </a:pPr>
            <a:r>
              <a:rPr lang="en-US" sz="2175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🌱 가벼운 포인터 브랜치 ✅ 명확한 네이밍 규칙</a:t>
            </a:r>
            <a:pPr indent="0" marL="0">
              <a:lnSpc>
                <a:spcPts val="3067"/>
              </a:lnSpc>
              <a:buNone/>
            </a:pPr>
            <a:r>
              <a:rPr lang="en-US" sz="2175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067"/>
              </a:lnSpc>
              <a:buNone/>
            </a:pPr>
            <a:r>
              <a:rPr lang="en-US" sz="2175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🔄 효율적인 동기화 (Merge/Rebase) 🏗️ 협업 모델 선택</a:t>
            </a:r>
            <a:pPr indent="0" marL="0">
              <a:lnSpc>
                <a:spcPts val="3067"/>
              </a:lnSpc>
              <a:buNone/>
            </a:pPr>
            <a:r>
              <a:rPr lang="en-US" sz="2175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3067"/>
              </a:lnSpc>
              <a:buNone/>
            </a:pPr>
            <a:r>
              <a:rPr lang="en-US" sz="2175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crane 협업 모델 선택 규칙 사전 합의</a:t>
            </a:r>
            <a:endParaRPr lang="en-US" sz="2175" dirty="0"/>
          </a:p>
        </p:txBody>
      </p:sp>
      <p:sp>
        <p:nvSpPr>
          <p:cNvPr id="6" name="Text 3"/>
          <p:cNvSpPr/>
          <p:nvPr/>
        </p:nvSpPr>
        <p:spPr>
          <a:xfrm>
            <a:off x="1200150" y="5743575"/>
            <a:ext cx="963930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 CH04 | 2026. 04. 10</a:t>
            </a:r>
            <a:endParaRPr lang="en-US" sz="1725" dirty="0"/>
          </a:p>
        </p:txBody>
      </p:sp>
      <p:sp>
        <p:nvSpPr>
          <p:cNvPr id="7" name="Text 4"/>
          <p:cNvSpPr/>
          <p:nvPr/>
        </p:nvSpPr>
        <p:spPr>
          <a:xfrm>
            <a:off x="9144000" y="6467475"/>
            <a:ext cx="3048000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7"/>
              </a:lnSpc>
              <a:buNone/>
            </a:pPr>
            <a:r>
              <a:rPr lang="en-US" sz="1275" dirty="0">
                <a:solidFill>
                  <a:srgbClr val="3434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 WOLED/OLED</a:t>
            </a:r>
            <a:endParaRPr lang="en-US" sz="1275" dirty="0"/>
          </a:p>
        </p:txBody>
      </p:sp>
      <p:sp>
        <p:nvSpPr>
          <p:cNvPr id="8" name="Text 5"/>
          <p:cNvSpPr/>
          <p:nvPr/>
        </p:nvSpPr>
        <p:spPr>
          <a:xfrm>
            <a:off x="10771287" y="142875"/>
            <a:ext cx="1288703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B50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ctr"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B50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B500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5875" y="4615309"/>
            <a:ext cx="487561" cy="42505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45875" y="3182094"/>
            <a:ext cx="487561" cy="42505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5875" y="1762423"/>
            <a:ext cx="463153" cy="37713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228600" y="266700"/>
            <a:ext cx="708660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5"/>
              </a:lnSpc>
              <a:buNone/>
            </a:pPr>
            <a:r>
              <a:rPr lang="en-US" sz="23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브랜치는 이름표가 아니라 협업 단위다</a:t>
            </a:r>
            <a:endParaRPr lang="en-US" sz="2325" dirty="0"/>
          </a:p>
        </p:txBody>
      </p:sp>
      <p:sp>
        <p:nvSpPr>
          <p:cNvPr id="10" name="Text 1"/>
          <p:cNvSpPr/>
          <p:nvPr/>
        </p:nvSpPr>
        <p:spPr>
          <a:xfrm>
            <a:off x="838200" y="2733675"/>
            <a:ext cx="4557713" cy="6685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33"/>
              </a:lnSpc>
              <a:buNone/>
            </a:pPr>
            <a:r>
              <a:rPr lang="en-US" sz="20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커밋 가리키는 가벼운 포인터 방식:</a:t>
            </a:r>
            <a:pPr indent="0" marL="0">
              <a:lnSpc>
                <a:spcPts val="2633"/>
              </a:lnSpc>
              <a:buNone/>
            </a:pPr>
            <a:r>
              <a:rPr lang="en-US" sz="20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633"/>
              </a:lnSpc>
              <a:buNone/>
            </a:pPr>
            <a:r>
              <a:rPr lang="en-US" sz="20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폴더 복사 없이 독립적 분리</a:t>
            </a:r>
            <a:endParaRPr lang="en-US" sz="2025" dirty="0"/>
          </a:p>
        </p:txBody>
      </p:sp>
      <p:sp>
        <p:nvSpPr>
          <p:cNvPr id="11" name="Text 2"/>
          <p:cNvSpPr/>
          <p:nvPr/>
        </p:nvSpPr>
        <p:spPr>
          <a:xfrm>
            <a:off x="838200" y="3619500"/>
            <a:ext cx="5143500" cy="2829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8"/>
              </a:lnSpc>
              <a:buNone/>
            </a:pPr>
            <a:r>
              <a:rPr lang="en-US" sz="20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좋은 브랜치의 3가지 조건</a:t>
            </a:r>
            <a:endParaRPr lang="en-US" sz="2025" dirty="0"/>
          </a:p>
        </p:txBody>
      </p:sp>
      <p:sp>
        <p:nvSpPr>
          <p:cNvPr id="12" name="Text 3"/>
          <p:cNvSpPr/>
          <p:nvPr/>
        </p:nvSpPr>
        <p:spPr>
          <a:xfrm>
            <a:off x="1143000" y="4105275"/>
            <a:ext cx="2674620" cy="2829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8"/>
              </a:lnSpc>
              <a:buNone/>
            </a:pPr>
            <a:r>
              <a:rPr lang="en-US" sz="20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목적 명확</a:t>
            </a:r>
            <a:endParaRPr lang="en-US" sz="2025" dirty="0"/>
          </a:p>
        </p:txBody>
      </p:sp>
      <p:sp>
        <p:nvSpPr>
          <p:cNvPr id="13" name="Text 4"/>
          <p:cNvSpPr/>
          <p:nvPr/>
        </p:nvSpPr>
        <p:spPr>
          <a:xfrm>
            <a:off x="1143000" y="4495800"/>
            <a:ext cx="2674620" cy="2829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8"/>
              </a:lnSpc>
              <a:buNone/>
            </a:pPr>
            <a:r>
              <a:rPr lang="en-US" sz="20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짧은 수명</a:t>
            </a:r>
            <a:endParaRPr lang="en-US" sz="2025" dirty="0"/>
          </a:p>
        </p:txBody>
      </p:sp>
      <p:sp>
        <p:nvSpPr>
          <p:cNvPr id="14" name="Text 5"/>
          <p:cNvSpPr/>
          <p:nvPr/>
        </p:nvSpPr>
        <p:spPr>
          <a:xfrm>
            <a:off x="1143000" y="4886325"/>
            <a:ext cx="3909060" cy="2829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8"/>
              </a:lnSpc>
              <a:buNone/>
            </a:pPr>
            <a:r>
              <a:rPr lang="en-US" sz="20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분명한 병합 기준</a:t>
            </a:r>
            <a:endParaRPr lang="en-US" sz="2025" dirty="0"/>
          </a:p>
        </p:txBody>
      </p:sp>
      <p:sp>
        <p:nvSpPr>
          <p:cNvPr id="15" name="Text 6"/>
          <p:cNvSpPr/>
          <p:nvPr/>
        </p:nvSpPr>
        <p:spPr>
          <a:xfrm>
            <a:off x="6448425" y="2247900"/>
            <a:ext cx="5291138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역할이 보이는 이름 부여 ('feature/user-profile',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'fix/login-timeout')</a:t>
            </a:r>
            <a:endParaRPr lang="en-US" sz="1725" dirty="0"/>
          </a:p>
        </p:txBody>
      </p:sp>
      <p:sp>
        <p:nvSpPr>
          <p:cNvPr id="16" name="Text 7"/>
          <p:cNvSpPr/>
          <p:nvPr/>
        </p:nvSpPr>
        <p:spPr>
          <a:xfrm>
            <a:off x="6448425" y="3667125"/>
            <a:ext cx="5374928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브랜치 수명 짧게 유지: main과의 격차가 커질수록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병합 충돌 비용 증가</a:t>
            </a:r>
            <a:endParaRPr lang="en-US" sz="1725" dirty="0"/>
          </a:p>
        </p:txBody>
      </p:sp>
      <p:sp>
        <p:nvSpPr>
          <p:cNvPr id="17" name="Text 8"/>
          <p:cNvSpPr/>
          <p:nvPr/>
        </p:nvSpPr>
        <p:spPr>
          <a:xfrm>
            <a:off x="6448425" y="5095875"/>
            <a:ext cx="4358580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main 브랜치 보호 (승인된 PR만 허용),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리뷰 효율성 및 장애 복구 능력 향상</a:t>
            </a:r>
            <a:endParaRPr lang="en-US" sz="1725" dirty="0"/>
          </a:p>
        </p:txBody>
      </p:sp>
      <p:sp>
        <p:nvSpPr>
          <p:cNvPr id="18" name="Text 9"/>
          <p:cNvSpPr/>
          <p:nvPr/>
        </p:nvSpPr>
        <p:spPr>
          <a:xfrm>
            <a:off x="895350" y="1943100"/>
            <a:ext cx="7292340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2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TITLE Button [협업의 기반, 좋은 브랜치]</a:t>
            </a:r>
            <a:endParaRPr lang="en-US" sz="1650" dirty="0"/>
          </a:p>
        </p:txBody>
      </p:sp>
      <p:sp>
        <p:nvSpPr>
          <p:cNvPr id="19" name="Text 10"/>
          <p:cNvSpPr/>
          <p:nvPr/>
        </p:nvSpPr>
        <p:spPr>
          <a:xfrm>
            <a:off x="6505575" y="1838325"/>
            <a:ext cx="5686425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2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TITLE Button [명확한 명명 규칙]</a:t>
            </a:r>
            <a:endParaRPr lang="en-US" sz="1650" dirty="0"/>
          </a:p>
        </p:txBody>
      </p:sp>
      <p:sp>
        <p:nvSpPr>
          <p:cNvPr id="20" name="Text 11"/>
          <p:cNvSpPr/>
          <p:nvPr/>
        </p:nvSpPr>
        <p:spPr>
          <a:xfrm>
            <a:off x="6505575" y="3267075"/>
            <a:ext cx="5686425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2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TITLE Button [수명 관리와 충돌]</a:t>
            </a:r>
            <a:endParaRPr lang="en-US" sz="1650" dirty="0"/>
          </a:p>
        </p:txBody>
      </p:sp>
      <p:sp>
        <p:nvSpPr>
          <p:cNvPr id="21" name="Text 12"/>
          <p:cNvSpPr/>
          <p:nvPr/>
        </p:nvSpPr>
        <p:spPr>
          <a:xfrm>
            <a:off x="6505575" y="4686300"/>
            <a:ext cx="5686425" cy="2326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2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TITLE Button [리뷰 효율 &amp; 안정성]</a:t>
            </a:r>
            <a:endParaRPr lang="en-US" sz="1650" dirty="0"/>
          </a:p>
        </p:txBody>
      </p:sp>
      <p:sp>
        <p:nvSpPr>
          <p:cNvPr id="22" name="Text 13"/>
          <p:cNvSpPr/>
          <p:nvPr/>
        </p:nvSpPr>
        <p:spPr>
          <a:xfrm>
            <a:off x="6450211" y="266700"/>
            <a:ext cx="574164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CH04 GitLab Onboarding — Branch Strategy and Sync Decisions You Dream,</a:t>
            </a:r>
            <a:pPr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19"/>
              </a:lnSpc>
              <a:buNone/>
            </a:pPr>
            <a:r>
              <a:rPr lang="en-US" sz="112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780" y="4814292"/>
            <a:ext cx="2194471" cy="111085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8879" y="4786759"/>
            <a:ext cx="1645890" cy="918865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8600" y="123825"/>
            <a:ext cx="11963400" cy="3626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56"/>
              </a:lnSpc>
              <a:buNone/>
            </a:pPr>
            <a:r>
              <a:rPr lang="en-US" sz="25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switch와 checkout을 어떻게 구분해서 쏠까 / How to</a:t>
            </a:r>
            <a:endParaRPr lang="en-US" sz="2550" dirty="0"/>
          </a:p>
        </p:txBody>
      </p:sp>
      <p:sp>
        <p:nvSpPr>
          <p:cNvPr id="9" name="Text 1"/>
          <p:cNvSpPr/>
          <p:nvPr/>
        </p:nvSpPr>
        <p:spPr>
          <a:xfrm>
            <a:off x="352425" y="742950"/>
            <a:ext cx="10698480" cy="2766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78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명령어 사용의 명확성 확보: switch vs. checkout</a:t>
            </a:r>
            <a:endParaRPr lang="en-US" sz="1800" dirty="0"/>
          </a:p>
        </p:txBody>
      </p:sp>
      <p:sp>
        <p:nvSpPr>
          <p:cNvPr id="10" name="Text 2"/>
          <p:cNvSpPr/>
          <p:nvPr/>
        </p:nvSpPr>
        <p:spPr>
          <a:xfrm>
            <a:off x="2368748" y="1724025"/>
            <a:ext cx="1110555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SWITCH</a:t>
            </a:r>
            <a:endParaRPr lang="en-US" sz="1350" dirty="0"/>
          </a:p>
        </p:txBody>
      </p:sp>
      <p:sp>
        <p:nvSpPr>
          <p:cNvPr id="11" name="Text 3"/>
          <p:cNvSpPr/>
          <p:nvPr/>
        </p:nvSpPr>
        <p:spPr>
          <a:xfrm>
            <a:off x="8456265" y="1724025"/>
            <a:ext cx="129912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CHECKOUT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895350" y="2209800"/>
            <a:ext cx="4934843" cy="529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전용 명령어 (Git 2.23+): 역할 분리로 명확성 향상</a:t>
            </a:r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초보자에게 권장: 직관적인 브랜치 작업 (혼란 방지)</a:t>
            </a:r>
            <a:endParaRPr lang="en-US" sz="1500" dirty="0"/>
          </a:p>
        </p:txBody>
      </p:sp>
      <p:sp>
        <p:nvSpPr>
          <p:cNvPr id="13" name="Text 5"/>
          <p:cNvSpPr/>
          <p:nvPr/>
        </p:nvSpPr>
        <p:spPr>
          <a:xfrm>
            <a:off x="6810375" y="2209800"/>
            <a:ext cx="3834705" cy="529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다목적 광범위 명령어: 과거 기능 통합</a:t>
            </a:r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이동 외 기능: 파일 복원, 커밋 탐색 등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895350" y="3038475"/>
            <a:ext cx="2535436" cy="1191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기존 브랜치로 이동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switch &lt;브랜치명&gt;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새 브랜치 생성 후 즉시 이동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switch -c &lt;새브랜치명&gt;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6810375" y="3038475"/>
            <a:ext cx="3237458" cy="19061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(기존 방식) 브랜치로 이동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checkout &lt;브랜치명&gt;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(기존 방식) 새 브랜치 생성 및 이동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checkout -b &lt;새브랜치명&gt;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# 특정 시점의 코드 조사 (파일 복원)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7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checkout &lt;커밋SHA&gt; -- &lt;파일명&gt;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10953750" y="190500"/>
            <a:ext cx="1037183" cy="2589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20"/>
              </a:lnSpc>
              <a:buNone/>
            </a:pPr>
            <a:r>
              <a:rPr lang="en-US" sz="1275" b="1" i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020"/>
              </a:lnSpc>
              <a:buNone/>
            </a:pPr>
            <a:r>
              <a:rPr lang="en-US" sz="1275" b="1" i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020"/>
              </a:lnSpc>
              <a:buNone/>
            </a:pPr>
            <a:r>
              <a:rPr lang="en-US" sz="1275" b="1" i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75" dirty="0"/>
          </a:p>
        </p:txBody>
      </p:sp>
      <p:sp>
        <p:nvSpPr>
          <p:cNvPr id="17" name="Text 9"/>
          <p:cNvSpPr/>
          <p:nvPr/>
        </p:nvSpPr>
        <p:spPr>
          <a:xfrm>
            <a:off x="7667625" y="266700"/>
            <a:ext cx="4524375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50"/>
              </a:lnSpc>
              <a:buNone/>
            </a:pPr>
            <a:r>
              <a:rPr lang="en-US" sz="1050" b="1" dirty="0">
                <a:solidFill>
                  <a:srgbClr val="D9042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CH04 GitLab 온보딩 강좌 — 브랜치 전략과 동기화 판단</a:t>
            </a:r>
            <a:endParaRPr lang="en-US" sz="1050" dirty="0"/>
          </a:p>
        </p:txBody>
      </p:sp>
      <p:sp>
        <p:nvSpPr>
          <p:cNvPr id="18" name="Text 10"/>
          <p:cNvSpPr/>
          <p:nvPr/>
        </p:nvSpPr>
        <p:spPr>
          <a:xfrm>
            <a:off x="466725" y="6638925"/>
            <a:ext cx="17145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19" name="Text 11"/>
          <p:cNvSpPr/>
          <p:nvPr/>
        </p:nvSpPr>
        <p:spPr>
          <a:xfrm>
            <a:off x="5813971" y="6705600"/>
            <a:ext cx="54471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82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80392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8463" y="4786759"/>
            <a:ext cx="341263" cy="33590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6353" y="3771900"/>
            <a:ext cx="243780" cy="25360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5569" y="3764905"/>
            <a:ext cx="268188" cy="26059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0377" y="3764905"/>
            <a:ext cx="463153" cy="41136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96259" y="3819823"/>
            <a:ext cx="377875" cy="33590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0667" y="3079105"/>
            <a:ext cx="316855" cy="38397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20667" y="2338536"/>
            <a:ext cx="316855" cy="38397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4565" y="3182094"/>
            <a:ext cx="353467" cy="29482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565" y="2221855"/>
            <a:ext cx="341263" cy="335905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6431161" y="1562100"/>
            <a:ext cx="2891730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6"/>
              </a:lnSpc>
              <a:buNone/>
            </a:pPr>
            <a:r>
              <a:rPr lang="en-US" sz="1950" b="1" dirty="0">
                <a:solidFill>
                  <a:srgbClr val="FFFFFF"/>
                </a:solidFill>
              </a:rPr>
              <a:t>브랜치 동기화 상태 및 조치</a:t>
            </a:r>
            <a:endParaRPr lang="en-US" sz="1950" dirty="0"/>
          </a:p>
        </p:txBody>
      </p:sp>
      <p:sp>
        <p:nvSpPr>
          <p:cNvPr id="16" name="Text 1"/>
          <p:cNvSpPr/>
          <p:nvPr/>
        </p:nvSpPr>
        <p:spPr>
          <a:xfrm>
            <a:off x="970955" y="1581150"/>
            <a:ext cx="2315468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44"/>
              </a:lnSpc>
              <a:buNone/>
            </a:pPr>
            <a:r>
              <a:rPr lang="en-US" sz="1875" b="1" dirty="0">
                <a:solidFill>
                  <a:srgbClr val="FFFFFF"/>
                </a:solidFill>
              </a:rPr>
              <a:t>Upstream 핵심 개념</a:t>
            </a:r>
            <a:endParaRPr lang="en-US" sz="1875" dirty="0"/>
          </a:p>
        </p:txBody>
      </p:sp>
      <p:sp>
        <p:nvSpPr>
          <p:cNvPr id="17" name="Text 2"/>
          <p:cNvSpPr/>
          <p:nvPr/>
        </p:nvSpPr>
        <p:spPr>
          <a:xfrm>
            <a:off x="352425" y="209550"/>
            <a:ext cx="11839575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tracking branch와 upstream을 읽는 법 / How to Read Tracking Branches &amp; Upstream</a:t>
            </a:r>
            <a:endParaRPr lang="en-US" sz="1425" dirty="0"/>
          </a:p>
        </p:txBody>
      </p:sp>
      <p:sp>
        <p:nvSpPr>
          <p:cNvPr id="18" name="Text 3"/>
          <p:cNvSpPr/>
          <p:nvPr/>
        </p:nvSpPr>
        <p:spPr>
          <a:xfrm>
            <a:off x="352425" y="742950"/>
            <a:ext cx="394335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725" dirty="0"/>
          </a:p>
        </p:txBody>
      </p:sp>
      <p:sp>
        <p:nvSpPr>
          <p:cNvPr id="19" name="Text 4"/>
          <p:cNvSpPr/>
          <p:nvPr/>
        </p:nvSpPr>
        <p:spPr>
          <a:xfrm>
            <a:off x="5286375" y="2371725"/>
            <a:ext cx="102870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ahead</a:t>
            </a:r>
            <a:endParaRPr lang="en-US" sz="1350" dirty="0"/>
          </a:p>
        </p:txBody>
      </p:sp>
      <p:sp>
        <p:nvSpPr>
          <p:cNvPr id="20" name="Text 5"/>
          <p:cNvSpPr/>
          <p:nvPr/>
        </p:nvSpPr>
        <p:spPr>
          <a:xfrm>
            <a:off x="5286375" y="3133725"/>
            <a:ext cx="123444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behind</a:t>
            </a:r>
            <a:endParaRPr lang="en-US" sz="1350" dirty="0"/>
          </a:p>
        </p:txBody>
      </p:sp>
      <p:sp>
        <p:nvSpPr>
          <p:cNvPr id="21" name="Text 6"/>
          <p:cNvSpPr/>
          <p:nvPr/>
        </p:nvSpPr>
        <p:spPr>
          <a:xfrm>
            <a:off x="5286375" y="3857625"/>
            <a:ext cx="890588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ahead /</a:t>
            </a:r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behind</a:t>
            </a:r>
            <a:endParaRPr lang="en-US" sz="1500" dirty="0"/>
          </a:p>
        </p:txBody>
      </p:sp>
      <p:sp>
        <p:nvSpPr>
          <p:cNvPr id="22" name="Text 7"/>
          <p:cNvSpPr/>
          <p:nvPr/>
        </p:nvSpPr>
        <p:spPr>
          <a:xfrm>
            <a:off x="5286375" y="4743450"/>
            <a:ext cx="1110555" cy="4670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Upstream</a:t>
            </a:r>
            <a:pPr indent="0" marL="0">
              <a:lnSpc>
                <a:spcPts val="183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최초 설정</a:t>
            </a:r>
            <a:endParaRPr lang="en-US" sz="1425" dirty="0"/>
          </a:p>
        </p:txBody>
      </p:sp>
      <p:sp>
        <p:nvSpPr>
          <p:cNvPr id="23" name="Text 8"/>
          <p:cNvSpPr/>
          <p:nvPr/>
        </p:nvSpPr>
        <p:spPr>
          <a:xfrm>
            <a:off x="8763000" y="228600"/>
            <a:ext cx="3394621" cy="4845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90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90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90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24" name="Text 9"/>
          <p:cNvSpPr/>
          <p:nvPr/>
        </p:nvSpPr>
        <p:spPr>
          <a:xfrm>
            <a:off x="6762750" y="2266950"/>
            <a:ext cx="4400550" cy="510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커밋이 원격보다 앞서 있어 push가 필요한 상태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ahead 2</a:t>
            </a:r>
            <a:endParaRPr lang="en-US" sz="1500" dirty="0"/>
          </a:p>
        </p:txBody>
      </p:sp>
      <p:sp>
        <p:nvSpPr>
          <p:cNvPr id="25" name="Text 10"/>
          <p:cNvSpPr/>
          <p:nvPr/>
        </p:nvSpPr>
        <p:spPr>
          <a:xfrm>
            <a:off x="6762750" y="3000375"/>
            <a:ext cx="5238750" cy="5104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커밋이 로컬보다 앞서 있어 pull 또는 fetch가 필요한 상태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behind 1</a:t>
            </a:r>
            <a:endParaRPr lang="en-US" sz="1500" dirty="0"/>
          </a:p>
        </p:txBody>
      </p:sp>
      <p:sp>
        <p:nvSpPr>
          <p:cNvPr id="26" name="Text 11"/>
          <p:cNvSpPr/>
          <p:nvPr/>
        </p:nvSpPr>
        <p:spPr>
          <a:xfrm>
            <a:off x="6762750" y="3714750"/>
            <a:ext cx="3300413" cy="7657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로컬과 원격이 원시에 커밋됨 (Forked)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Merge 또는 Rebase 결정 필요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1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ahead 2, behind 1</a:t>
            </a:r>
            <a:endParaRPr lang="en-US" sz="1500" dirty="0"/>
          </a:p>
        </p:txBody>
      </p:sp>
      <p:sp>
        <p:nvSpPr>
          <p:cNvPr id="27" name="Text 12"/>
          <p:cNvSpPr/>
          <p:nvPr/>
        </p:nvSpPr>
        <p:spPr>
          <a:xfrm>
            <a:off x="6762750" y="4724400"/>
            <a:ext cx="3708946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Upstream 연결을 최초로 지정할 때 사용</a:t>
            </a:r>
            <a:pPr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`git push -u origin 브랜치명`으로 upstream 지정</a:t>
            </a:r>
            <a:endParaRPr lang="en-US" sz="1200" dirty="0"/>
          </a:p>
        </p:txBody>
      </p:sp>
      <p:sp>
        <p:nvSpPr>
          <p:cNvPr id="28" name="Text 13"/>
          <p:cNvSpPr/>
          <p:nvPr/>
        </p:nvSpPr>
        <p:spPr>
          <a:xfrm>
            <a:off x="8943975" y="276225"/>
            <a:ext cx="2116336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CH04 브랜치 전략과 동기화 판단</a:t>
            </a:r>
            <a:endParaRPr lang="en-US" sz="1125" dirty="0"/>
          </a:p>
        </p:txBody>
      </p:sp>
      <p:sp>
        <p:nvSpPr>
          <p:cNvPr id="29" name="Text 14"/>
          <p:cNvSpPr/>
          <p:nvPr/>
        </p:nvSpPr>
        <p:spPr>
          <a:xfrm>
            <a:off x="1323975" y="2238375"/>
            <a:ext cx="251460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Upstream이란?</a:t>
            </a:r>
            <a:endParaRPr lang="en-US" sz="1500" dirty="0"/>
          </a:p>
        </p:txBody>
      </p:sp>
      <p:sp>
        <p:nvSpPr>
          <p:cNvPr id="30" name="Text 15"/>
          <p:cNvSpPr/>
          <p:nvPr/>
        </p:nvSpPr>
        <p:spPr>
          <a:xfrm>
            <a:off x="1323975" y="2514600"/>
            <a:ext cx="2168723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로컬 브랜치가 추적하는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브랜치</a:t>
            </a:r>
            <a:endParaRPr lang="en-US" sz="1500" dirty="0"/>
          </a:p>
        </p:txBody>
      </p:sp>
      <p:sp>
        <p:nvSpPr>
          <p:cNvPr id="31" name="Text 16"/>
          <p:cNvSpPr/>
          <p:nvPr/>
        </p:nvSpPr>
        <p:spPr>
          <a:xfrm>
            <a:off x="1323975" y="3171825"/>
            <a:ext cx="457200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`git branch -vv` 명령어</a:t>
            </a:r>
            <a:endParaRPr lang="en-US" sz="1500" dirty="0"/>
          </a:p>
        </p:txBody>
      </p:sp>
      <p:sp>
        <p:nvSpPr>
          <p:cNvPr id="32" name="Text 17"/>
          <p:cNvSpPr/>
          <p:nvPr/>
        </p:nvSpPr>
        <p:spPr>
          <a:xfrm>
            <a:off x="1323975" y="3448050"/>
            <a:ext cx="2566988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로컬 브랜치와 upstream의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연결 상태를 한눈에 출력</a:t>
            </a:r>
            <a:endParaRPr lang="en-US" sz="1500" dirty="0"/>
          </a:p>
        </p:txBody>
      </p:sp>
      <p:sp>
        <p:nvSpPr>
          <p:cNvPr id="33" name="Text 18"/>
          <p:cNvSpPr/>
          <p:nvPr/>
        </p:nvSpPr>
        <p:spPr>
          <a:xfrm>
            <a:off x="6762750" y="5372100"/>
            <a:ext cx="5429250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`git push -u origin 브랜치명`으로 upstream 지정</a:t>
            </a:r>
            <a:endParaRPr lang="en-US" sz="1500" dirty="0"/>
          </a:p>
        </p:txBody>
      </p:sp>
      <p:sp>
        <p:nvSpPr>
          <p:cNvPr id="34" name="Text 19"/>
          <p:cNvSpPr/>
          <p:nvPr/>
        </p:nvSpPr>
        <p:spPr>
          <a:xfrm>
            <a:off x="10200680" y="3990975"/>
            <a:ext cx="429518" cy="1823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36"/>
              </a:lnSpc>
              <a:buNone/>
            </a:pPr>
            <a:r>
              <a:rPr lang="en-US" sz="8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</a:t>
            </a:r>
            <a:endParaRPr lang="en-US" sz="825" dirty="0"/>
          </a:p>
        </p:txBody>
      </p:sp>
      <p:sp>
        <p:nvSpPr>
          <p:cNvPr id="35" name="Text 20"/>
          <p:cNvSpPr/>
          <p:nvPr/>
        </p:nvSpPr>
        <p:spPr>
          <a:xfrm>
            <a:off x="10720388" y="3990975"/>
            <a:ext cx="52387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66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Rebase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6863" y="3943350"/>
            <a:ext cx="4011067" cy="202302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3294" y="3908971"/>
            <a:ext cx="3572173" cy="20574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838200" y="1714500"/>
            <a:ext cx="4274820" cy="2305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1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Shared Repository</a:t>
            </a:r>
            <a:endParaRPr lang="en-US" sz="1650" dirty="0"/>
          </a:p>
        </p:txBody>
      </p:sp>
      <p:sp>
        <p:nvSpPr>
          <p:cNvPr id="9" name="Text 1"/>
          <p:cNvSpPr/>
          <p:nvPr/>
        </p:nvSpPr>
        <p:spPr>
          <a:xfrm>
            <a:off x="6753225" y="1714500"/>
            <a:ext cx="2628900" cy="2409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8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Fork Model</a:t>
            </a:r>
            <a:endParaRPr lang="en-US" sz="1725" dirty="0"/>
          </a:p>
        </p:txBody>
      </p:sp>
      <p:sp>
        <p:nvSpPr>
          <p:cNvPr id="10" name="Text 2"/>
          <p:cNvSpPr/>
          <p:nvPr/>
        </p:nvSpPr>
        <p:spPr>
          <a:xfrm>
            <a:off x="895350" y="2438400"/>
            <a:ext cx="578358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단일 중앙 저장소에 모든 팀원 직접 접근</a:t>
            </a:r>
            <a:endParaRPr lang="en-US" sz="1725" dirty="0"/>
          </a:p>
        </p:txBody>
      </p:sp>
      <p:sp>
        <p:nvSpPr>
          <p:cNvPr id="11" name="Text 3"/>
          <p:cNvSpPr/>
          <p:nvPr/>
        </p:nvSpPr>
        <p:spPr>
          <a:xfrm>
            <a:off x="895350" y="2819400"/>
            <a:ext cx="841248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기능 브랜치 작업 후 Merge Request(MR) 병합</a:t>
            </a:r>
            <a:endParaRPr lang="en-US" sz="1725" dirty="0"/>
          </a:p>
        </p:txBody>
      </p:sp>
      <p:sp>
        <p:nvSpPr>
          <p:cNvPr id="12" name="Text 4"/>
          <p:cNvSpPr/>
          <p:nvPr/>
        </p:nvSpPr>
        <p:spPr>
          <a:xfrm>
            <a:off x="895350" y="3200400"/>
            <a:ext cx="630936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보안 권한: 내부 구성원에게 쓰기 권한 부여</a:t>
            </a:r>
            <a:endParaRPr lang="en-US" sz="1725" dirty="0"/>
          </a:p>
        </p:txBody>
      </p:sp>
      <p:sp>
        <p:nvSpPr>
          <p:cNvPr id="13" name="Text 5"/>
          <p:cNvSpPr/>
          <p:nvPr/>
        </p:nvSpPr>
        <p:spPr>
          <a:xfrm>
            <a:off x="895350" y="3524250"/>
            <a:ext cx="814959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팀 운영 정책: main 브랜치 보호, 승인된 MR 필수</a:t>
            </a:r>
            <a:endParaRPr lang="en-US" sz="1725" dirty="0"/>
          </a:p>
        </p:txBody>
      </p:sp>
      <p:sp>
        <p:nvSpPr>
          <p:cNvPr id="14" name="Text 6"/>
          <p:cNvSpPr/>
          <p:nvPr/>
        </p:nvSpPr>
        <p:spPr>
          <a:xfrm>
            <a:off x="6934200" y="2438400"/>
            <a:ext cx="525780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원본 저장소를 개인 계정에 복제(Fork)하여 독립 작업</a:t>
            </a:r>
            <a:endParaRPr lang="en-US" sz="1725" dirty="0"/>
          </a:p>
        </p:txBody>
      </p:sp>
      <p:sp>
        <p:nvSpPr>
          <p:cNvPr id="15" name="Text 7"/>
          <p:cNvSpPr/>
          <p:nvPr/>
        </p:nvSpPr>
        <p:spPr>
          <a:xfrm>
            <a:off x="6932265" y="2819400"/>
            <a:ext cx="525973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원본의 안정성을 유지하며 Pull Request(PR/MR) 제출</a:t>
            </a:r>
            <a:endParaRPr lang="en-US" sz="1725" dirty="0"/>
          </a:p>
        </p:txBody>
      </p:sp>
      <p:sp>
        <p:nvSpPr>
          <p:cNvPr id="16" name="Text 8"/>
          <p:cNvSpPr/>
          <p:nvPr/>
        </p:nvSpPr>
        <p:spPr>
          <a:xfrm>
            <a:off x="6934200" y="3200400"/>
            <a:ext cx="525780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보안 권한: 외부 기여자에게 직접 권한 부여 불필요</a:t>
            </a:r>
            <a:endParaRPr lang="en-US" sz="1725" dirty="0"/>
          </a:p>
        </p:txBody>
      </p:sp>
      <p:sp>
        <p:nvSpPr>
          <p:cNvPr id="17" name="Text 9"/>
          <p:cNvSpPr/>
          <p:nvPr/>
        </p:nvSpPr>
        <p:spPr>
          <a:xfrm>
            <a:off x="6934200" y="3524250"/>
            <a:ext cx="525780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운영 부담: 다수 포크 저장소의 상태 추적 및 관리 필요</a:t>
            </a:r>
            <a:endParaRPr lang="en-US" sz="1725" dirty="0"/>
          </a:p>
        </p:txBody>
      </p:sp>
      <p:sp>
        <p:nvSpPr>
          <p:cNvPr id="18" name="Text 10"/>
          <p:cNvSpPr/>
          <p:nvPr/>
        </p:nvSpPr>
        <p:spPr>
          <a:xfrm>
            <a:off x="285750" y="209550"/>
            <a:ext cx="11906250" cy="2388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81"/>
              </a:lnSpc>
              <a:buNone/>
            </a:pPr>
            <a:r>
              <a:rPr lang="en-US" sz="16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shared repository와 fork를 언제 쓰는가 / When to Use Shared Repository vs Fork</a:t>
            </a:r>
            <a:endParaRPr lang="en-US" sz="1650" dirty="0"/>
          </a:p>
        </p:txBody>
      </p:sp>
      <p:sp>
        <p:nvSpPr>
          <p:cNvPr id="19" name="Text 11"/>
          <p:cNvSpPr/>
          <p:nvPr/>
        </p:nvSpPr>
        <p:spPr>
          <a:xfrm>
            <a:off x="352425" y="742950"/>
            <a:ext cx="8023860" cy="2931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팀의 성격과 보안 정책에 따른 저장소 모델 선택</a:t>
            </a:r>
            <a:endParaRPr lang="en-US" sz="2025" dirty="0"/>
          </a:p>
        </p:txBody>
      </p:sp>
      <p:sp>
        <p:nvSpPr>
          <p:cNvPr id="20" name="Text 12"/>
          <p:cNvSpPr/>
          <p:nvPr/>
        </p:nvSpPr>
        <p:spPr>
          <a:xfrm>
            <a:off x="10953750" y="180975"/>
            <a:ext cx="995363" cy="1199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1050" b="1" dirty="0">
                <a:solidFill>
                  <a:srgbClr val="B9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11077575" y="142875"/>
            <a:ext cx="79623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825"/>
              </a:lnSpc>
              <a:buNone/>
            </a:pPr>
            <a:r>
              <a:rPr lang="en-US" sz="8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endParaRPr lang="en-US" sz="825" dirty="0"/>
          </a:p>
        </p:txBody>
      </p:sp>
      <p:sp>
        <p:nvSpPr>
          <p:cNvPr id="22" name="Text 14"/>
          <p:cNvSpPr/>
          <p:nvPr/>
        </p:nvSpPr>
        <p:spPr>
          <a:xfrm>
            <a:off x="9144000" y="266700"/>
            <a:ext cx="1843980" cy="1312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34"/>
              </a:lnSpc>
              <a:buNone/>
            </a:pPr>
            <a:r>
              <a:rPr lang="en-US" sz="97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CH04 GitLab Onboarding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992" y="5054203"/>
            <a:ext cx="609600" cy="58965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455" y="4004965"/>
            <a:ext cx="524173" cy="44574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3082" y="3079105"/>
            <a:ext cx="914400" cy="43889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3459" y="5033665"/>
            <a:ext cx="682675" cy="63088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4479" y="4011811"/>
            <a:ext cx="609600" cy="61719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3459" y="2989957"/>
            <a:ext cx="646063" cy="610344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28600" y="142875"/>
            <a:ext cx="11963400" cy="3661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83"/>
              </a:lnSpc>
              <a:buNone/>
            </a:pPr>
            <a:r>
              <a:rPr lang="en-US" sz="23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merge와 rebase는 무엇을 바꾸는가 / What do merge and rebase change?</a:t>
            </a:r>
            <a:endParaRPr lang="en-US" sz="2325" dirty="0"/>
          </a:p>
        </p:txBody>
      </p:sp>
      <p:sp>
        <p:nvSpPr>
          <p:cNvPr id="13" name="Text 1"/>
          <p:cNvSpPr/>
          <p:nvPr/>
        </p:nvSpPr>
        <p:spPr>
          <a:xfrm>
            <a:off x="352425" y="742950"/>
            <a:ext cx="4389120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04"/>
              </a:lnSpc>
              <a:buNone/>
            </a:pPr>
            <a:r>
              <a:rPr lang="en-US" sz="18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특징 및 활용 기준 비교</a:t>
            </a:r>
            <a:endParaRPr lang="en-US" sz="1800" dirty="0"/>
          </a:p>
        </p:txBody>
      </p:sp>
      <p:sp>
        <p:nvSpPr>
          <p:cNvPr id="14" name="Text 2"/>
          <p:cNvSpPr/>
          <p:nvPr/>
        </p:nvSpPr>
        <p:spPr>
          <a:xfrm>
            <a:off x="2872680" y="2314575"/>
            <a:ext cx="71244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</a:t>
            </a:r>
            <a:endParaRPr lang="en-US" sz="1350" dirty="0"/>
          </a:p>
        </p:txBody>
      </p:sp>
      <p:sp>
        <p:nvSpPr>
          <p:cNvPr id="15" name="Text 3"/>
          <p:cNvSpPr/>
          <p:nvPr/>
        </p:nvSpPr>
        <p:spPr>
          <a:xfrm>
            <a:off x="8524875" y="2314575"/>
            <a:ext cx="83820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REBASE</a:t>
            </a:r>
            <a:endParaRPr lang="en-US" sz="1350" dirty="0"/>
          </a:p>
        </p:txBody>
      </p:sp>
      <p:sp>
        <p:nvSpPr>
          <p:cNvPr id="16" name="Text 4"/>
          <p:cNvSpPr/>
          <p:nvPr/>
        </p:nvSpPr>
        <p:spPr>
          <a:xfrm>
            <a:off x="2486025" y="2971800"/>
            <a:ext cx="18288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 보존 통합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2486025" y="3990975"/>
            <a:ext cx="20574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안전성 및 투명성</a:t>
            </a:r>
            <a:endParaRPr lang="en-US" sz="1500" dirty="0"/>
          </a:p>
        </p:txBody>
      </p:sp>
      <p:sp>
        <p:nvSpPr>
          <p:cNvPr id="18" name="Text 6"/>
          <p:cNvSpPr/>
          <p:nvPr/>
        </p:nvSpPr>
        <p:spPr>
          <a:xfrm>
            <a:off x="2486025" y="5019675"/>
            <a:ext cx="16002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권장 전략</a:t>
            </a:r>
            <a:endParaRPr lang="en-US" sz="1500" dirty="0"/>
          </a:p>
        </p:txBody>
      </p:sp>
      <p:sp>
        <p:nvSpPr>
          <p:cNvPr id="19" name="Text 7"/>
          <p:cNvSpPr/>
          <p:nvPr/>
        </p:nvSpPr>
        <p:spPr>
          <a:xfrm>
            <a:off x="8172450" y="2971800"/>
            <a:ext cx="18288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이력 관리</a:t>
            </a:r>
            <a:endParaRPr lang="en-US" sz="1500" dirty="0"/>
          </a:p>
        </p:txBody>
      </p:sp>
      <p:sp>
        <p:nvSpPr>
          <p:cNvPr id="20" name="Text 8"/>
          <p:cNvSpPr/>
          <p:nvPr/>
        </p:nvSpPr>
        <p:spPr>
          <a:xfrm>
            <a:off x="8172450" y="3990975"/>
            <a:ext cx="38862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 변경 및 강제 푸시 위험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8172450" y="5105400"/>
            <a:ext cx="20574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브랜치 정리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2486025" y="3267075"/>
            <a:ext cx="2996505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브랜치를 병합하고 변경 커밋 생성,</a:t>
            </a:r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분기 흐름 그대로 기록.</a:t>
            </a:r>
            <a:endParaRPr lang="en-US" sz="1350" dirty="0"/>
          </a:p>
        </p:txBody>
      </p:sp>
      <p:sp>
        <p:nvSpPr>
          <p:cNvPr id="23" name="Text 11"/>
          <p:cNvSpPr/>
          <p:nvPr/>
        </p:nvSpPr>
        <p:spPr>
          <a:xfrm>
            <a:off x="2486025" y="4295775"/>
            <a:ext cx="2703165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위험 감소, 협업 시 이전 상태</a:t>
            </a:r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가능.</a:t>
            </a:r>
            <a:endParaRPr lang="en-US" sz="1350" dirty="0"/>
          </a:p>
        </p:txBody>
      </p:sp>
      <p:sp>
        <p:nvSpPr>
          <p:cNvPr id="24" name="Text 12"/>
          <p:cNvSpPr/>
          <p:nvPr/>
        </p:nvSpPr>
        <p:spPr>
          <a:xfrm>
            <a:off x="2486025" y="5314950"/>
            <a:ext cx="2043113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초보자가 사용하기 쉬움,</a:t>
            </a:r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브랜치의 기본 방식.</a:t>
            </a:r>
            <a:endParaRPr lang="en-US" sz="1350" dirty="0"/>
          </a:p>
        </p:txBody>
      </p:sp>
      <p:sp>
        <p:nvSpPr>
          <p:cNvPr id="25" name="Text 13"/>
          <p:cNvSpPr/>
          <p:nvPr/>
        </p:nvSpPr>
        <p:spPr>
          <a:xfrm>
            <a:off x="8172450" y="3267075"/>
            <a:ext cx="305931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최신 기준 위로 재배치,</a:t>
            </a:r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깔끔한 한 줄 이력 정리 (SHA 변경됨).</a:t>
            </a:r>
            <a:endParaRPr lang="en-US" sz="1350" dirty="0"/>
          </a:p>
        </p:txBody>
      </p:sp>
      <p:sp>
        <p:nvSpPr>
          <p:cNvPr id="26" name="Text 14"/>
          <p:cNvSpPr/>
          <p:nvPr/>
        </p:nvSpPr>
        <p:spPr>
          <a:xfrm>
            <a:off x="8172450" y="4295775"/>
            <a:ext cx="217929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브랜치에 강제 푸시 시</a:t>
            </a:r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기준점 파괴.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8172450" y="5362575"/>
            <a:ext cx="4019550" cy="1851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8"/>
              </a:lnSpc>
              <a:buNone/>
            </a:pPr>
            <a:r>
              <a:rPr lang="en-US" sz="1350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전 기능 브랜치를 닫는 데 활용.</a:t>
            </a:r>
            <a:endParaRPr lang="en-US" sz="1350" dirty="0"/>
          </a:p>
        </p:txBody>
      </p:sp>
      <p:sp>
        <p:nvSpPr>
          <p:cNvPr id="28" name="Text 16"/>
          <p:cNvSpPr/>
          <p:nvPr/>
        </p:nvSpPr>
        <p:spPr>
          <a:xfrm>
            <a:off x="6959352" y="4505325"/>
            <a:ext cx="701873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SHARED</a:t>
            </a:r>
            <a:endParaRPr lang="en-US" sz="1125" dirty="0"/>
          </a:p>
        </p:txBody>
      </p:sp>
      <p:sp>
        <p:nvSpPr>
          <p:cNvPr id="29" name="Text 17"/>
          <p:cNvSpPr/>
          <p:nvPr/>
        </p:nvSpPr>
        <p:spPr>
          <a:xfrm>
            <a:off x="10953750" y="180975"/>
            <a:ext cx="1026765" cy="3086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15"/>
              </a:lnSpc>
              <a:buNone/>
            </a:pPr>
            <a:r>
              <a:rPr lang="en-US" sz="1125" b="1" dirty="0">
                <a:solidFill>
                  <a:srgbClr val="B222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15"/>
              </a:lnSpc>
              <a:buNone/>
            </a:pPr>
            <a:r>
              <a:rPr lang="en-US" sz="1125" b="1" dirty="0">
                <a:solidFill>
                  <a:srgbClr val="B222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15"/>
              </a:lnSpc>
              <a:buNone/>
            </a:pPr>
            <a:r>
              <a:rPr lang="en-US" sz="1125" b="1" dirty="0">
                <a:solidFill>
                  <a:srgbClr val="B222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8094" y="1536055"/>
            <a:ext cx="487561" cy="53488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059" y="1536055"/>
            <a:ext cx="524173" cy="53488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2173" y="1570434"/>
            <a:ext cx="463153" cy="45258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694" y="1549896"/>
            <a:ext cx="402282" cy="493663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66700" y="142875"/>
            <a:ext cx="854964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언제 merge하고 언제 rebase할까</a:t>
            </a:r>
            <a:endParaRPr lang="en-US" sz="2550" dirty="0"/>
          </a:p>
        </p:txBody>
      </p:sp>
      <p:sp>
        <p:nvSpPr>
          <p:cNvPr id="11" name="Text 1"/>
          <p:cNvSpPr/>
          <p:nvPr/>
        </p:nvSpPr>
        <p:spPr>
          <a:xfrm>
            <a:off x="352425" y="742950"/>
            <a:ext cx="9601200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09"/>
              </a:lnSpc>
              <a:buNone/>
            </a:pPr>
            <a:r>
              <a:rPr lang="en-US" sz="21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Merge와 Rebase 선택의 핵심 기준과 모범 사례</a:t>
            </a:r>
            <a:endParaRPr lang="en-US" sz="2100" dirty="0"/>
          </a:p>
        </p:txBody>
      </p:sp>
      <p:sp>
        <p:nvSpPr>
          <p:cNvPr id="12" name="Text 2"/>
          <p:cNvSpPr/>
          <p:nvPr/>
        </p:nvSpPr>
        <p:spPr>
          <a:xfrm>
            <a:off x="714375" y="2209800"/>
            <a:ext cx="154305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0"/>
              </a:lnSpc>
              <a:buNone/>
            </a:pPr>
            <a:r>
              <a:rPr lang="en-US" sz="20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원칙</a:t>
            </a:r>
            <a:endParaRPr lang="en-US" sz="2025" dirty="0"/>
          </a:p>
        </p:txBody>
      </p:sp>
      <p:sp>
        <p:nvSpPr>
          <p:cNvPr id="13" name="Text 3"/>
          <p:cNvSpPr/>
          <p:nvPr/>
        </p:nvSpPr>
        <p:spPr>
          <a:xfrm>
            <a:off x="3581400" y="2209800"/>
            <a:ext cx="216027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0"/>
              </a:lnSpc>
              <a:buNone/>
            </a:pPr>
            <a:r>
              <a:rPr lang="en-US" sz="20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공유 후 금지</a:t>
            </a:r>
            <a:endParaRPr lang="en-US" sz="2025" dirty="0"/>
          </a:p>
        </p:txBody>
      </p:sp>
      <p:sp>
        <p:nvSpPr>
          <p:cNvPr id="14" name="Text 4"/>
          <p:cNvSpPr/>
          <p:nvPr/>
        </p:nvSpPr>
        <p:spPr>
          <a:xfrm>
            <a:off x="6467475" y="2209800"/>
            <a:ext cx="216027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0"/>
              </a:lnSpc>
              <a:buNone/>
            </a:pPr>
            <a:r>
              <a:rPr lang="en-US" sz="20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수명 및 정리</a:t>
            </a:r>
            <a:endParaRPr lang="en-US" sz="2025" dirty="0"/>
          </a:p>
        </p:txBody>
      </p:sp>
      <p:sp>
        <p:nvSpPr>
          <p:cNvPr id="15" name="Text 5"/>
          <p:cNvSpPr/>
          <p:nvPr/>
        </p:nvSpPr>
        <p:spPr>
          <a:xfrm>
            <a:off x="9344025" y="2209800"/>
            <a:ext cx="2468880" cy="3059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0"/>
              </a:lnSpc>
              <a:buNone/>
            </a:pPr>
            <a:r>
              <a:rPr lang="en-US" sz="20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정책 문서화</a:t>
            </a:r>
            <a:endParaRPr lang="en-US" sz="2025" dirty="0"/>
          </a:p>
        </p:txBody>
      </p:sp>
      <p:sp>
        <p:nvSpPr>
          <p:cNvPr id="16" name="Text 6"/>
          <p:cNvSpPr/>
          <p:nvPr/>
        </p:nvSpPr>
        <p:spPr>
          <a:xfrm>
            <a:off x="771525" y="2657475"/>
            <a:ext cx="2535436" cy="12002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팀 공유 브랜치 (main,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develop): merge 사용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(이력 보존)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개인 기능 브랜치 (공유 전):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rebase 사용 (이력 정리)</a:t>
            </a:r>
            <a:endParaRPr lang="en-US" sz="1575" dirty="0"/>
          </a:p>
        </p:txBody>
      </p:sp>
      <p:sp>
        <p:nvSpPr>
          <p:cNvPr id="17" name="Text 7"/>
          <p:cNvSpPr/>
          <p:nvPr/>
        </p:nvSpPr>
        <p:spPr>
          <a:xfrm>
            <a:off x="3581400" y="2657475"/>
            <a:ext cx="2367855" cy="120029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팀원과 공유된 브랜치: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rebase + force push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절대 금지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협업 기준점 봉쇄 및 충돌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유발</a:t>
            </a:r>
            <a:endParaRPr lang="en-US" sz="1575" dirty="0"/>
          </a:p>
        </p:txBody>
      </p:sp>
      <p:sp>
        <p:nvSpPr>
          <p:cNvPr id="18" name="Text 8"/>
          <p:cNvSpPr/>
          <p:nvPr/>
        </p:nvSpPr>
        <p:spPr>
          <a:xfrm>
            <a:off x="6467475" y="2657475"/>
            <a:ext cx="2388840" cy="14403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단명 브랜치 권장 (오래된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브랜치는 merge 비용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급증)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정리 기준: 병합 후 즉시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삭제, 2주 이상 비활성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90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정리 정책</a:t>
            </a:r>
            <a:endParaRPr lang="en-US" sz="1575" dirty="0"/>
          </a:p>
        </p:txBody>
      </p:sp>
      <p:sp>
        <p:nvSpPr>
          <p:cNvPr id="19" name="Text 9"/>
          <p:cNvSpPr/>
          <p:nvPr/>
        </p:nvSpPr>
        <p:spPr>
          <a:xfrm>
            <a:off x="9344025" y="2657475"/>
            <a:ext cx="2043113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팀 정책으로 기준 합의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(초보자 고려)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merge 기본 전략 및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예외적 rebase 허용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문서화</a:t>
            </a:r>
            <a:endParaRPr lang="en-US" sz="1500" dirty="0"/>
          </a:p>
        </p:txBody>
      </p:sp>
      <p:sp>
        <p:nvSpPr>
          <p:cNvPr id="20" name="Text 10"/>
          <p:cNvSpPr/>
          <p:nvPr/>
        </p:nvSpPr>
        <p:spPr>
          <a:xfrm>
            <a:off x="10820400" y="180975"/>
            <a:ext cx="1131540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471" y="4992588"/>
            <a:ext cx="731490" cy="733723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471" y="3984427"/>
            <a:ext cx="731490" cy="63772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471" y="2955727"/>
            <a:ext cx="719286" cy="63088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067" y="5013127"/>
            <a:ext cx="719286" cy="69264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196" y="3977580"/>
            <a:ext cx="755898" cy="671959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584" y="2976265"/>
            <a:ext cx="780157" cy="658267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52425" y="742950"/>
            <a:ext cx="10629900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70"/>
              </a:lnSpc>
              <a:buNone/>
            </a:pPr>
            <a:r>
              <a:rPr lang="en-US" sz="22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효율적이고 충돌 없는 협업을 위한 핵심 브랜치 운영 전략</a:t>
            </a:r>
            <a:endParaRPr lang="en-US" sz="2250" dirty="0"/>
          </a:p>
        </p:txBody>
      </p:sp>
      <p:sp>
        <p:nvSpPr>
          <p:cNvPr id="13" name="Text 1"/>
          <p:cNvSpPr/>
          <p:nvPr/>
        </p:nvSpPr>
        <p:spPr>
          <a:xfrm>
            <a:off x="1752600" y="2990850"/>
            <a:ext cx="1021842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2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명확한 목적 명시: prefix 활용 (feature/, fix/, hotfix/)</a:t>
            </a:r>
            <a:endParaRPr lang="en-US" sz="1350" dirty="0"/>
          </a:p>
        </p:txBody>
      </p:sp>
      <p:sp>
        <p:nvSpPr>
          <p:cNvPr id="14" name="Text 2"/>
          <p:cNvSpPr/>
          <p:nvPr/>
        </p:nvSpPr>
        <p:spPr>
          <a:xfrm>
            <a:off x="1752600" y="4019550"/>
            <a:ext cx="727329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짧은 수명 브랜치: main과의 차이 최소화</a:t>
            </a:r>
            <a:endParaRPr lang="en-US" sz="1725" dirty="0"/>
          </a:p>
        </p:txBody>
      </p:sp>
      <p:sp>
        <p:nvSpPr>
          <p:cNvPr id="15" name="Text 3"/>
          <p:cNvSpPr/>
          <p:nvPr/>
        </p:nvSpPr>
        <p:spPr>
          <a:xfrm>
            <a:off x="1752600" y="5095875"/>
            <a:ext cx="569595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팀 전체 합의: 일관된 규칙 수립</a:t>
            </a:r>
            <a:endParaRPr lang="en-US" sz="1725" dirty="0"/>
          </a:p>
        </p:txBody>
      </p:sp>
      <p:sp>
        <p:nvSpPr>
          <p:cNvPr id="16" name="Text 4"/>
          <p:cNvSpPr/>
          <p:nvPr/>
        </p:nvSpPr>
        <p:spPr>
          <a:xfrm>
            <a:off x="7620000" y="2990850"/>
            <a:ext cx="457200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병합 전 동기화: fetch로 원격 변경 확인</a:t>
            </a:r>
            <a:endParaRPr lang="en-US" sz="1725" dirty="0"/>
          </a:p>
        </p:txBody>
      </p:sp>
      <p:sp>
        <p:nvSpPr>
          <p:cNvPr id="17" name="Text 5"/>
          <p:cNvSpPr/>
          <p:nvPr/>
        </p:nvSpPr>
        <p:spPr>
          <a:xfrm>
            <a:off x="7620000" y="3924300"/>
            <a:ext cx="4572000" cy="2981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7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상태 점검: git branch -vv 활용</a:t>
            </a:r>
            <a:endParaRPr lang="en-US" sz="1575" dirty="0"/>
          </a:p>
        </p:txBody>
      </p:sp>
      <p:sp>
        <p:nvSpPr>
          <p:cNvPr id="18" name="Text 6"/>
          <p:cNvSpPr/>
          <p:nvPr/>
        </p:nvSpPr>
        <p:spPr>
          <a:xfrm>
            <a:off x="7620000" y="5067300"/>
            <a:ext cx="457200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명확한 병합 기준: 충돌 비용 최소화</a:t>
            </a:r>
            <a:endParaRPr lang="en-US" sz="1725" dirty="0"/>
          </a:p>
        </p:txBody>
      </p:sp>
      <p:sp>
        <p:nvSpPr>
          <p:cNvPr id="19" name="Text 7"/>
          <p:cNvSpPr/>
          <p:nvPr/>
        </p:nvSpPr>
        <p:spPr>
          <a:xfrm>
            <a:off x="2140744" y="2314575"/>
            <a:ext cx="2147888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77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원칙 및 명명 전략</a:t>
            </a:r>
            <a:endParaRPr lang="en-US" sz="1725" dirty="0"/>
          </a:p>
        </p:txBody>
      </p:sp>
      <p:sp>
        <p:nvSpPr>
          <p:cNvPr id="20" name="Text 8"/>
          <p:cNvSpPr/>
          <p:nvPr/>
        </p:nvSpPr>
        <p:spPr>
          <a:xfrm>
            <a:off x="7906196" y="2314575"/>
            <a:ext cx="2084933" cy="2891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77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프로세스 및 검증</a:t>
            </a:r>
            <a:endParaRPr lang="en-US" sz="1725" dirty="0"/>
          </a:p>
        </p:txBody>
      </p:sp>
      <p:sp>
        <p:nvSpPr>
          <p:cNvPr id="21" name="Text 9"/>
          <p:cNvSpPr/>
          <p:nvPr/>
        </p:nvSpPr>
        <p:spPr>
          <a:xfrm>
            <a:off x="1933575" y="3343275"/>
            <a:ext cx="365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즉시 파악 및 관리 용이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1933575" y="4371975"/>
            <a:ext cx="411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대규모 충돌 방지 및 신속한 통합</a:t>
            </a:r>
            <a:endParaRPr lang="en-US" sz="1500" dirty="0"/>
          </a:p>
        </p:txBody>
      </p:sp>
      <p:sp>
        <p:nvSpPr>
          <p:cNvPr id="23" name="Text 11"/>
          <p:cNvSpPr/>
          <p:nvPr/>
        </p:nvSpPr>
        <p:spPr>
          <a:xfrm>
            <a:off x="1933575" y="5448300"/>
            <a:ext cx="365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검색성 및 추적성 동시에 향상</a:t>
            </a:r>
            <a:endParaRPr lang="en-US" sz="1500" dirty="0"/>
          </a:p>
        </p:txBody>
      </p:sp>
      <p:sp>
        <p:nvSpPr>
          <p:cNvPr id="24" name="Text 12"/>
          <p:cNvSpPr/>
          <p:nvPr/>
        </p:nvSpPr>
        <p:spPr>
          <a:xfrm>
            <a:off x="7839075" y="3343275"/>
            <a:ext cx="365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fetch origin</a:t>
            </a:r>
            <a:endParaRPr lang="en-US" sz="1500" dirty="0"/>
          </a:p>
        </p:txBody>
      </p:sp>
      <p:sp>
        <p:nvSpPr>
          <p:cNvPr id="25" name="Text 13"/>
          <p:cNvSpPr/>
          <p:nvPr/>
        </p:nvSpPr>
        <p:spPr>
          <a:xfrm>
            <a:off x="7839075" y="3943350"/>
            <a:ext cx="3040380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10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branch -vv</a:t>
            </a:r>
            <a:endParaRPr lang="en-US" sz="1425" dirty="0"/>
          </a:p>
        </p:txBody>
      </p:sp>
      <p:sp>
        <p:nvSpPr>
          <p:cNvPr id="26" name="Text 14"/>
          <p:cNvSpPr/>
          <p:nvPr/>
        </p:nvSpPr>
        <p:spPr>
          <a:xfrm>
            <a:off x="7839075" y="5448300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목적·수명·기준 삼박자 충족</a:t>
            </a:r>
            <a:endParaRPr lang="en-US" sz="1500" dirty="0"/>
          </a:p>
        </p:txBody>
      </p:sp>
      <p:sp>
        <p:nvSpPr>
          <p:cNvPr id="27" name="Text 15"/>
          <p:cNvSpPr/>
          <p:nvPr/>
        </p:nvSpPr>
        <p:spPr>
          <a:xfrm>
            <a:off x="9305925" y="3343275"/>
            <a:ext cx="228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습관화로 충돌 감지</a:t>
            </a:r>
            <a:endParaRPr lang="en-US" sz="1500" dirty="0"/>
          </a:p>
        </p:txBody>
      </p:sp>
      <p:sp>
        <p:nvSpPr>
          <p:cNvPr id="28" name="Text 16"/>
          <p:cNvSpPr/>
          <p:nvPr/>
        </p:nvSpPr>
        <p:spPr>
          <a:xfrm>
            <a:off x="7839075" y="4467225"/>
            <a:ext cx="43529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로컬-원격 추적 브랜치 관계 및 동기화 상태 파악</a:t>
            </a:r>
            <a:endParaRPr lang="en-US" sz="1500" dirty="0"/>
          </a:p>
        </p:txBody>
      </p:sp>
      <p:sp>
        <p:nvSpPr>
          <p:cNvPr id="29" name="Text 17"/>
          <p:cNvSpPr/>
          <p:nvPr/>
        </p:nvSpPr>
        <p:spPr>
          <a:xfrm>
            <a:off x="10953750" y="171450"/>
            <a:ext cx="984796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40"/>
              </a:lnSpc>
              <a:buNone/>
            </a:pPr>
            <a:r>
              <a:rPr lang="en-US" sz="1050" b="1" i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040"/>
              </a:lnSpc>
              <a:buNone/>
            </a:pPr>
            <a:r>
              <a:rPr lang="en-US" sz="1050" b="1" i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040"/>
              </a:lnSpc>
              <a:buNone/>
            </a:pPr>
            <a:r>
              <a:rPr lang="en-US" sz="1050" b="1" i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050" dirty="0"/>
          </a:p>
        </p:txBody>
      </p:sp>
      <p:sp>
        <p:nvSpPr>
          <p:cNvPr id="30" name="Text 18"/>
          <p:cNvSpPr/>
          <p:nvPr/>
        </p:nvSpPr>
        <p:spPr>
          <a:xfrm>
            <a:off x="466725" y="6638925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31" name="Text 19"/>
          <p:cNvSpPr/>
          <p:nvPr/>
        </p:nvSpPr>
        <p:spPr>
          <a:xfrm>
            <a:off x="7477125" y="257175"/>
            <a:ext cx="4714875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CH04 GitLab 보딩 강의 — 브랜치 전략 및 동기화 결정</a:t>
            </a:r>
            <a:endParaRPr lang="en-US" sz="1125" dirty="0"/>
          </a:p>
        </p:txBody>
      </p:sp>
      <p:sp>
        <p:nvSpPr>
          <p:cNvPr id="32" name="Text 20"/>
          <p:cNvSpPr/>
          <p:nvPr/>
        </p:nvSpPr>
        <p:spPr>
          <a:xfrm>
            <a:off x="10146506" y="6638925"/>
            <a:ext cx="36671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34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834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834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600" dirty="0"/>
          </a:p>
        </p:txBody>
      </p:sp>
      <p:sp>
        <p:nvSpPr>
          <p:cNvPr id="33" name="Text 21"/>
          <p:cNvSpPr/>
          <p:nvPr/>
        </p:nvSpPr>
        <p:spPr>
          <a:xfrm>
            <a:off x="10717411" y="6638925"/>
            <a:ext cx="5866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4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114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4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OLED</a:t>
            </a:r>
            <a:endParaRPr lang="en-US" sz="825" dirty="0"/>
          </a:p>
        </p:txBody>
      </p:sp>
      <p:sp>
        <p:nvSpPr>
          <p:cNvPr id="34" name="Text 22"/>
          <p:cNvSpPr/>
          <p:nvPr/>
        </p:nvSpPr>
        <p:spPr>
          <a:xfrm>
            <a:off x="5870674" y="6705600"/>
            <a:ext cx="55527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3"/>
              </a:lnSpc>
              <a:buNone/>
            </a:pPr>
            <a:r>
              <a:rPr lang="en-US" sz="75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9017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4157" y="6645325"/>
            <a:ext cx="268188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098" y="1604665"/>
            <a:ext cx="11216580" cy="4183261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71450"/>
            <a:ext cx="8938260" cy="3692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7"/>
              </a:lnSpc>
              <a:buNone/>
            </a:pPr>
            <a:r>
              <a:rPr lang="en-US" sz="25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흐름: branch 생성과 병렬 작업</a:t>
            </a:r>
            <a:endParaRPr lang="en-US" sz="2550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2777490" cy="311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50"/>
              </a:lnSpc>
              <a:buNone/>
            </a:pPr>
            <a:r>
              <a:rPr lang="en-US" sz="202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실습 절차</a:t>
            </a:r>
            <a:endParaRPr lang="en-US" sz="2025" dirty="0"/>
          </a:p>
        </p:txBody>
      </p:sp>
      <p:sp>
        <p:nvSpPr>
          <p:cNvPr id="9" name="Text 2"/>
          <p:cNvSpPr/>
          <p:nvPr/>
        </p:nvSpPr>
        <p:spPr>
          <a:xfrm>
            <a:off x="10106025" y="190500"/>
            <a:ext cx="1969740" cy="579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2282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2282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2282"/>
              </a:lnSpc>
              <a:buNone/>
            </a:pPr>
            <a:r>
              <a:rPr lang="en-US" sz="13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350" dirty="0"/>
          </a:p>
        </p:txBody>
      </p:sp>
      <p:sp>
        <p:nvSpPr>
          <p:cNvPr id="10" name="Text 3"/>
          <p:cNvSpPr/>
          <p:nvPr/>
        </p:nvSpPr>
        <p:spPr>
          <a:xfrm>
            <a:off x="5810696" y="6705600"/>
            <a:ext cx="618083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1"/>
              </a:lnSpc>
              <a:buNone/>
            </a:pPr>
            <a:r>
              <a:rPr lang="en-US" sz="90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71" y="5253186"/>
            <a:ext cx="10838687" cy="116370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71" y="5253186"/>
            <a:ext cx="2453164" cy="29081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3634" y="5253186"/>
            <a:ext cx="3932235" cy="29081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5869" y="5253186"/>
            <a:ext cx="4453289" cy="29081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71" y="5544003"/>
            <a:ext cx="2453164" cy="290964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3634" y="5544003"/>
            <a:ext cx="3932235" cy="290964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5869" y="5544003"/>
            <a:ext cx="4453289" cy="29096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471" y="5834967"/>
            <a:ext cx="2453164" cy="29096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23634" y="5834967"/>
            <a:ext cx="3932235" cy="290964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5869" y="5834967"/>
            <a:ext cx="4453289" cy="290964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0471" y="6125931"/>
            <a:ext cx="2453164" cy="290964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23634" y="6125931"/>
            <a:ext cx="3932235" cy="290964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5869" y="6125931"/>
            <a:ext cx="4453289" cy="290964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55796" y="6659017"/>
            <a:ext cx="304800" cy="191988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59067" y="3298627"/>
            <a:ext cx="1036290" cy="111085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3694" y="3559225"/>
            <a:ext cx="902196" cy="404515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670471" y="5253186"/>
            <a:ext cx="2453164" cy="2908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비교 항목</a:t>
            </a:r>
            <a:endParaRPr lang="en-US" sz="1200" dirty="0"/>
          </a:p>
        </p:txBody>
      </p:sp>
      <p:sp>
        <p:nvSpPr>
          <p:cNvPr id="22" name="Text 1"/>
          <p:cNvSpPr/>
          <p:nvPr/>
        </p:nvSpPr>
        <p:spPr>
          <a:xfrm>
            <a:off x="3123634" y="5253186"/>
            <a:ext cx="3932235" cy="2908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Merge 방식</a:t>
            </a:r>
            <a:endParaRPr lang="en-US" sz="1200" dirty="0"/>
          </a:p>
        </p:txBody>
      </p:sp>
      <p:sp>
        <p:nvSpPr>
          <p:cNvPr id="23" name="Text 2"/>
          <p:cNvSpPr/>
          <p:nvPr/>
        </p:nvSpPr>
        <p:spPr>
          <a:xfrm>
            <a:off x="7055869" y="5253186"/>
            <a:ext cx="4453289" cy="29081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Rebase 방식</a:t>
            </a:r>
            <a:endParaRPr lang="en-US" sz="1200" dirty="0"/>
          </a:p>
        </p:txBody>
      </p:sp>
      <p:sp>
        <p:nvSpPr>
          <p:cNvPr id="24" name="Text 3"/>
          <p:cNvSpPr/>
          <p:nvPr/>
        </p:nvSpPr>
        <p:spPr>
          <a:xfrm>
            <a:off x="670471" y="5544003"/>
            <a:ext cx="2453164" cy="29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충돌 발생 시점 및 처리</a:t>
            </a:r>
            <a:endParaRPr lang="en-US" sz="1200" dirty="0"/>
          </a:p>
        </p:txBody>
      </p:sp>
      <p:sp>
        <p:nvSpPr>
          <p:cNvPr id="25" name="Text 4"/>
          <p:cNvSpPr/>
          <p:nvPr/>
        </p:nvSpPr>
        <p:spPr>
          <a:xfrm>
            <a:off x="3123634" y="5544003"/>
            <a:ext cx="3932235" cy="29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1회 발생, 한꺼번에 해결</a:t>
            </a:r>
            <a:endParaRPr lang="en-US" sz="1200" dirty="0"/>
          </a:p>
        </p:txBody>
      </p:sp>
      <p:sp>
        <p:nvSpPr>
          <p:cNvPr id="26" name="Text 5"/>
          <p:cNvSpPr/>
          <p:nvPr/>
        </p:nvSpPr>
        <p:spPr>
          <a:xfrm>
            <a:off x="7055869" y="5544003"/>
            <a:ext cx="4453289" cy="29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커밋 단위로 반복 발생 가능</a:t>
            </a:r>
            <a:endParaRPr lang="en-US" sz="1200" dirty="0"/>
          </a:p>
        </p:txBody>
      </p:sp>
      <p:sp>
        <p:nvSpPr>
          <p:cNvPr id="27" name="Text 6"/>
          <p:cNvSpPr/>
          <p:nvPr/>
        </p:nvSpPr>
        <p:spPr>
          <a:xfrm>
            <a:off x="670471" y="5834967"/>
            <a:ext cx="2453164" cy="29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Push 후 이력 영향</a:t>
            </a:r>
            <a:endParaRPr lang="en-US" sz="1200" dirty="0"/>
          </a:p>
        </p:txBody>
      </p:sp>
      <p:sp>
        <p:nvSpPr>
          <p:cNvPr id="28" name="Text 7"/>
          <p:cNvSpPr/>
          <p:nvPr/>
        </p:nvSpPr>
        <p:spPr>
          <a:xfrm>
            <a:off x="3123634" y="5834967"/>
            <a:ext cx="3932235" cy="29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공유 브랜치에 안전, 일반 push 가능</a:t>
            </a:r>
            <a:endParaRPr lang="en-US" sz="1200" dirty="0"/>
          </a:p>
        </p:txBody>
      </p:sp>
      <p:sp>
        <p:nvSpPr>
          <p:cNvPr id="29" name="Text 8"/>
          <p:cNvSpPr/>
          <p:nvPr/>
        </p:nvSpPr>
        <p:spPr>
          <a:xfrm>
            <a:off x="7055869" y="5834967"/>
            <a:ext cx="4453289" cy="29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공유 브랜치에 위험, force push 필요</a:t>
            </a:r>
            <a:endParaRPr lang="en-US" sz="1200" dirty="0"/>
          </a:p>
        </p:txBody>
      </p:sp>
      <p:sp>
        <p:nvSpPr>
          <p:cNvPr id="30" name="Text 9"/>
          <p:cNvSpPr/>
          <p:nvPr/>
        </p:nvSpPr>
        <p:spPr>
          <a:xfrm>
            <a:off x="670471" y="6125931"/>
            <a:ext cx="2453164" cy="29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권장 상황</a:t>
            </a:r>
            <a:endParaRPr lang="en-US" sz="1200" dirty="0"/>
          </a:p>
        </p:txBody>
      </p:sp>
      <p:sp>
        <p:nvSpPr>
          <p:cNvPr id="31" name="Text 10"/>
          <p:cNvSpPr/>
          <p:nvPr/>
        </p:nvSpPr>
        <p:spPr>
          <a:xfrm>
            <a:off x="3123634" y="6125931"/>
            <a:ext cx="3932235" cy="29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공유 브랜치 동기화, feature 병합</a:t>
            </a:r>
            <a:endParaRPr lang="en-US" sz="1200" dirty="0"/>
          </a:p>
        </p:txBody>
      </p:sp>
      <p:sp>
        <p:nvSpPr>
          <p:cNvPr id="32" name="Text 11"/>
          <p:cNvSpPr/>
          <p:nvPr/>
        </p:nvSpPr>
        <p:spPr>
          <a:xfrm>
            <a:off x="7055869" y="6125931"/>
            <a:ext cx="4453289" cy="29096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개인 기능 브랜치 커밋 정리 (깔끔한 이력)</a:t>
            </a:r>
            <a:endParaRPr lang="en-US" sz="1200" dirty="0"/>
          </a:p>
        </p:txBody>
      </p:sp>
      <p:sp>
        <p:nvSpPr>
          <p:cNvPr id="33" name="Text 12"/>
          <p:cNvSpPr/>
          <p:nvPr/>
        </p:nvSpPr>
        <p:spPr>
          <a:xfrm>
            <a:off x="228600" y="133350"/>
            <a:ext cx="11963400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25"/>
              </a:lnSpc>
              <a:buNone/>
            </a:pPr>
            <a:r>
              <a:rPr lang="en-US" sz="2250" b="1" dirty="0">
                <a:solidFill>
                  <a:srgbClr val="000000"/>
                </a:solidFill>
              </a:rPr>
              <a:t>merge 방식 sync vs rebase 방식 sync / Comparison of sync methods</a:t>
            </a:r>
            <a:endParaRPr lang="en-US" sz="2250" dirty="0"/>
          </a:p>
        </p:txBody>
      </p:sp>
      <p:sp>
        <p:nvSpPr>
          <p:cNvPr id="34" name="Text 13"/>
          <p:cNvSpPr/>
          <p:nvPr/>
        </p:nvSpPr>
        <p:spPr>
          <a:xfrm>
            <a:off x="352425" y="742950"/>
            <a:ext cx="11839575" cy="357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15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명령 흐름과 이력 관리 비교 / Command Flow &amp; History Management</a:t>
            </a:r>
            <a:endParaRPr lang="en-US" sz="2025" dirty="0"/>
          </a:p>
        </p:txBody>
      </p:sp>
      <p:sp>
        <p:nvSpPr>
          <p:cNvPr id="35" name="Text 14"/>
          <p:cNvSpPr/>
          <p:nvPr/>
        </p:nvSpPr>
        <p:spPr>
          <a:xfrm>
            <a:off x="2749302" y="4924425"/>
            <a:ext cx="6569273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76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상세 비교 &amp; 실습 결론 / Detailed Comparison &amp; Conclusion</a:t>
            </a:r>
            <a:endParaRPr lang="en-US" sz="1650" dirty="0"/>
          </a:p>
        </p:txBody>
      </p:sp>
      <p:sp>
        <p:nvSpPr>
          <p:cNvPr id="36" name="Text 15"/>
          <p:cNvSpPr/>
          <p:nvPr/>
        </p:nvSpPr>
        <p:spPr>
          <a:xfrm>
            <a:off x="2295525" y="2847975"/>
            <a:ext cx="2724150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4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MERGE 방식 / Merge Method</a:t>
            </a:r>
            <a:endParaRPr lang="en-US" sz="1275" dirty="0"/>
          </a:p>
        </p:txBody>
      </p:sp>
      <p:sp>
        <p:nvSpPr>
          <p:cNvPr id="37" name="Text 16"/>
          <p:cNvSpPr/>
          <p:nvPr/>
        </p:nvSpPr>
        <p:spPr>
          <a:xfrm>
            <a:off x="8386763" y="2847975"/>
            <a:ext cx="2828925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4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REBASE 방식 / Rebase Method</a:t>
            </a:r>
            <a:endParaRPr lang="en-US" sz="1275" dirty="0"/>
          </a:p>
        </p:txBody>
      </p:sp>
      <p:sp>
        <p:nvSpPr>
          <p:cNvPr id="38" name="Text 17"/>
          <p:cNvSpPr/>
          <p:nvPr/>
        </p:nvSpPr>
        <p:spPr>
          <a:xfrm>
            <a:off x="4207073" y="2085975"/>
            <a:ext cx="3625155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주요 특징 비교 / Key Comparison</a:t>
            </a:r>
            <a:endParaRPr lang="en-US" sz="1500" dirty="0"/>
          </a:p>
        </p:txBody>
      </p:sp>
      <p:sp>
        <p:nvSpPr>
          <p:cNvPr id="39" name="Text 18"/>
          <p:cNvSpPr/>
          <p:nvPr/>
        </p:nvSpPr>
        <p:spPr>
          <a:xfrm>
            <a:off x="5813971" y="1724025"/>
            <a:ext cx="544711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TITLE</a:t>
            </a:r>
            <a:endParaRPr lang="en-US" sz="1200" dirty="0"/>
          </a:p>
        </p:txBody>
      </p:sp>
      <p:sp>
        <p:nvSpPr>
          <p:cNvPr id="40" name="Text 19"/>
          <p:cNvSpPr/>
          <p:nvPr/>
        </p:nvSpPr>
        <p:spPr>
          <a:xfrm>
            <a:off x="2286893" y="3257550"/>
            <a:ext cx="2912715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 fetch 후 merge 실행</a:t>
            </a:r>
            <a:pPr algn="ctr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(예: git merge origin/main)</a:t>
            </a:r>
            <a:endParaRPr lang="en-US" sz="1275" dirty="0"/>
          </a:p>
        </p:txBody>
      </p:sp>
      <p:sp>
        <p:nvSpPr>
          <p:cNvPr id="41" name="Text 20"/>
          <p:cNvSpPr/>
          <p:nvPr/>
        </p:nvSpPr>
        <p:spPr>
          <a:xfrm>
            <a:off x="8648700" y="3257550"/>
            <a:ext cx="2514600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git fetch 후 rebase 실행</a:t>
            </a:r>
            <a:pPr algn="ctr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(예: git rebase origin/main)</a:t>
            </a:r>
            <a:endParaRPr lang="en-US" sz="1275" dirty="0"/>
          </a:p>
        </p:txBody>
      </p:sp>
      <p:sp>
        <p:nvSpPr>
          <p:cNvPr id="42" name="Text 21"/>
          <p:cNvSpPr/>
          <p:nvPr/>
        </p:nvSpPr>
        <p:spPr>
          <a:xfrm>
            <a:off x="2801689" y="4000500"/>
            <a:ext cx="227349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2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별도 merge commit 생성</a:t>
            </a:r>
            <a:endParaRPr lang="en-US" sz="1275" dirty="0"/>
          </a:p>
        </p:txBody>
      </p:sp>
      <p:sp>
        <p:nvSpPr>
          <p:cNvPr id="43" name="Text 22"/>
          <p:cNvSpPr/>
          <p:nvPr/>
        </p:nvSpPr>
        <p:spPr>
          <a:xfrm>
            <a:off x="8877746" y="4000500"/>
            <a:ext cx="2084933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2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커밋 재배치 &amp; SHA 변경</a:t>
            </a:r>
            <a:endParaRPr lang="en-US" sz="1275" dirty="0"/>
          </a:p>
        </p:txBody>
      </p:sp>
      <p:sp>
        <p:nvSpPr>
          <p:cNvPr id="44" name="Text 23"/>
          <p:cNvSpPr/>
          <p:nvPr/>
        </p:nvSpPr>
        <p:spPr>
          <a:xfrm>
            <a:off x="813346" y="4019550"/>
            <a:ext cx="754261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세 병합 커밋</a:t>
            </a:r>
            <a:endParaRPr lang="en-US" sz="1125" dirty="0"/>
          </a:p>
        </p:txBody>
      </p:sp>
      <p:sp>
        <p:nvSpPr>
          <p:cNvPr id="45" name="Text 24"/>
          <p:cNvSpPr/>
          <p:nvPr/>
        </p:nvSpPr>
        <p:spPr>
          <a:xfrm>
            <a:off x="10903148" y="190500"/>
            <a:ext cx="1110555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D9042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You Dream,</a:t>
            </a:r>
            <a:pPr algn="ct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D9042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D90429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9017"/>
            <a:ext cx="292596" cy="18514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1867" y="5019973"/>
            <a:ext cx="560784" cy="56911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2275" y="5054203"/>
            <a:ext cx="524173" cy="50735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890" y="2770584"/>
            <a:ext cx="743694" cy="52804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84055" y="4457700"/>
            <a:ext cx="2999184" cy="1357759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2196" y="4512469"/>
            <a:ext cx="2755255" cy="124122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03984" y="2804815"/>
            <a:ext cx="585192" cy="51435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38125" y="171450"/>
            <a:ext cx="6515100" cy="3400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페이지 제목 / Page title</a:t>
            </a:r>
            <a:endParaRPr lang="en-US" sz="2250" dirty="0"/>
          </a:p>
        </p:txBody>
      </p:sp>
      <p:sp>
        <p:nvSpPr>
          <p:cNvPr id="13" name="Text 1"/>
          <p:cNvSpPr/>
          <p:nvPr/>
        </p:nvSpPr>
        <p:spPr>
          <a:xfrm>
            <a:off x="352425" y="781050"/>
            <a:ext cx="9670703" cy="7372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시나리오: rebase 후 push 거부 및 오래된 feature 브랜치 /</a:t>
            </a:r>
            <a:pPr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failure scenario: rebase 후 push 실패와 오래된 feature branch</a:t>
            </a:r>
            <a:endParaRPr lang="en-US" sz="2250" dirty="0"/>
          </a:p>
        </p:txBody>
      </p:sp>
      <p:sp>
        <p:nvSpPr>
          <p:cNvPr id="14" name="Text 2"/>
          <p:cNvSpPr/>
          <p:nvPr/>
        </p:nvSpPr>
        <p:spPr>
          <a:xfrm>
            <a:off x="762000" y="2933700"/>
            <a:ext cx="420624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push 실패 (SHA 변경)</a:t>
            </a:r>
            <a:endParaRPr lang="en-US" sz="1725" dirty="0"/>
          </a:p>
        </p:txBody>
      </p:sp>
      <p:sp>
        <p:nvSpPr>
          <p:cNvPr id="15" name="Text 3"/>
          <p:cNvSpPr/>
          <p:nvPr/>
        </p:nvSpPr>
        <p:spPr>
          <a:xfrm>
            <a:off x="4572000" y="2933700"/>
            <a:ext cx="394335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오래된 브랜치 (누적 격차)</a:t>
            </a:r>
            <a:endParaRPr lang="en-US" sz="1725" dirty="0"/>
          </a:p>
        </p:txBody>
      </p:sp>
      <p:sp>
        <p:nvSpPr>
          <p:cNvPr id="16" name="Text 4"/>
          <p:cNvSpPr/>
          <p:nvPr/>
        </p:nvSpPr>
        <p:spPr>
          <a:xfrm>
            <a:off x="8372475" y="2933700"/>
            <a:ext cx="368046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안전한 협업 및 대응 원칙</a:t>
            </a:r>
            <a:endParaRPr lang="en-US" sz="1725" dirty="0"/>
          </a:p>
        </p:txBody>
      </p:sp>
      <p:sp>
        <p:nvSpPr>
          <p:cNvPr id="17" name="Text 5"/>
          <p:cNvSpPr/>
          <p:nvPr/>
        </p:nvSpPr>
        <p:spPr>
          <a:xfrm>
            <a:off x="5403056" y="2085975"/>
            <a:ext cx="141446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 및 대응 원칙</a:t>
            </a:r>
            <a:endParaRPr lang="en-US" sz="1500" dirty="0"/>
          </a:p>
        </p:txBody>
      </p:sp>
      <p:sp>
        <p:nvSpPr>
          <p:cNvPr id="18" name="Text 6"/>
          <p:cNvSpPr/>
          <p:nvPr/>
        </p:nvSpPr>
        <p:spPr>
          <a:xfrm>
            <a:off x="771525" y="3486150"/>
            <a:ext cx="33528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커밋 ID 변경으로 로컬과 원격 이력 충돌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발생</a:t>
            </a:r>
            <a:endParaRPr lang="en-US" sz="1500" dirty="0"/>
          </a:p>
        </p:txBody>
      </p:sp>
      <p:sp>
        <p:nvSpPr>
          <p:cNvPr id="19" name="Text 7"/>
          <p:cNvSpPr/>
          <p:nvPr/>
        </p:nvSpPr>
        <p:spPr>
          <a:xfrm>
            <a:off x="771525" y="3990975"/>
            <a:ext cx="66294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거부 메시지: non-fast-forward 오류</a:t>
            </a:r>
            <a:endParaRPr lang="en-US" sz="1500" dirty="0"/>
          </a:p>
        </p:txBody>
      </p:sp>
      <p:sp>
        <p:nvSpPr>
          <p:cNvPr id="20" name="Text 8"/>
          <p:cNvSpPr/>
          <p:nvPr/>
        </p:nvSpPr>
        <p:spPr>
          <a:xfrm>
            <a:off x="4572000" y="3486150"/>
            <a:ext cx="5715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오래된 브랜치는 main과 격차 누적 위험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4572000" y="3800475"/>
            <a:ext cx="57150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브랜치 수명이 길수록 충돌 해결 비용 급증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8372475" y="3486150"/>
            <a:ext cx="315366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안전한 동기화 순서: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fetch → merge origin/main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force push는 공유 브랜치에서 금지</a:t>
            </a:r>
            <a:endParaRPr lang="en-US" sz="1500" dirty="0"/>
          </a:p>
        </p:txBody>
      </p:sp>
      <p:sp>
        <p:nvSpPr>
          <p:cNvPr id="23" name="Text 11"/>
          <p:cNvSpPr/>
          <p:nvPr/>
        </p:nvSpPr>
        <p:spPr>
          <a:xfrm>
            <a:off x="8372475" y="4333875"/>
            <a:ext cx="2546003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공유 브랜치는 merge 우선,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rebase는 개인 브랜치로 제한</a:t>
            </a:r>
            <a:endParaRPr lang="en-US" sz="1500" dirty="0"/>
          </a:p>
        </p:txBody>
      </p:sp>
      <p:sp>
        <p:nvSpPr>
          <p:cNvPr id="24" name="Text 12"/>
          <p:cNvSpPr/>
          <p:nvPr/>
        </p:nvSpPr>
        <p:spPr>
          <a:xfrm>
            <a:off x="8580983" y="5629275"/>
            <a:ext cx="1278136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Preferred</a:t>
            </a:r>
            <a:endParaRPr lang="en-US" sz="1125" dirty="0"/>
          </a:p>
        </p:txBody>
      </p:sp>
      <p:sp>
        <p:nvSpPr>
          <p:cNvPr id="25" name="Text 13"/>
          <p:cNvSpPr/>
          <p:nvPr/>
        </p:nvSpPr>
        <p:spPr>
          <a:xfrm>
            <a:off x="9907339" y="5629275"/>
            <a:ext cx="1644848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Prohibited Force Push</a:t>
            </a:r>
            <a:endParaRPr lang="en-US" sz="1050" dirty="0"/>
          </a:p>
        </p:txBody>
      </p:sp>
      <p:sp>
        <p:nvSpPr>
          <p:cNvPr id="26" name="Text 14"/>
          <p:cNvSpPr/>
          <p:nvPr/>
        </p:nvSpPr>
        <p:spPr>
          <a:xfrm>
            <a:off x="7296150" y="228600"/>
            <a:ext cx="4895850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CH04 GitLab 온보딩 교육 — 브랜치 전략 및 동기화 기준</a:t>
            </a:r>
            <a:endParaRPr lang="en-US" sz="1125" dirty="0"/>
          </a:p>
        </p:txBody>
      </p:sp>
      <p:sp>
        <p:nvSpPr>
          <p:cNvPr id="27" name="Text 15"/>
          <p:cNvSpPr/>
          <p:nvPr/>
        </p:nvSpPr>
        <p:spPr>
          <a:xfrm>
            <a:off x="10953750" y="190500"/>
            <a:ext cx="984796" cy="4241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70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670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670"/>
              </a:lnSpc>
              <a:buNone/>
            </a:pPr>
            <a:r>
              <a:rPr lang="en-US" sz="10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3765" y="4725144"/>
            <a:ext cx="377875" cy="43204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0863" y="3346698"/>
            <a:ext cx="2438400" cy="76795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64275" y="4533007"/>
            <a:ext cx="365671" cy="62403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6094" y="3257550"/>
            <a:ext cx="3023592" cy="1124694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0377" y="4533007"/>
            <a:ext cx="365671" cy="624036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157" y="3161407"/>
            <a:ext cx="3108871" cy="1268611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85750" y="742950"/>
            <a:ext cx="512064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개발 실수 및 대응 전략</a:t>
            </a:r>
            <a:endParaRPr lang="en-US" sz="2100" dirty="0"/>
          </a:p>
        </p:txBody>
      </p:sp>
      <p:sp>
        <p:nvSpPr>
          <p:cNvPr id="13" name="Text 1"/>
          <p:cNvSpPr/>
          <p:nvPr/>
        </p:nvSpPr>
        <p:spPr>
          <a:xfrm>
            <a:off x="285750" y="190500"/>
            <a:ext cx="1190625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시나리오: wrong branch, detached HEAD, stale branch</a:t>
            </a:r>
            <a:endParaRPr lang="en-US" sz="2100" dirty="0"/>
          </a:p>
        </p:txBody>
      </p:sp>
      <p:sp>
        <p:nvSpPr>
          <p:cNvPr id="14" name="Text 2"/>
          <p:cNvSpPr/>
          <p:nvPr/>
        </p:nvSpPr>
        <p:spPr>
          <a:xfrm>
            <a:off x="5814417" y="2114550"/>
            <a:ext cx="534293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TITLE</a:t>
            </a:r>
            <a:endParaRPr lang="en-US" sz="1350" dirty="0"/>
          </a:p>
        </p:txBody>
      </p:sp>
      <p:sp>
        <p:nvSpPr>
          <p:cNvPr id="15" name="Text 3"/>
          <p:cNvSpPr/>
          <p:nvPr/>
        </p:nvSpPr>
        <p:spPr>
          <a:xfrm>
            <a:off x="1503462" y="2838450"/>
            <a:ext cx="1498253" cy="1927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브랜치 작업</a:t>
            </a:r>
            <a:endParaRPr lang="en-US" sz="1275" dirty="0"/>
          </a:p>
        </p:txBody>
      </p:sp>
      <p:sp>
        <p:nvSpPr>
          <p:cNvPr id="16" name="Text 4"/>
          <p:cNvSpPr/>
          <p:nvPr/>
        </p:nvSpPr>
        <p:spPr>
          <a:xfrm>
            <a:off x="5164336" y="2838450"/>
            <a:ext cx="184398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Detached HEAD 발생</a:t>
            </a:r>
            <a:endParaRPr lang="en-US" sz="1350" dirty="0"/>
          </a:p>
        </p:txBody>
      </p:sp>
      <p:sp>
        <p:nvSpPr>
          <p:cNvPr id="17" name="Text 5"/>
          <p:cNvSpPr/>
          <p:nvPr/>
        </p:nvSpPr>
        <p:spPr>
          <a:xfrm>
            <a:off x="9103519" y="2838450"/>
            <a:ext cx="1519238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오래된 브랜치 위험</a:t>
            </a:r>
            <a:endParaRPr lang="en-US" sz="1425" dirty="0"/>
          </a:p>
        </p:txBody>
      </p:sp>
      <p:sp>
        <p:nvSpPr>
          <p:cNvPr id="18" name="Text 6"/>
          <p:cNvSpPr/>
          <p:nvPr/>
        </p:nvSpPr>
        <p:spPr>
          <a:xfrm>
            <a:off x="10896600" y="190500"/>
            <a:ext cx="1047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19" name="Text 7"/>
          <p:cNvSpPr/>
          <p:nvPr/>
        </p:nvSpPr>
        <p:spPr>
          <a:xfrm>
            <a:off x="652909" y="4686300"/>
            <a:ext cx="1351508" cy="365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브랜치에서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</a:t>
            </a:r>
            <a:endParaRPr lang="en-US" sz="1200" dirty="0"/>
          </a:p>
        </p:txBody>
      </p:sp>
      <p:sp>
        <p:nvSpPr>
          <p:cNvPr id="20" name="Text 8"/>
          <p:cNvSpPr/>
          <p:nvPr/>
        </p:nvSpPr>
        <p:spPr>
          <a:xfrm>
            <a:off x="2522190" y="4686300"/>
            <a:ext cx="1299121" cy="5442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브랜치 직접</a:t>
            </a:r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시 팀 전체</a:t>
            </a:r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이력 오염 위험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4511873" y="4752975"/>
            <a:ext cx="13201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Detached HEAD</a:t>
            </a:r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상태의 정후와 원인</a:t>
            </a:r>
            <a:endParaRPr lang="en-US" sz="1125" dirty="0"/>
          </a:p>
        </p:txBody>
      </p:sp>
      <p:sp>
        <p:nvSpPr>
          <p:cNvPr id="22" name="Text 10"/>
          <p:cNvSpPr/>
          <p:nvPr/>
        </p:nvSpPr>
        <p:spPr>
          <a:xfrm>
            <a:off x="6184106" y="4686300"/>
            <a:ext cx="1624013" cy="5098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checkout</a:t>
            </a:r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&lt;커밋ID&gt; 사용 시</a:t>
            </a:r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HEAD가 브랜치를 잃음</a:t>
            </a:r>
            <a:endParaRPr lang="en-US" sz="1125" dirty="0"/>
          </a:p>
        </p:txBody>
      </p:sp>
      <p:sp>
        <p:nvSpPr>
          <p:cNvPr id="23" name="Text 11"/>
          <p:cNvSpPr/>
          <p:nvPr/>
        </p:nvSpPr>
        <p:spPr>
          <a:xfrm>
            <a:off x="8466237" y="4752975"/>
            <a:ext cx="1079153" cy="3658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Stale 브랜치로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인한 충돌 위험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10097839" y="4686300"/>
            <a:ext cx="1435298" cy="5442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오래된 브랜치는</a:t>
            </a:r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main과 격차가 커져</a:t>
            </a:r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충돌 비용 증가</a:t>
            </a:r>
            <a:endParaRPr lang="en-US" sz="1200" dirty="0"/>
          </a:p>
        </p:txBody>
      </p:sp>
      <p:sp>
        <p:nvSpPr>
          <p:cNvPr id="25" name="Text 13"/>
          <p:cNvSpPr/>
          <p:nvPr/>
        </p:nvSpPr>
        <p:spPr>
          <a:xfrm>
            <a:off x="553789" y="5505450"/>
            <a:ext cx="353079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status' 및 'git branch -v'로 현재 위치 진단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switch </a:t>
            </a:r>
            <a:endParaRPr lang="en-US" sz="1200" dirty="0"/>
          </a:p>
        </p:txBody>
      </p:sp>
      <p:sp>
        <p:nvSpPr>
          <p:cNvPr id="26" name="Text 14"/>
          <p:cNvSpPr/>
          <p:nvPr/>
        </p:nvSpPr>
        <p:spPr>
          <a:xfrm>
            <a:off x="4544764" y="5505450"/>
            <a:ext cx="3111698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전 switch 확인, fetch 수행 습관</a:t>
            </a:r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branch </a:t>
            </a:r>
            <a:endParaRPr lang="en-US" sz="1275" dirty="0"/>
          </a:p>
        </p:txBody>
      </p:sp>
      <p:sp>
        <p:nvSpPr>
          <p:cNvPr id="27" name="Text 15"/>
          <p:cNvSpPr/>
          <p:nvPr/>
        </p:nvSpPr>
        <p:spPr>
          <a:xfrm>
            <a:off x="8369052" y="5505450"/>
            <a:ext cx="3216473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fetch --prune' 주기적으로 추적 상태 갱신</a:t>
            </a:r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switch -c'로 새 브랜치 생성 후 커밋 복원</a:t>
            </a:r>
            <a:endParaRPr lang="en-US" sz="1125" dirty="0"/>
          </a:p>
        </p:txBody>
      </p:sp>
      <p:sp>
        <p:nvSpPr>
          <p:cNvPr id="28" name="Text 16"/>
          <p:cNvSpPr/>
          <p:nvPr/>
        </p:nvSpPr>
        <p:spPr>
          <a:xfrm>
            <a:off x="228600" y="6638925"/>
            <a:ext cx="194310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75" dirty="0"/>
          </a:p>
        </p:txBody>
      </p:sp>
      <p:sp>
        <p:nvSpPr>
          <p:cNvPr id="29" name="Text 17"/>
          <p:cNvSpPr/>
          <p:nvPr/>
        </p:nvSpPr>
        <p:spPr>
          <a:xfrm>
            <a:off x="10146506" y="6638925"/>
            <a:ext cx="366713" cy="2384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38"/>
              </a:lnSpc>
              <a:buNone/>
            </a:pPr>
            <a:r>
              <a:rPr lang="en-US" sz="67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938"/>
              </a:lnSpc>
              <a:buNone/>
            </a:pPr>
            <a:r>
              <a:rPr lang="en-US" sz="67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938"/>
              </a:lnSpc>
              <a:buNone/>
            </a:pPr>
            <a:r>
              <a:rPr lang="en-US" sz="67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675" dirty="0"/>
          </a:p>
        </p:txBody>
      </p:sp>
      <p:sp>
        <p:nvSpPr>
          <p:cNvPr id="30" name="Text 18"/>
          <p:cNvSpPr/>
          <p:nvPr/>
        </p:nvSpPr>
        <p:spPr>
          <a:xfrm>
            <a:off x="10747474" y="6638925"/>
            <a:ext cx="555278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47"/>
              </a:lnSpc>
              <a:buNone/>
            </a:pPr>
            <a:r>
              <a:rPr lang="en-US" sz="8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1147"/>
              </a:lnSpc>
              <a:buNone/>
            </a:pPr>
            <a:r>
              <a:rPr lang="en-US" sz="8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47"/>
              </a:lnSpc>
              <a:buNone/>
            </a:pPr>
            <a:r>
              <a:rPr lang="en-US" sz="825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OLED</a:t>
            </a:r>
            <a:endParaRPr lang="en-US" sz="825" dirty="0"/>
          </a:p>
        </p:txBody>
      </p:sp>
      <p:sp>
        <p:nvSpPr>
          <p:cNvPr id="31" name="Text 19"/>
          <p:cNvSpPr/>
          <p:nvPr/>
        </p:nvSpPr>
        <p:spPr>
          <a:xfrm>
            <a:off x="5877818" y="6705600"/>
            <a:ext cx="398115" cy="1038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8"/>
              </a:lnSpc>
              <a:buNone/>
            </a:pPr>
            <a:r>
              <a:rPr lang="en-US" sz="750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475" y="1186309"/>
            <a:ext cx="10265569" cy="513650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85750" y="742950"/>
            <a:ext cx="7543800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70"/>
              </a:lnSpc>
              <a:buNone/>
            </a:pPr>
            <a:r>
              <a:rPr lang="en-US" sz="22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덜 끌이게 일하는 branch 운영 규칙</a:t>
            </a:r>
            <a:endParaRPr lang="en-US" sz="2250" dirty="0"/>
          </a:p>
        </p:txBody>
      </p:sp>
      <p:sp>
        <p:nvSpPr>
          <p:cNvPr id="8" name="Text 1"/>
          <p:cNvSpPr/>
          <p:nvPr/>
        </p:nvSpPr>
        <p:spPr>
          <a:xfrm>
            <a:off x="285750" y="152400"/>
            <a:ext cx="2857500" cy="3686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3"/>
              </a:lnSpc>
              <a:buNone/>
            </a:pPr>
            <a:r>
              <a:rPr lang="en-US" sz="2250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CH04 요약</a:t>
            </a:r>
            <a:endParaRPr lang="en-US" sz="2250" dirty="0"/>
          </a:p>
        </p:txBody>
      </p:sp>
      <p:sp>
        <p:nvSpPr>
          <p:cNvPr id="9" name="Text 2"/>
          <p:cNvSpPr/>
          <p:nvPr/>
        </p:nvSpPr>
        <p:spPr>
          <a:xfrm>
            <a:off x="9825930" y="6657975"/>
            <a:ext cx="712440" cy="31789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125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51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900" dirty="0"/>
          </a:p>
        </p:txBody>
      </p:sp>
      <p:sp>
        <p:nvSpPr>
          <p:cNvPr id="10" name="Text 3"/>
          <p:cNvSpPr/>
          <p:nvPr/>
        </p:nvSpPr>
        <p:spPr>
          <a:xfrm>
            <a:off x="10935146" y="6657975"/>
            <a:ext cx="408533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4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104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043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OLED</a:t>
            </a:r>
            <a:endParaRPr lang="en-US" sz="750" dirty="0"/>
          </a:p>
        </p:txBody>
      </p:sp>
      <p:sp>
        <p:nvSpPr>
          <p:cNvPr id="11" name="Text 4"/>
          <p:cNvSpPr/>
          <p:nvPr/>
        </p:nvSpPr>
        <p:spPr>
          <a:xfrm>
            <a:off x="10829925" y="190500"/>
            <a:ext cx="112097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2026-04-10T20:30:32Z</dcterms:created>
  <dcterms:modified xsi:type="dcterms:W3CDTF">2026-04-10T20:30:32Z</dcterms:modified>
</cp:coreProperties>
</file>
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  <p:embeddedFont>
      <p:font typeface="NanumGothic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image" Target="../media/image-12-20.png"/><Relationship Id="rId21" Type="http://schemas.openxmlformats.org/officeDocument/2006/relationships/image" Target="../media/image-12-21.png"/><Relationship Id="rId22" Type="http://schemas.openxmlformats.org/officeDocument/2006/relationships/image" Target="../media/image-12-22.png"/><Relationship Id="rId23" Type="http://schemas.openxmlformats.org/officeDocument/2006/relationships/image" Target="../media/image-12-23.png"/><Relationship Id="rId24" Type="http://schemas.openxmlformats.org/officeDocument/2006/relationships/image" Target="../media/image-12-24.png"/><Relationship Id="rId25" Type="http://schemas.openxmlformats.org/officeDocument/2006/relationships/image" Target="../media/image-12-25.png"/><Relationship Id="rId26" Type="http://schemas.openxmlformats.org/officeDocument/2006/relationships/image" Target="../media/image-12-26.png"/><Relationship Id="rId27" Type="http://schemas.openxmlformats.org/officeDocument/2006/relationships/image" Target="../media/image-12-27.png"/><Relationship Id="rId28" Type="http://schemas.openxmlformats.org/officeDocument/2006/relationships/image" Target="../media/image-12-28.png"/><Relationship Id="rId29" Type="http://schemas.openxmlformats.org/officeDocument/2006/relationships/image" Target="../media/image-12-29.png"/><Relationship Id="rId30" Type="http://schemas.openxmlformats.org/officeDocument/2006/relationships/image" Target="../media/image-12-30.png"/><Relationship Id="rId31" Type="http://schemas.openxmlformats.org/officeDocument/2006/relationships/image" Target="../media/image-12-31.png"/><Relationship Id="rId32" Type="http://schemas.openxmlformats.org/officeDocument/2006/relationships/image" Target="../media/image-12-32.png"/><Relationship Id="rId33" Type="http://schemas.openxmlformats.org/officeDocument/2006/relationships/image" Target="../media/image-12-33.png"/><Relationship Id="rId34" Type="http://schemas.openxmlformats.org/officeDocument/2006/relationships/image" Target="../media/image-12-34.png"/><Relationship Id="rId35" Type="http://schemas.openxmlformats.org/officeDocument/2006/relationships/image" Target="../media/image-12-35.png"/><Relationship Id="rId36" Type="http://schemas.openxmlformats.org/officeDocument/2006/relationships/image" Target="../media/image-12-36.png"/><Relationship Id="rId37" Type="http://schemas.openxmlformats.org/officeDocument/2006/relationships/slideLayout" Target="../slideLayouts/slideLayout1.xml"/><Relationship Id="rId3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66825" y="2924175"/>
            <a:ext cx="8046690" cy="12709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5004"/>
              </a:lnSpc>
              <a:buNone/>
            </a:pPr>
            <a:r>
              <a:rPr lang="en-US" sz="3600" b="1" dirty="0">
                <a:solidFill>
                  <a:srgbClr val="2C3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 로컬 작업 루프와 핵심 Git</a:t>
            </a:r>
            <a:pPr indent="0" marL="0">
              <a:lnSpc>
                <a:spcPts val="5004"/>
              </a:lnSpc>
              <a:buNone/>
            </a:pPr>
            <a:r>
              <a:rPr lang="en-US" sz="3600" b="1" dirty="0">
                <a:solidFill>
                  <a:srgbClr val="2C3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5004"/>
              </a:lnSpc>
              <a:buNone/>
            </a:pPr>
            <a:r>
              <a:rPr lang="en-US" sz="3600" b="1" dirty="0">
                <a:solidFill>
                  <a:srgbClr val="2C3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648825" y="5200650"/>
            <a:ext cx="2543175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875" dirty="0"/>
          </a:p>
        </p:txBody>
      </p:sp>
      <p:sp>
        <p:nvSpPr>
          <p:cNvPr id="5" name="Text 2"/>
          <p:cNvSpPr/>
          <p:nvPr/>
        </p:nvSpPr>
        <p:spPr>
          <a:xfrm>
            <a:off x="1266825" y="4305300"/>
            <a:ext cx="864108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dirty="0">
                <a:solidFill>
                  <a:srgbClr val="2C3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기본 작업 흐름을 체계적으로 이해하는 챕터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266825" y="5743575"/>
            <a:ext cx="557403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2C363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 | 2026. 04. 10</a:t>
            </a:r>
            <a:endParaRPr lang="en-US" sz="1425" dirty="0"/>
          </a:p>
        </p:txBody>
      </p:sp>
      <p:sp>
        <p:nvSpPr>
          <p:cNvPr id="7" name="Text 4"/>
          <p:cNvSpPr/>
          <p:nvPr/>
        </p:nvSpPr>
        <p:spPr>
          <a:xfrm>
            <a:off x="10773221" y="190500"/>
            <a:ext cx="124673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18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18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25"/>
              </a:lnSpc>
              <a:buNone/>
            </a:pPr>
            <a:r>
              <a:rPr lang="en-US" sz="1125" b="1" dirty="0">
                <a:solidFill>
                  <a:srgbClr val="B5184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65" y="6624786"/>
            <a:ext cx="207169" cy="23306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879" y="2482453"/>
            <a:ext cx="5023098" cy="2372767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66825" y="238125"/>
            <a:ext cx="10252710" cy="4457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10"/>
              </a:lnSpc>
              <a:buNone/>
            </a:pPr>
            <a:r>
              <a:rPr lang="en-US" sz="29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루프의 본질은 상태 전이의 이해이다</a:t>
            </a:r>
            <a:endParaRPr lang="en-US" sz="2925" dirty="0"/>
          </a:p>
        </p:txBody>
      </p:sp>
      <p:sp>
        <p:nvSpPr>
          <p:cNvPr id="6" name="Text 1"/>
          <p:cNvSpPr/>
          <p:nvPr/>
        </p:nvSpPr>
        <p:spPr>
          <a:xfrm>
            <a:off x="1266825" y="742950"/>
            <a:ext cx="9212580" cy="3367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52"/>
              </a:lnSpc>
              <a:buNone/>
            </a:pPr>
            <a:r>
              <a:rPr lang="en-US" sz="19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로컬 및 원격 저장소의 네 가지 공간에 대한 이해</a:t>
            </a:r>
            <a:endParaRPr lang="en-US" sz="1950" dirty="0"/>
          </a:p>
        </p:txBody>
      </p:sp>
      <p:sp>
        <p:nvSpPr>
          <p:cNvPr id="7" name="Text 2"/>
          <p:cNvSpPr/>
          <p:nvPr/>
        </p:nvSpPr>
        <p:spPr>
          <a:xfrm>
            <a:off x="6372225" y="1781175"/>
            <a:ext cx="5819775" cy="310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48"/>
              </a:lnSpc>
              <a:buNone/>
            </a:pPr>
            <a:r>
              <a:rPr lang="en-US" sz="18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Working Tree: 실제 작업 공간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6372225" y="3209925"/>
            <a:ext cx="5819775" cy="310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48"/>
              </a:lnSpc>
              <a:buNone/>
            </a:pPr>
            <a:r>
              <a:rPr lang="en-US" sz="18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Staging Area: 커밋 대기 영역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372225" y="4629150"/>
            <a:ext cx="5819775" cy="3109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48"/>
              </a:lnSpc>
              <a:buNone/>
            </a:pPr>
            <a:r>
              <a:rPr lang="en-US" sz="18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Repository: 로컬 및 원격 저장소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372225" y="2162175"/>
            <a:ext cx="4662488" cy="5441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2"/>
              </a:lnSpc>
              <a:buNone/>
            </a:pPr>
            <a:r>
              <a:rPr lang="en-US" sz="15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편집 중인 로컬 디렉토리,의 상당한 명혜 저장소</a:t>
            </a:r>
            <a:pPr indent="0" marL="0">
              <a:lnSpc>
                <a:spcPts val="2142"/>
              </a:lnSpc>
              <a:buNone/>
            </a:pPr>
            <a:r>
              <a:rPr lang="en-US" sz="15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42"/>
              </a:lnSpc>
              <a:buNone/>
            </a:pPr>
            <a:r>
              <a:rPr lang="en-US" sz="15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대기 및 원격을 명거한 작업 공간</a:t>
            </a:r>
            <a:endParaRPr lang="en-US" sz="1575" dirty="0"/>
          </a:p>
        </p:txBody>
      </p:sp>
      <p:sp>
        <p:nvSpPr>
          <p:cNvPr id="11" name="Text 6"/>
          <p:cNvSpPr/>
          <p:nvPr/>
        </p:nvSpPr>
        <p:spPr>
          <a:xfrm>
            <a:off x="6372225" y="3581400"/>
            <a:ext cx="3048893" cy="5700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명령으로 커밋 대기 영역</a:t>
            </a:r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커밋 이력 무리 대기 영역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6372225" y="5010150"/>
            <a:ext cx="3771900" cy="5700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Local History (.git): 로컬 커밋 이력</a:t>
            </a:r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44"/>
              </a:lnSpc>
              <a:buNone/>
            </a:pPr>
            <a:r>
              <a:rPr lang="en-US" sz="16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Remote Repository: 팀 공유 서버</a:t>
            </a:r>
            <a:endParaRPr lang="en-US" sz="1650" dirty="0"/>
          </a:p>
        </p:txBody>
      </p:sp>
      <p:sp>
        <p:nvSpPr>
          <p:cNvPr id="13" name="Text 8"/>
          <p:cNvSpPr/>
          <p:nvPr/>
        </p:nvSpPr>
        <p:spPr>
          <a:xfrm>
            <a:off x="352425" y="342900"/>
            <a:ext cx="158496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228600" y="6629400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0843171" y="180975"/>
            <a:ext cx="117336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D91E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D91E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D91E1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0282" y="3429000"/>
            <a:ext cx="816769" cy="34974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0063" y="2846040"/>
            <a:ext cx="963067" cy="7679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5192" y="4759375"/>
            <a:ext cx="511969" cy="3634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455" y="2846040"/>
            <a:ext cx="841177" cy="76795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18384" y="2818507"/>
            <a:ext cx="755898" cy="72003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9757" y="2846040"/>
            <a:ext cx="731490" cy="754261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1295400" y="142875"/>
            <a:ext cx="7920990" cy="374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45"/>
              </a:lnSpc>
              <a:buNone/>
            </a:pPr>
            <a:r>
              <a:rPr lang="en-US" sz="24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로컬 및 동기화 작업 루프 지도</a:t>
            </a:r>
            <a:endParaRPr lang="en-US" sz="2475" dirty="0"/>
          </a:p>
        </p:txBody>
      </p:sp>
      <p:sp>
        <p:nvSpPr>
          <p:cNvPr id="13" name="Text 1"/>
          <p:cNvSpPr/>
          <p:nvPr/>
        </p:nvSpPr>
        <p:spPr>
          <a:xfrm>
            <a:off x="1521619" y="1943100"/>
            <a:ext cx="471488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</a:t>
            </a:r>
            <a:endParaRPr lang="en-US" sz="1650" dirty="0"/>
          </a:p>
        </p:txBody>
      </p:sp>
      <p:sp>
        <p:nvSpPr>
          <p:cNvPr id="14" name="Text 2"/>
          <p:cNvSpPr/>
          <p:nvPr/>
        </p:nvSpPr>
        <p:spPr>
          <a:xfrm>
            <a:off x="4200971" y="1943100"/>
            <a:ext cx="827633" cy="278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89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</a:t>
            </a:r>
            <a:endParaRPr lang="en-US" sz="1575" dirty="0"/>
          </a:p>
        </p:txBody>
      </p:sp>
      <p:sp>
        <p:nvSpPr>
          <p:cNvPr id="15" name="Text 3"/>
          <p:cNvSpPr/>
          <p:nvPr/>
        </p:nvSpPr>
        <p:spPr>
          <a:xfrm>
            <a:off x="7174706" y="1943100"/>
            <a:ext cx="576263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</a:t>
            </a:r>
            <a:endParaRPr lang="en-US" sz="1650" dirty="0"/>
          </a:p>
        </p:txBody>
      </p:sp>
      <p:sp>
        <p:nvSpPr>
          <p:cNvPr id="16" name="Text 4"/>
          <p:cNvSpPr/>
          <p:nvPr/>
        </p:nvSpPr>
        <p:spPr>
          <a:xfrm>
            <a:off x="9726811" y="1943100"/>
            <a:ext cx="1215330" cy="2912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294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fetch / pull</a:t>
            </a:r>
            <a:endParaRPr lang="en-US" sz="1650" dirty="0"/>
          </a:p>
        </p:txBody>
      </p:sp>
      <p:sp>
        <p:nvSpPr>
          <p:cNvPr id="17" name="Text 5"/>
          <p:cNvSpPr/>
          <p:nvPr/>
        </p:nvSpPr>
        <p:spPr>
          <a:xfrm>
            <a:off x="361950" y="200025"/>
            <a:ext cx="1524000" cy="25955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4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875" dirty="0"/>
          </a:p>
        </p:txBody>
      </p:sp>
      <p:sp>
        <p:nvSpPr>
          <p:cNvPr id="18" name="Text 6"/>
          <p:cNvSpPr/>
          <p:nvPr/>
        </p:nvSpPr>
        <p:spPr>
          <a:xfrm>
            <a:off x="361950" y="742950"/>
            <a:ext cx="5433060" cy="326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70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4대 영역과 핵심 명령어의 관계 도식</a:t>
            </a:r>
            <a:endParaRPr lang="en-US" sz="1725" dirty="0"/>
          </a:p>
        </p:txBody>
      </p:sp>
      <p:sp>
        <p:nvSpPr>
          <p:cNvPr id="19" name="Text 7"/>
          <p:cNvSpPr/>
          <p:nvPr/>
        </p:nvSpPr>
        <p:spPr>
          <a:xfrm>
            <a:off x="665262" y="2314575"/>
            <a:ext cx="2336453" cy="19853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Working Tree → Staging Area</a:t>
            </a:r>
            <a:endParaRPr lang="en-US" sz="1125" dirty="0"/>
          </a:p>
        </p:txBody>
      </p:sp>
      <p:sp>
        <p:nvSpPr>
          <p:cNvPr id="20" name="Text 8"/>
          <p:cNvSpPr/>
          <p:nvPr/>
        </p:nvSpPr>
        <p:spPr>
          <a:xfrm>
            <a:off x="3235077" y="2314575"/>
            <a:ext cx="2797373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Staging Area → Local Repository</a:t>
            </a:r>
            <a:endParaRPr lang="en-US" sz="1200" dirty="0"/>
          </a:p>
        </p:txBody>
      </p:sp>
      <p:sp>
        <p:nvSpPr>
          <p:cNvPr id="21" name="Text 9"/>
          <p:cNvSpPr/>
          <p:nvPr/>
        </p:nvSpPr>
        <p:spPr>
          <a:xfrm>
            <a:off x="6027390" y="2314575"/>
            <a:ext cx="2975521" cy="1852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0"/>
              </a:lnSpc>
              <a:buNone/>
            </a:pPr>
            <a:r>
              <a:rPr lang="en-US" sz="10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Local Repository → Remote Repository</a:t>
            </a:r>
            <a:endParaRPr lang="en-US" sz="1050" dirty="0"/>
          </a:p>
        </p:txBody>
      </p:sp>
      <p:sp>
        <p:nvSpPr>
          <p:cNvPr id="22" name="Text 10"/>
          <p:cNvSpPr/>
          <p:nvPr/>
        </p:nvSpPr>
        <p:spPr>
          <a:xfrm>
            <a:off x="9032974" y="2314575"/>
            <a:ext cx="2650778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Remote Repository → Local/WT</a:t>
            </a:r>
            <a:endParaRPr lang="en-US" sz="1200" dirty="0"/>
          </a:p>
        </p:txBody>
      </p:sp>
      <p:sp>
        <p:nvSpPr>
          <p:cNvPr id="23" name="Text 11"/>
          <p:cNvSpPr/>
          <p:nvPr/>
        </p:nvSpPr>
        <p:spPr>
          <a:xfrm>
            <a:off x="828675" y="4133850"/>
            <a:ext cx="237744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작업 파일 변경사항 식별</a:t>
            </a:r>
            <a:endParaRPr lang="en-US" sz="1200" dirty="0"/>
          </a:p>
        </p:txBody>
      </p:sp>
      <p:sp>
        <p:nvSpPr>
          <p:cNvPr id="24" name="Text 12"/>
          <p:cNvSpPr/>
          <p:nvPr/>
        </p:nvSpPr>
        <p:spPr>
          <a:xfrm>
            <a:off x="828675" y="4514850"/>
            <a:ext cx="352044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명령으로 Staging 영역 등록</a:t>
            </a:r>
            <a:endParaRPr lang="en-US" sz="1050" dirty="0"/>
          </a:p>
        </p:txBody>
      </p:sp>
      <p:sp>
        <p:nvSpPr>
          <p:cNvPr id="25" name="Text 13"/>
          <p:cNvSpPr/>
          <p:nvPr/>
        </p:nvSpPr>
        <p:spPr>
          <a:xfrm>
            <a:off x="3686175" y="4133850"/>
            <a:ext cx="308610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Staging Area 파일 확정</a:t>
            </a:r>
            <a:endParaRPr lang="en-US" sz="1125" dirty="0"/>
          </a:p>
        </p:txBody>
      </p:sp>
      <p:sp>
        <p:nvSpPr>
          <p:cNvPr id="26" name="Text 14"/>
          <p:cNvSpPr/>
          <p:nvPr/>
        </p:nvSpPr>
        <p:spPr>
          <a:xfrm>
            <a:off x="3686175" y="4514850"/>
            <a:ext cx="342900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commit 명령으로 로컬 이력 저장</a:t>
            </a:r>
            <a:endParaRPr lang="en-US" sz="1125" dirty="0"/>
          </a:p>
        </p:txBody>
      </p:sp>
      <p:sp>
        <p:nvSpPr>
          <p:cNvPr id="27" name="Text 15"/>
          <p:cNvSpPr/>
          <p:nvPr/>
        </p:nvSpPr>
        <p:spPr>
          <a:xfrm>
            <a:off x="6562725" y="4133850"/>
            <a:ext cx="291465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완료된 로컬 이력을 원격에 반영</a:t>
            </a:r>
            <a:endParaRPr lang="en-US" sz="1125" dirty="0"/>
          </a:p>
        </p:txBody>
      </p:sp>
      <p:sp>
        <p:nvSpPr>
          <p:cNvPr id="28" name="Text 16"/>
          <p:cNvSpPr/>
          <p:nvPr/>
        </p:nvSpPr>
        <p:spPr>
          <a:xfrm>
            <a:off x="6562725" y="4514850"/>
            <a:ext cx="310896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지점: push 실패 구간</a:t>
            </a:r>
            <a:endParaRPr lang="en-US" sz="1200" dirty="0"/>
          </a:p>
        </p:txBody>
      </p:sp>
      <p:sp>
        <p:nvSpPr>
          <p:cNvPr id="29" name="Text 17"/>
          <p:cNvSpPr/>
          <p:nvPr/>
        </p:nvSpPr>
        <p:spPr>
          <a:xfrm>
            <a:off x="9429750" y="4133850"/>
            <a:ext cx="276225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가져오기(fetch) vs 병합(pull) 선택</a:t>
            </a:r>
            <a:endParaRPr lang="en-US" sz="1050" dirty="0"/>
          </a:p>
        </p:txBody>
      </p:sp>
      <p:sp>
        <p:nvSpPr>
          <p:cNvPr id="30" name="Text 18"/>
          <p:cNvSpPr/>
          <p:nvPr/>
        </p:nvSpPr>
        <p:spPr>
          <a:xfrm>
            <a:off x="9429750" y="4514850"/>
            <a:ext cx="2762250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루프: Fetch 포함 동기화</a:t>
            </a:r>
            <a:endParaRPr lang="en-US" sz="1200" dirty="0"/>
          </a:p>
        </p:txBody>
      </p:sp>
      <p:sp>
        <p:nvSpPr>
          <p:cNvPr id="31" name="Text 19"/>
          <p:cNvSpPr/>
          <p:nvPr/>
        </p:nvSpPr>
        <p:spPr>
          <a:xfrm>
            <a:off x="9429750" y="4886325"/>
            <a:ext cx="276225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지점: pull 충돌 구간</a:t>
            </a:r>
            <a:endParaRPr lang="en-US" sz="1275" dirty="0"/>
          </a:p>
        </p:txBody>
      </p:sp>
      <p:sp>
        <p:nvSpPr>
          <p:cNvPr id="32" name="Text 20"/>
          <p:cNvSpPr/>
          <p:nvPr/>
        </p:nvSpPr>
        <p:spPr>
          <a:xfrm>
            <a:off x="9429750" y="5095875"/>
            <a:ext cx="276225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미커밋 변경 사항 존재 시 충돌 위험</a:t>
            </a:r>
            <a:endParaRPr lang="en-US" sz="1125" dirty="0"/>
          </a:p>
        </p:txBody>
      </p:sp>
      <p:sp>
        <p:nvSpPr>
          <p:cNvPr id="33" name="Text 21"/>
          <p:cNvSpPr/>
          <p:nvPr/>
        </p:nvSpPr>
        <p:spPr>
          <a:xfrm>
            <a:off x="771525" y="5781675"/>
            <a:ext cx="452628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9EE9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add [file_pattern]</a:t>
            </a:r>
            <a:endParaRPr lang="en-US" sz="1350" dirty="0"/>
          </a:p>
        </p:txBody>
      </p:sp>
      <p:sp>
        <p:nvSpPr>
          <p:cNvPr id="34" name="Text 22"/>
          <p:cNvSpPr/>
          <p:nvPr/>
        </p:nvSpPr>
        <p:spPr>
          <a:xfrm>
            <a:off x="3686175" y="5781675"/>
            <a:ext cx="408051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dirty="0">
                <a:solidFill>
                  <a:srgbClr val="9EE9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commit -m "[메시지]"</a:t>
            </a:r>
            <a:endParaRPr lang="en-US" sz="1275" dirty="0"/>
          </a:p>
        </p:txBody>
      </p:sp>
      <p:sp>
        <p:nvSpPr>
          <p:cNvPr id="35" name="Text 23"/>
          <p:cNvSpPr/>
          <p:nvPr/>
        </p:nvSpPr>
        <p:spPr>
          <a:xfrm>
            <a:off x="6448425" y="5781675"/>
            <a:ext cx="534924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dirty="0">
                <a:solidFill>
                  <a:srgbClr val="9EE9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push [remote] [branch]</a:t>
            </a:r>
            <a:endParaRPr lang="en-US" sz="1350" dirty="0"/>
          </a:p>
        </p:txBody>
      </p:sp>
      <p:sp>
        <p:nvSpPr>
          <p:cNvPr id="36" name="Text 24"/>
          <p:cNvSpPr/>
          <p:nvPr/>
        </p:nvSpPr>
        <p:spPr>
          <a:xfrm>
            <a:off x="9305925" y="5686425"/>
            <a:ext cx="2294483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9EE9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 [remote] &amp;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9EE9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07"/>
              </a:lnSpc>
              <a:buNone/>
            </a:pPr>
            <a:r>
              <a:rPr lang="en-US" sz="1350" dirty="0">
                <a:solidFill>
                  <a:srgbClr val="9EE96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pull [remote] [branch]</a:t>
            </a:r>
            <a:endParaRPr lang="en-US" sz="1350" dirty="0"/>
          </a:p>
        </p:txBody>
      </p:sp>
      <p:sp>
        <p:nvSpPr>
          <p:cNvPr id="37" name="Text 25"/>
          <p:cNvSpPr/>
          <p:nvPr/>
        </p:nvSpPr>
        <p:spPr>
          <a:xfrm>
            <a:off x="11001375" y="190500"/>
            <a:ext cx="1005780" cy="5149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27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indent="0" marL="0">
              <a:lnSpc>
                <a:spcPts val="2027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27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75" dirty="0"/>
          </a:p>
        </p:txBody>
      </p:sp>
      <p:sp>
        <p:nvSpPr>
          <p:cNvPr id="38" name="Text 26"/>
          <p:cNvSpPr/>
          <p:nvPr/>
        </p:nvSpPr>
        <p:spPr>
          <a:xfrm>
            <a:off x="8839200" y="238125"/>
            <a:ext cx="335280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 로컬 작업 루프와 핵심 Git 명령</a:t>
            </a:r>
            <a:endParaRPr lang="en-US" sz="1050" dirty="0"/>
          </a:p>
        </p:txBody>
      </p:sp>
      <p:sp>
        <p:nvSpPr>
          <p:cNvPr id="39" name="Text 27"/>
          <p:cNvSpPr/>
          <p:nvPr/>
        </p:nvSpPr>
        <p:spPr>
          <a:xfrm>
            <a:off x="11094690" y="3800475"/>
            <a:ext cx="880021" cy="145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pull 충돌 위험</a:t>
            </a:r>
            <a:endParaRPr lang="en-US" sz="1050" dirty="0"/>
          </a:p>
        </p:txBody>
      </p:sp>
      <p:sp>
        <p:nvSpPr>
          <p:cNvPr id="40" name="Text 28"/>
          <p:cNvSpPr/>
          <p:nvPr/>
        </p:nvSpPr>
        <p:spPr>
          <a:xfrm>
            <a:off x="7657058" y="5172075"/>
            <a:ext cx="1487686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63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non-fast-forward 오류</a:t>
            </a:r>
            <a:endParaRPr lang="en-US" sz="975" dirty="0"/>
          </a:p>
        </p:txBody>
      </p:sp>
      <p:sp>
        <p:nvSpPr>
          <p:cNvPr id="41" name="Text 29"/>
          <p:cNvSpPr/>
          <p:nvPr/>
        </p:nvSpPr>
        <p:spPr>
          <a:xfrm>
            <a:off x="10145464" y="6686550"/>
            <a:ext cx="387548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4"/>
              </a:lnSpc>
              <a:buNone/>
            </a:pPr>
            <a:r>
              <a:rPr lang="en-US" sz="6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894"/>
              </a:lnSpc>
              <a:buNone/>
            </a:pPr>
            <a:r>
              <a:rPr lang="en-US" sz="6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894"/>
              </a:lnSpc>
              <a:buNone/>
            </a:pPr>
            <a:r>
              <a:rPr lang="en-US" sz="6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00" dirty="0"/>
          </a:p>
        </p:txBody>
      </p:sp>
      <p:sp>
        <p:nvSpPr>
          <p:cNvPr id="42" name="Text 30"/>
          <p:cNvSpPr/>
          <p:nvPr/>
        </p:nvSpPr>
        <p:spPr>
          <a:xfrm>
            <a:off x="10928449" y="6686550"/>
            <a:ext cx="345728" cy="22711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4"/>
              </a:lnSpc>
              <a:buNone/>
            </a:pPr>
            <a:r>
              <a:rPr lang="en-US" sz="6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</a:t>
            </a:r>
            <a:pPr algn="ctr" indent="0" marL="0">
              <a:lnSpc>
                <a:spcPts val="894"/>
              </a:lnSpc>
              <a:buNone/>
            </a:pPr>
            <a:r>
              <a:rPr lang="en-US" sz="6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894"/>
              </a:lnSpc>
              <a:buNone/>
            </a:pPr>
            <a:r>
              <a:rPr lang="en-US" sz="600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WOLED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618357"/>
            <a:ext cx="3499098" cy="146074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618357"/>
            <a:ext cx="1171724" cy="2000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1324" y="1618357"/>
            <a:ext cx="1047006" cy="2000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8330" y="1618357"/>
            <a:ext cx="1280368" cy="2000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818382"/>
            <a:ext cx="1171724" cy="42014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1324" y="1818382"/>
            <a:ext cx="1047006" cy="42014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48330" y="1818382"/>
            <a:ext cx="1280368" cy="420142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29600" y="2238524"/>
            <a:ext cx="1171724" cy="420142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01324" y="2238524"/>
            <a:ext cx="1047006" cy="420142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48330" y="2238524"/>
            <a:ext cx="1280368" cy="420142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29600" y="2658666"/>
            <a:ext cx="1171724" cy="42043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01324" y="2658666"/>
            <a:ext cx="1047006" cy="42043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448330" y="2658666"/>
            <a:ext cx="1280368" cy="420439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75255" y="6405265"/>
            <a:ext cx="353467" cy="34290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66063" y="3483769"/>
            <a:ext cx="3450282" cy="1152079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75098" y="5095429"/>
            <a:ext cx="719286" cy="67880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62894" y="3476923"/>
            <a:ext cx="646063" cy="603498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75098" y="1625203"/>
            <a:ext cx="597396" cy="610344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0557" y="178296"/>
            <a:ext cx="731490" cy="589657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8229600" y="1618357"/>
            <a:ext cx="11717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명령어</a:t>
            </a:r>
            <a:endParaRPr lang="en-US" sz="1125" dirty="0"/>
          </a:p>
        </p:txBody>
      </p:sp>
      <p:sp>
        <p:nvSpPr>
          <p:cNvPr id="23" name="Text 1"/>
          <p:cNvSpPr/>
          <p:nvPr/>
        </p:nvSpPr>
        <p:spPr>
          <a:xfrm>
            <a:off x="9401324" y="1618357"/>
            <a:ext cx="10470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관찰 대상</a:t>
            </a:r>
            <a:endParaRPr lang="en-US" sz="1125" dirty="0"/>
          </a:p>
        </p:txBody>
      </p:sp>
      <p:sp>
        <p:nvSpPr>
          <p:cNvPr id="24" name="Text 2"/>
          <p:cNvSpPr/>
          <p:nvPr/>
        </p:nvSpPr>
        <p:spPr>
          <a:xfrm>
            <a:off x="10448330" y="1618357"/>
            <a:ext cx="12803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</a:rPr>
              <a:t>사용 시점</a:t>
            </a:r>
            <a:endParaRPr lang="en-US" sz="1125" dirty="0"/>
          </a:p>
        </p:txBody>
      </p:sp>
      <p:sp>
        <p:nvSpPr>
          <p:cNvPr id="25" name="Text 3"/>
          <p:cNvSpPr/>
          <p:nvPr/>
        </p:nvSpPr>
        <p:spPr>
          <a:xfrm>
            <a:off x="8229600" y="1818382"/>
            <a:ext cx="109552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git status</a:t>
            </a:r>
            <a:endParaRPr lang="en-US" sz="1013" dirty="0"/>
          </a:p>
        </p:txBody>
      </p:sp>
      <p:sp>
        <p:nvSpPr>
          <p:cNvPr id="26" name="Text 4"/>
          <p:cNvSpPr/>
          <p:nvPr/>
        </p:nvSpPr>
        <p:spPr>
          <a:xfrm>
            <a:off x="9401324" y="1818382"/>
            <a:ext cx="97080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워킹트리 &amp;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스테이징 영역</a:t>
            </a:r>
            <a:endParaRPr lang="en-US" sz="1013" dirty="0"/>
          </a:p>
        </p:txBody>
      </p:sp>
      <p:sp>
        <p:nvSpPr>
          <p:cNvPr id="27" name="Text 5"/>
          <p:cNvSpPr/>
          <p:nvPr/>
        </p:nvSpPr>
        <p:spPr>
          <a:xfrm>
            <a:off x="10448330" y="1818382"/>
            <a:ext cx="1204168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변경 사항 확인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(가장 먼저)</a:t>
            </a:r>
            <a:endParaRPr lang="en-US" sz="1013" dirty="0"/>
          </a:p>
        </p:txBody>
      </p:sp>
      <p:sp>
        <p:nvSpPr>
          <p:cNvPr id="28" name="Text 6"/>
          <p:cNvSpPr/>
          <p:nvPr/>
        </p:nvSpPr>
        <p:spPr>
          <a:xfrm>
            <a:off x="8229600" y="2238524"/>
            <a:ext cx="1095524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git diff</a:t>
            </a:r>
            <a:endParaRPr lang="en-US" sz="1013" dirty="0"/>
          </a:p>
        </p:txBody>
      </p:sp>
      <p:sp>
        <p:nvSpPr>
          <p:cNvPr id="29" name="Text 7"/>
          <p:cNvSpPr/>
          <p:nvPr/>
        </p:nvSpPr>
        <p:spPr>
          <a:xfrm>
            <a:off x="9401324" y="2238524"/>
            <a:ext cx="970806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워킹트리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vs. 마지막 커밋</a:t>
            </a:r>
            <a:endParaRPr lang="en-US" sz="1013" dirty="0"/>
          </a:p>
        </p:txBody>
      </p:sp>
      <p:sp>
        <p:nvSpPr>
          <p:cNvPr id="30" name="Text 8"/>
          <p:cNvSpPr/>
          <p:nvPr/>
        </p:nvSpPr>
        <p:spPr>
          <a:xfrm>
            <a:off x="10448330" y="2238524"/>
            <a:ext cx="1204168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스테이징 전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변경 내용 확인</a:t>
            </a:r>
            <a:endParaRPr lang="en-US" sz="1013" dirty="0"/>
          </a:p>
        </p:txBody>
      </p:sp>
      <p:sp>
        <p:nvSpPr>
          <p:cNvPr id="31" name="Text 9"/>
          <p:cNvSpPr/>
          <p:nvPr/>
        </p:nvSpPr>
        <p:spPr>
          <a:xfrm>
            <a:off x="8229600" y="2658666"/>
            <a:ext cx="1095524" cy="42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git diff --staged</a:t>
            </a:r>
            <a:endParaRPr lang="en-US" sz="1013" dirty="0"/>
          </a:p>
        </p:txBody>
      </p:sp>
      <p:sp>
        <p:nvSpPr>
          <p:cNvPr id="32" name="Text 10"/>
          <p:cNvSpPr/>
          <p:nvPr/>
        </p:nvSpPr>
        <p:spPr>
          <a:xfrm>
            <a:off x="9401324" y="2658666"/>
            <a:ext cx="970806" cy="42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스테이징 영역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vs. 마지막 커밋</a:t>
            </a:r>
            <a:endParaRPr lang="en-US" sz="1013" dirty="0"/>
          </a:p>
        </p:txBody>
      </p:sp>
      <p:sp>
        <p:nvSpPr>
          <p:cNvPr id="33" name="Text 11"/>
          <p:cNvSpPr/>
          <p:nvPr/>
        </p:nvSpPr>
        <p:spPr>
          <a:xfrm>
            <a:off x="10448330" y="2658666"/>
            <a:ext cx="1204168" cy="420439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16"/>
              </a:lnSpc>
              <a:buNone/>
            </a:pPr>
            <a:r>
              <a:rPr lang="en-US" sz="1013" b="1" dirty="0">
                <a:solidFill>
                  <a:srgbClr val="111111"/>
                </a:solidFill>
              </a:rPr>
              <a:t>커밋 직전 최종 검토</a:t>
            </a:r>
            <a:endParaRPr lang="en-US" sz="1013" dirty="0"/>
          </a:p>
        </p:txBody>
      </p:sp>
      <p:sp>
        <p:nvSpPr>
          <p:cNvPr id="34" name="Text 12"/>
          <p:cNvSpPr/>
          <p:nvPr/>
        </p:nvSpPr>
        <p:spPr>
          <a:xfrm>
            <a:off x="1560612" y="266700"/>
            <a:ext cx="8203853" cy="4342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342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변경 상태 파악의 3단계 status와 diff 비교</a:t>
            </a:r>
            <a:endParaRPr lang="en-US" sz="2850" dirty="0"/>
          </a:p>
        </p:txBody>
      </p:sp>
      <p:sp>
        <p:nvSpPr>
          <p:cNvPr id="35" name="Text 13"/>
          <p:cNvSpPr/>
          <p:nvPr/>
        </p:nvSpPr>
        <p:spPr>
          <a:xfrm>
            <a:off x="8277225" y="1323975"/>
            <a:ext cx="343662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 관찰 범위 비교표</a:t>
            </a:r>
            <a:endParaRPr lang="en-US" sz="1650" dirty="0"/>
          </a:p>
        </p:txBody>
      </p:sp>
      <p:sp>
        <p:nvSpPr>
          <p:cNvPr id="36" name="Text 14"/>
          <p:cNvSpPr/>
          <p:nvPr/>
        </p:nvSpPr>
        <p:spPr>
          <a:xfrm>
            <a:off x="8277225" y="3209925"/>
            <a:ext cx="3914775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파일 수정 사례 적용 (app.txt)</a:t>
            </a:r>
            <a:endParaRPr lang="en-US" sz="1650" dirty="0"/>
          </a:p>
        </p:txBody>
      </p:sp>
      <p:sp>
        <p:nvSpPr>
          <p:cNvPr id="37" name="Text 15"/>
          <p:cNvSpPr/>
          <p:nvPr/>
        </p:nvSpPr>
        <p:spPr>
          <a:xfrm>
            <a:off x="8277225" y="4781550"/>
            <a:ext cx="352044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올바른 사용 순서와 습관화</a:t>
            </a:r>
            <a:endParaRPr lang="en-US" sz="1650" dirty="0"/>
          </a:p>
        </p:txBody>
      </p:sp>
      <p:sp>
        <p:nvSpPr>
          <p:cNvPr id="38" name="Text 16"/>
          <p:cNvSpPr/>
          <p:nvPr/>
        </p:nvSpPr>
        <p:spPr>
          <a:xfrm>
            <a:off x="3638550" y="2038350"/>
            <a:ext cx="3677543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status: 전체 변경 파일 목록 확인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워킹트리·스테이징 영록 상태를 한눈에 표시</a:t>
            </a:r>
            <a:endParaRPr lang="en-US" sz="1650" dirty="0"/>
          </a:p>
        </p:txBody>
      </p:sp>
      <p:sp>
        <p:nvSpPr>
          <p:cNvPr id="39" name="Text 17"/>
          <p:cNvSpPr/>
          <p:nvPr/>
        </p:nvSpPr>
        <p:spPr>
          <a:xfrm>
            <a:off x="3638550" y="3695700"/>
            <a:ext cx="4222403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diff: 스테이징 전 변경 내용 비교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워킹트리와 마지막 커밋 간 차이를 라인 단위로 출력</a:t>
            </a:r>
            <a:endParaRPr lang="en-US" sz="1650" dirty="0"/>
          </a:p>
        </p:txBody>
      </p:sp>
      <p:sp>
        <p:nvSpPr>
          <p:cNvPr id="40" name="Text 18"/>
          <p:cNvSpPr/>
          <p:nvPr/>
        </p:nvSpPr>
        <p:spPr>
          <a:xfrm>
            <a:off x="3638550" y="5295900"/>
            <a:ext cx="3740348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diff --staged: 커밋 직전 최종 검토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스테이징 영역과 마지막 커밋 간 차이만 표시</a:t>
            </a:r>
            <a:endParaRPr lang="en-US" sz="1650" dirty="0"/>
          </a:p>
        </p:txBody>
      </p:sp>
      <p:sp>
        <p:nvSpPr>
          <p:cNvPr id="41" name="Text 19"/>
          <p:cNvSpPr/>
          <p:nvPr/>
        </p:nvSpPr>
        <p:spPr>
          <a:xfrm>
            <a:off x="8277225" y="5095875"/>
            <a:ext cx="3279428" cy="131415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변경 사항 확인 (git status)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스테이징 전 변경 내용 검토 (git diff)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변경 파일 스테이징 (git add)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커밋 직전 최종 검토 (git diff --staged)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커밋 실행 (git commit)</a:t>
            </a:r>
            <a:endParaRPr lang="en-US" sz="1500" dirty="0"/>
          </a:p>
        </p:txBody>
      </p:sp>
      <p:sp>
        <p:nvSpPr>
          <p:cNvPr id="42" name="Text 20"/>
          <p:cNvSpPr/>
          <p:nvPr/>
        </p:nvSpPr>
        <p:spPr>
          <a:xfrm>
            <a:off x="1115764" y="352425"/>
            <a:ext cx="597098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2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425" dirty="0"/>
          </a:p>
        </p:txBody>
      </p:sp>
      <p:sp>
        <p:nvSpPr>
          <p:cNvPr id="43" name="Text 21"/>
          <p:cNvSpPr/>
          <p:nvPr/>
        </p:nvSpPr>
        <p:spPr>
          <a:xfrm>
            <a:off x="1899196" y="2314575"/>
            <a:ext cx="754261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</a:t>
            </a:r>
            <a:endParaRPr lang="en-US" sz="1200" dirty="0"/>
          </a:p>
        </p:txBody>
      </p:sp>
      <p:sp>
        <p:nvSpPr>
          <p:cNvPr id="44" name="Text 22"/>
          <p:cNvSpPr/>
          <p:nvPr/>
        </p:nvSpPr>
        <p:spPr>
          <a:xfrm>
            <a:off x="5012978" y="1581150"/>
            <a:ext cx="565696" cy="18692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TITLE</a:t>
            </a:r>
            <a:endParaRPr lang="en-US" sz="1350" dirty="0"/>
          </a:p>
        </p:txBody>
      </p:sp>
      <p:sp>
        <p:nvSpPr>
          <p:cNvPr id="45" name="Text 23"/>
          <p:cNvSpPr/>
          <p:nvPr/>
        </p:nvSpPr>
        <p:spPr>
          <a:xfrm>
            <a:off x="5085755" y="3238500"/>
            <a:ext cx="429518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4581525" y="4848225"/>
            <a:ext cx="146685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 --STAGED</a:t>
            </a:r>
            <a:endParaRPr lang="en-US" sz="1275" dirty="0"/>
          </a:p>
        </p:txBody>
      </p:sp>
      <p:sp>
        <p:nvSpPr>
          <p:cNvPr id="47" name="Text 25"/>
          <p:cNvSpPr/>
          <p:nvPr/>
        </p:nvSpPr>
        <p:spPr>
          <a:xfrm>
            <a:off x="10841236" y="228600"/>
            <a:ext cx="1215330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08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2171"/>
            <a:ext cx="292596" cy="20568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569" y="2311003"/>
            <a:ext cx="2645569" cy="35592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84" y="5500092"/>
            <a:ext cx="377875" cy="39082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5584" y="4306788"/>
            <a:ext cx="377875" cy="36343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7788" y="3716982"/>
            <a:ext cx="353467" cy="356592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381125" y="666750"/>
            <a:ext cx="10810875" cy="47550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744"/>
              </a:lnSpc>
              <a:buNone/>
            </a:pPr>
            <a:r>
              <a:rPr lang="en-US" sz="2925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add의 진짜 의미와 Staging Area의 역할</a:t>
            </a:r>
            <a:endParaRPr lang="en-US" sz="2925" dirty="0"/>
          </a:p>
        </p:txBody>
      </p:sp>
      <p:sp>
        <p:nvSpPr>
          <p:cNvPr id="11" name="Text 1"/>
          <p:cNvSpPr/>
          <p:nvPr/>
        </p:nvSpPr>
        <p:spPr>
          <a:xfrm>
            <a:off x="438596" y="485775"/>
            <a:ext cx="618083" cy="2954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327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650" dirty="0"/>
          </a:p>
        </p:txBody>
      </p:sp>
      <p:sp>
        <p:nvSpPr>
          <p:cNvPr id="12" name="Text 2"/>
          <p:cNvSpPr/>
          <p:nvPr/>
        </p:nvSpPr>
        <p:spPr>
          <a:xfrm>
            <a:off x="1066800" y="2476500"/>
            <a:ext cx="208026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add</a:t>
            </a:r>
            <a:endParaRPr lang="en-US" sz="1950" dirty="0"/>
          </a:p>
        </p:txBody>
      </p:sp>
      <p:sp>
        <p:nvSpPr>
          <p:cNvPr id="13" name="Text 3"/>
          <p:cNvSpPr/>
          <p:nvPr/>
        </p:nvSpPr>
        <p:spPr>
          <a:xfrm>
            <a:off x="1066800" y="3086100"/>
            <a:ext cx="267462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add .</a:t>
            </a:r>
            <a:endParaRPr lang="en-US" sz="1950" dirty="0"/>
          </a:p>
        </p:txBody>
      </p:sp>
      <p:sp>
        <p:nvSpPr>
          <p:cNvPr id="14" name="Text 4"/>
          <p:cNvSpPr/>
          <p:nvPr/>
        </p:nvSpPr>
        <p:spPr>
          <a:xfrm>
            <a:off x="1066800" y="4943475"/>
            <a:ext cx="594360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restore --staged</a:t>
            </a:r>
            <a:endParaRPr lang="en-US" sz="1950" dirty="0"/>
          </a:p>
        </p:txBody>
      </p:sp>
      <p:sp>
        <p:nvSpPr>
          <p:cNvPr id="15" name="Text 5"/>
          <p:cNvSpPr/>
          <p:nvPr/>
        </p:nvSpPr>
        <p:spPr>
          <a:xfrm>
            <a:off x="2834134" y="1838325"/>
            <a:ext cx="3027908" cy="2370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7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git add 명령 및 Staging 활용</a:t>
            </a:r>
            <a:endParaRPr lang="en-US" sz="1425" dirty="0"/>
          </a:p>
        </p:txBody>
      </p:sp>
      <p:sp>
        <p:nvSpPr>
          <p:cNvPr id="16" name="Text 6"/>
          <p:cNvSpPr/>
          <p:nvPr/>
        </p:nvSpPr>
        <p:spPr>
          <a:xfrm>
            <a:off x="9344918" y="1838325"/>
            <a:ext cx="1445865" cy="2120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7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상태 전이 흐름</a:t>
            </a:r>
            <a:endParaRPr lang="en-US" sz="1275" dirty="0"/>
          </a:p>
        </p:txBody>
      </p:sp>
      <p:sp>
        <p:nvSpPr>
          <p:cNvPr id="17" name="Text 7"/>
          <p:cNvSpPr/>
          <p:nvPr/>
        </p:nvSpPr>
        <p:spPr>
          <a:xfrm>
            <a:off x="1381125" y="3648075"/>
            <a:ext cx="5783580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add 전 status·diff 확인 필수</a:t>
            </a:r>
            <a:endParaRPr lang="en-US" sz="1650" dirty="0"/>
          </a:p>
        </p:txBody>
      </p:sp>
      <p:sp>
        <p:nvSpPr>
          <p:cNvPr id="18" name="Text 8"/>
          <p:cNvSpPr/>
          <p:nvPr/>
        </p:nvSpPr>
        <p:spPr>
          <a:xfrm>
            <a:off x="1381125" y="4238625"/>
            <a:ext cx="6537960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Staging Area = 다음 커밋 설계 공간</a:t>
            </a:r>
            <a:endParaRPr lang="en-US" sz="1650" dirty="0"/>
          </a:p>
        </p:txBody>
      </p:sp>
      <p:sp>
        <p:nvSpPr>
          <p:cNvPr id="19" name="Text 9"/>
          <p:cNvSpPr/>
          <p:nvPr/>
        </p:nvSpPr>
        <p:spPr>
          <a:xfrm>
            <a:off x="1381125" y="5467350"/>
            <a:ext cx="5532120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62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커밋 = 하나의 논리적 작업 단위</a:t>
            </a:r>
            <a:endParaRPr lang="en-US" sz="1650" dirty="0"/>
          </a:p>
        </p:txBody>
      </p:sp>
      <p:sp>
        <p:nvSpPr>
          <p:cNvPr id="20" name="Text 10"/>
          <p:cNvSpPr/>
          <p:nvPr/>
        </p:nvSpPr>
        <p:spPr>
          <a:xfrm>
            <a:off x="4600575" y="4848225"/>
            <a:ext cx="2366010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60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 add 취소</a:t>
            </a:r>
            <a:endParaRPr lang="en-US" sz="1725" dirty="0"/>
          </a:p>
        </p:txBody>
      </p:sp>
      <p:sp>
        <p:nvSpPr>
          <p:cNvPr id="21" name="Text 11"/>
          <p:cNvSpPr/>
          <p:nvPr/>
        </p:nvSpPr>
        <p:spPr>
          <a:xfrm>
            <a:off x="4371975" y="2343150"/>
            <a:ext cx="3750915" cy="4631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파일만 선택 등록</a:t>
            </a:r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의도한 파일만 정밀하게 Staging Area에 추가</a:t>
            </a:r>
            <a:endParaRPr lang="en-US" sz="1425" dirty="0"/>
          </a:p>
        </p:txBody>
      </p:sp>
      <p:sp>
        <p:nvSpPr>
          <p:cNvPr id="22" name="Text 12"/>
          <p:cNvSpPr/>
          <p:nvPr/>
        </p:nvSpPr>
        <p:spPr>
          <a:xfrm>
            <a:off x="4371975" y="3038475"/>
            <a:ext cx="3394621" cy="46315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변경 파일 일괄 등록</a:t>
            </a:r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24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편리하지만 불필요한 파일 포함 위험 존재</a:t>
            </a:r>
            <a:endParaRPr lang="en-US" sz="1425" dirty="0"/>
          </a:p>
        </p:txBody>
      </p:sp>
      <p:sp>
        <p:nvSpPr>
          <p:cNvPr id="23" name="Text 13"/>
          <p:cNvSpPr/>
          <p:nvPr/>
        </p:nvSpPr>
        <p:spPr>
          <a:xfrm>
            <a:off x="4724400" y="5143500"/>
            <a:ext cx="2971800" cy="2114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내용 유지하며 취소</a:t>
            </a:r>
            <a:endParaRPr lang="en-US" sz="1500" dirty="0"/>
          </a:p>
        </p:txBody>
      </p:sp>
      <p:sp>
        <p:nvSpPr>
          <p:cNvPr id="24" name="Text 14"/>
          <p:cNvSpPr/>
          <p:nvPr/>
        </p:nvSpPr>
        <p:spPr>
          <a:xfrm>
            <a:off x="8744843" y="180975"/>
            <a:ext cx="3447008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96"/>
              </a:lnSpc>
              <a:buNone/>
            </a:pPr>
            <a:r>
              <a:rPr lang="en-US" sz="12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96"/>
              </a:lnSpc>
              <a:buNone/>
            </a:pPr>
            <a:r>
              <a:rPr lang="en-US" sz="12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96"/>
              </a:lnSpc>
              <a:buNone/>
            </a:pPr>
            <a:r>
              <a:rPr lang="en-US" sz="1200" b="1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1381125" y="3952875"/>
            <a:ext cx="600075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(git status와 git diff로 변경 범위 사전 검토)</a:t>
            </a:r>
            <a:endParaRPr lang="en-US" sz="1125" dirty="0"/>
          </a:p>
        </p:txBody>
      </p:sp>
      <p:sp>
        <p:nvSpPr>
          <p:cNvPr id="26" name="Text 16"/>
          <p:cNvSpPr/>
          <p:nvPr/>
        </p:nvSpPr>
        <p:spPr>
          <a:xfrm>
            <a:off x="1381125" y="4543425"/>
            <a:ext cx="445770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(단순 저장이 아닌 커밋 내용을 정교하게 구성)</a:t>
            </a:r>
            <a:endParaRPr lang="en-US" sz="1125" dirty="0"/>
          </a:p>
        </p:txBody>
      </p:sp>
      <p:sp>
        <p:nvSpPr>
          <p:cNvPr id="27" name="Text 17"/>
          <p:cNvSpPr/>
          <p:nvPr/>
        </p:nvSpPr>
        <p:spPr>
          <a:xfrm>
            <a:off x="1381125" y="5762625"/>
            <a:ext cx="497205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6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(Staging으로 커밋 범위를 명확히 분리해 관리)</a:t>
            </a:r>
            <a:endParaRPr lang="en-US" sz="1125" dirty="0"/>
          </a:p>
        </p:txBody>
      </p:sp>
      <p:sp>
        <p:nvSpPr>
          <p:cNvPr id="28" name="Text 18"/>
          <p:cNvSpPr/>
          <p:nvPr/>
        </p:nvSpPr>
        <p:spPr>
          <a:xfrm>
            <a:off x="8715375" y="295275"/>
            <a:ext cx="2608808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 로컬 작업 루프와 핵심 Git 명령</a:t>
            </a:r>
            <a:endParaRPr lang="en-US" sz="1050" dirty="0"/>
          </a:p>
        </p:txBody>
      </p:sp>
      <p:sp>
        <p:nvSpPr>
          <p:cNvPr id="29" name="Text 19"/>
          <p:cNvSpPr/>
          <p:nvPr/>
        </p:nvSpPr>
        <p:spPr>
          <a:xfrm>
            <a:off x="5880646" y="6724650"/>
            <a:ext cx="544711" cy="1028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0"/>
              </a:lnSpc>
              <a:buNone/>
            </a:pPr>
            <a:r>
              <a:rPr lang="en-US" sz="675" dirty="0">
                <a:solidFill>
                  <a:srgbClr val="221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45325"/>
            <a:ext cx="280392" cy="21252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53" y="6604248"/>
            <a:ext cx="268188" cy="253603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38125" y="257175"/>
            <a:ext cx="9726930" cy="4229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30"/>
              </a:lnSpc>
              <a:buNone/>
            </a:pPr>
            <a:r>
              <a:rPr lang="en-US" sz="27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커밋의 기준과 show stat 검증</a:t>
            </a:r>
            <a:endParaRPr lang="en-US" sz="2775" dirty="0"/>
          </a:p>
        </p:txBody>
      </p:sp>
      <p:sp>
        <p:nvSpPr>
          <p:cNvPr id="7" name="Text 1"/>
          <p:cNvSpPr/>
          <p:nvPr/>
        </p:nvSpPr>
        <p:spPr>
          <a:xfrm>
            <a:off x="1447800" y="2466975"/>
            <a:ext cx="554736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1: 작은 단위 커밋 📝</a:t>
            </a:r>
            <a:endParaRPr lang="en-US" sz="2100" dirty="0"/>
          </a:p>
        </p:txBody>
      </p:sp>
      <p:sp>
        <p:nvSpPr>
          <p:cNvPr id="8" name="Text 2"/>
          <p:cNvSpPr/>
          <p:nvPr/>
        </p:nvSpPr>
        <p:spPr>
          <a:xfrm>
            <a:off x="1447800" y="3552825"/>
            <a:ext cx="618744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2: 명확한 메시지 작성 💬</a:t>
            </a:r>
            <a:endParaRPr lang="en-US" sz="2100" dirty="0"/>
          </a:p>
        </p:txBody>
      </p:sp>
      <p:sp>
        <p:nvSpPr>
          <p:cNvPr id="9" name="Text 3"/>
          <p:cNvSpPr/>
          <p:nvPr/>
        </p:nvSpPr>
        <p:spPr>
          <a:xfrm>
            <a:off x="1447800" y="4648200"/>
            <a:ext cx="618744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3: 범위의 일관성 유지 🎯</a:t>
            </a:r>
            <a:endParaRPr lang="en-US" sz="2100" dirty="0"/>
          </a:p>
        </p:txBody>
      </p:sp>
      <p:sp>
        <p:nvSpPr>
          <p:cNvPr id="10" name="Text 4"/>
          <p:cNvSpPr/>
          <p:nvPr/>
        </p:nvSpPr>
        <p:spPr>
          <a:xfrm>
            <a:off x="7296150" y="2466975"/>
            <a:ext cx="48958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show --stat HEAD 활용 🚀</a:t>
            </a:r>
            <a:endParaRPr lang="en-US" sz="2100" dirty="0"/>
          </a:p>
        </p:txBody>
      </p:sp>
      <p:sp>
        <p:nvSpPr>
          <p:cNvPr id="11" name="Text 5"/>
          <p:cNvSpPr/>
          <p:nvPr/>
        </p:nvSpPr>
        <p:spPr>
          <a:xfrm>
            <a:off x="7296150" y="3552825"/>
            <a:ext cx="489585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메시지도 나쁜 범위를 구제 못함</a:t>
            </a:r>
            <a:endParaRPr lang="en-US" sz="2100" dirty="0"/>
          </a:p>
        </p:txBody>
      </p:sp>
      <p:sp>
        <p:nvSpPr>
          <p:cNvPr id="12" name="Text 6"/>
          <p:cNvSpPr/>
          <p:nvPr/>
        </p:nvSpPr>
        <p:spPr>
          <a:xfrm>
            <a:off x="7296150" y="4648200"/>
            <a:ext cx="3200400" cy="4000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0"/>
              </a:lnSpc>
              <a:buNone/>
            </a:pPr>
            <a:r>
              <a:rPr lang="en-US" sz="21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 습관의 중요성</a:t>
            </a:r>
            <a:endParaRPr lang="en-US" sz="2100" dirty="0"/>
          </a:p>
        </p:txBody>
      </p:sp>
      <p:sp>
        <p:nvSpPr>
          <p:cNvPr id="13" name="Text 7"/>
          <p:cNvSpPr/>
          <p:nvPr/>
        </p:nvSpPr>
        <p:spPr>
          <a:xfrm>
            <a:off x="9308753" y="314325"/>
            <a:ext cx="56569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575" dirty="0"/>
          </a:p>
        </p:txBody>
      </p:sp>
      <p:sp>
        <p:nvSpPr>
          <p:cNvPr id="14" name="Text 8"/>
          <p:cNvSpPr/>
          <p:nvPr/>
        </p:nvSpPr>
        <p:spPr>
          <a:xfrm>
            <a:off x="2367855" y="1752600"/>
            <a:ext cx="113154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75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커밋 원칙</a:t>
            </a:r>
            <a:endParaRPr lang="en-US" sz="1275" dirty="0"/>
          </a:p>
        </p:txBody>
      </p:sp>
      <p:sp>
        <p:nvSpPr>
          <p:cNvPr id="15" name="Text 9"/>
          <p:cNvSpPr/>
          <p:nvPr/>
        </p:nvSpPr>
        <p:spPr>
          <a:xfrm>
            <a:off x="8259961" y="1752600"/>
            <a:ext cx="1634430" cy="180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5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show stat 검증</a:t>
            </a:r>
            <a:endParaRPr lang="en-US" sz="1425" dirty="0"/>
          </a:p>
        </p:txBody>
      </p:sp>
      <p:sp>
        <p:nvSpPr>
          <p:cNvPr id="16" name="Text 10"/>
          <p:cNvSpPr/>
          <p:nvPr/>
        </p:nvSpPr>
        <p:spPr>
          <a:xfrm>
            <a:off x="1447800" y="2886075"/>
            <a:ext cx="5349240" cy="3467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3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커밋엔 하나의 목적만 담기</a:t>
            </a:r>
            <a:endParaRPr lang="en-US" sz="1950" dirty="0"/>
          </a:p>
        </p:txBody>
      </p:sp>
      <p:sp>
        <p:nvSpPr>
          <p:cNvPr id="17" name="Text 11"/>
          <p:cNvSpPr/>
          <p:nvPr/>
        </p:nvSpPr>
        <p:spPr>
          <a:xfrm>
            <a:off x="1447800" y="3990975"/>
            <a:ext cx="685800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'feat: 기능 추가' 형식으로 의도 전달</a:t>
            </a:r>
            <a:endParaRPr lang="en-US" sz="1875" dirty="0"/>
          </a:p>
        </p:txBody>
      </p:sp>
      <p:sp>
        <p:nvSpPr>
          <p:cNvPr id="18" name="Text 12"/>
          <p:cNvSpPr/>
          <p:nvPr/>
        </p:nvSpPr>
        <p:spPr>
          <a:xfrm>
            <a:off x="1447800" y="5076825"/>
            <a:ext cx="6000750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메시지와 실제 변경 내용이 일치해야 함</a:t>
            </a:r>
            <a:endParaRPr lang="en-US" sz="1875" dirty="0"/>
          </a:p>
        </p:txBody>
      </p:sp>
      <p:sp>
        <p:nvSpPr>
          <p:cNvPr id="19" name="Text 13"/>
          <p:cNvSpPr/>
          <p:nvPr/>
        </p:nvSpPr>
        <p:spPr>
          <a:xfrm>
            <a:off x="7419975" y="3000375"/>
            <a:ext cx="4772025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82C86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show --stat HEAD</a:t>
            </a:r>
            <a:endParaRPr lang="en-US" sz="1725" dirty="0"/>
          </a:p>
        </p:txBody>
      </p:sp>
      <p:sp>
        <p:nvSpPr>
          <p:cNvPr id="20" name="Text 14"/>
          <p:cNvSpPr/>
          <p:nvPr/>
        </p:nvSpPr>
        <p:spPr>
          <a:xfrm>
            <a:off x="7419975" y="3943350"/>
            <a:ext cx="4772025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diff 기준으로 리뷰·추적이 이루어짐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7419975" y="5029200"/>
            <a:ext cx="4772025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25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show --stat을 루틴화해 실수 사전 방지</a:t>
            </a:r>
            <a:endParaRPr lang="en-US" sz="1875" dirty="0"/>
          </a:p>
        </p:txBody>
      </p:sp>
      <p:sp>
        <p:nvSpPr>
          <p:cNvPr id="22" name="Text 16"/>
          <p:cNvSpPr/>
          <p:nvPr/>
        </p:nvSpPr>
        <p:spPr>
          <a:xfrm>
            <a:off x="9981158" y="285750"/>
            <a:ext cx="2210842" cy="1954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39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 You Dream.</a:t>
            </a:r>
            <a:endParaRPr lang="en-US" sz="14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9017"/>
            <a:ext cx="268188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890" y="5157192"/>
            <a:ext cx="426690" cy="40451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757" y="3977580"/>
            <a:ext cx="999679" cy="60349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19271" y="2784277"/>
            <a:ext cx="1328886" cy="76795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06094" y="5129659"/>
            <a:ext cx="743694" cy="45258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20667" y="2743200"/>
            <a:ext cx="938659" cy="774948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352425" y="276225"/>
            <a:ext cx="8961120" cy="2373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push와 Upstream 브랜치 관계 이해</a:t>
            </a:r>
            <a:endParaRPr lang="en-US" sz="2100" dirty="0"/>
          </a:p>
        </p:txBody>
      </p:sp>
      <p:sp>
        <p:nvSpPr>
          <p:cNvPr id="12" name="Text 1"/>
          <p:cNvSpPr/>
          <p:nvPr/>
        </p:nvSpPr>
        <p:spPr>
          <a:xfrm>
            <a:off x="352425" y="2828925"/>
            <a:ext cx="416052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Upstream 브랜치란?</a:t>
            </a:r>
            <a:endParaRPr lang="en-US" sz="1950" dirty="0"/>
          </a:p>
        </p:txBody>
      </p:sp>
      <p:sp>
        <p:nvSpPr>
          <p:cNvPr id="13" name="Text 2"/>
          <p:cNvSpPr/>
          <p:nvPr/>
        </p:nvSpPr>
        <p:spPr>
          <a:xfrm>
            <a:off x="352425" y="3895725"/>
            <a:ext cx="772668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'push -u' 옵션으로 Upstream 등록</a:t>
            </a:r>
            <a:endParaRPr lang="en-US" sz="1950" dirty="0"/>
          </a:p>
        </p:txBody>
      </p:sp>
      <p:sp>
        <p:nvSpPr>
          <p:cNvPr id="14" name="Text 3"/>
          <p:cNvSpPr/>
          <p:nvPr/>
        </p:nvSpPr>
        <p:spPr>
          <a:xfrm>
            <a:off x="352425" y="5048250"/>
            <a:ext cx="683514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설정 후 push/pull 단축 사용 가능</a:t>
            </a:r>
            <a:endParaRPr lang="en-US" sz="1950" dirty="0"/>
          </a:p>
        </p:txBody>
      </p:sp>
      <p:sp>
        <p:nvSpPr>
          <p:cNvPr id="15" name="Text 4"/>
          <p:cNvSpPr/>
          <p:nvPr/>
        </p:nvSpPr>
        <p:spPr>
          <a:xfrm>
            <a:off x="6686550" y="2828925"/>
            <a:ext cx="550545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branch -vv'로 상태 확인</a:t>
            </a:r>
            <a:endParaRPr lang="en-US" sz="1950" dirty="0"/>
          </a:p>
        </p:txBody>
      </p:sp>
      <p:sp>
        <p:nvSpPr>
          <p:cNvPr id="16" name="Text 5"/>
          <p:cNvSpPr/>
          <p:nvPr/>
        </p:nvSpPr>
        <p:spPr>
          <a:xfrm>
            <a:off x="6686550" y="3962400"/>
            <a:ext cx="5505450" cy="3095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38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'[ahead N] / [behind N]' 읽는 법</a:t>
            </a:r>
            <a:endParaRPr lang="en-US" sz="1875" dirty="0"/>
          </a:p>
        </p:txBody>
      </p:sp>
      <p:sp>
        <p:nvSpPr>
          <p:cNvPr id="17" name="Text 6"/>
          <p:cNvSpPr/>
          <p:nvPr/>
        </p:nvSpPr>
        <p:spPr>
          <a:xfrm>
            <a:off x="6686550" y="5048250"/>
            <a:ext cx="4457700" cy="3219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 전 필수 점검 루틴</a:t>
            </a:r>
            <a:endParaRPr lang="en-US" sz="1950" dirty="0"/>
          </a:p>
        </p:txBody>
      </p:sp>
      <p:sp>
        <p:nvSpPr>
          <p:cNvPr id="18" name="Text 7"/>
          <p:cNvSpPr/>
          <p:nvPr/>
        </p:nvSpPr>
        <p:spPr>
          <a:xfrm>
            <a:off x="6686550" y="5438775"/>
            <a:ext cx="5505450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branch -vv' 로 브랜치 상태 먼저 확인</a:t>
            </a:r>
            <a:endParaRPr lang="en-US" sz="1575" dirty="0"/>
          </a:p>
        </p:txBody>
      </p:sp>
      <p:sp>
        <p:nvSpPr>
          <p:cNvPr id="19" name="Text 8"/>
          <p:cNvSpPr/>
          <p:nvPr/>
        </p:nvSpPr>
        <p:spPr>
          <a:xfrm>
            <a:off x="962025" y="3219450"/>
            <a:ext cx="603504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브랜치가 추적하는 원격 브랜치를 의미함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962025" y="4362450"/>
            <a:ext cx="9726930" cy="2848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42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'git push -u origin main' 으로 연결 관계 등록</a:t>
            </a:r>
            <a:endParaRPr lang="en-US" sz="1725" dirty="0"/>
          </a:p>
        </p:txBody>
      </p:sp>
      <p:sp>
        <p:nvSpPr>
          <p:cNvPr id="21" name="Text 10"/>
          <p:cNvSpPr/>
          <p:nvPr/>
        </p:nvSpPr>
        <p:spPr>
          <a:xfrm>
            <a:off x="962025" y="5438775"/>
            <a:ext cx="6720840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이후엔 'git push' 만으로 원격 동기화 가능</a:t>
            </a:r>
            <a:endParaRPr lang="en-US" sz="1575" dirty="0"/>
          </a:p>
        </p:txBody>
      </p:sp>
      <p:sp>
        <p:nvSpPr>
          <p:cNvPr id="22" name="Text 11"/>
          <p:cNvSpPr/>
          <p:nvPr/>
        </p:nvSpPr>
        <p:spPr>
          <a:xfrm>
            <a:off x="6686550" y="3219450"/>
            <a:ext cx="5505450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로컬-원격 브랜치 연결 및 커밋 차이 표시</a:t>
            </a:r>
            <a:endParaRPr lang="en-US" sz="1650" dirty="0"/>
          </a:p>
        </p:txBody>
      </p:sp>
      <p:sp>
        <p:nvSpPr>
          <p:cNvPr id="23" name="Text 12"/>
          <p:cNvSpPr/>
          <p:nvPr/>
        </p:nvSpPr>
        <p:spPr>
          <a:xfrm>
            <a:off x="6686550" y="4362450"/>
            <a:ext cx="5505450" cy="26000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48"/>
              </a:lnSpc>
              <a:buNone/>
            </a:pPr>
            <a:r>
              <a:rPr lang="en-US" sz="15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ahead: 미푸시 커밋 수, behind: 미수신 커밋 수</a:t>
            </a:r>
            <a:endParaRPr lang="en-US" sz="1575" dirty="0"/>
          </a:p>
        </p:txBody>
      </p:sp>
      <p:sp>
        <p:nvSpPr>
          <p:cNvPr id="24" name="Text 13"/>
          <p:cNvSpPr/>
          <p:nvPr/>
        </p:nvSpPr>
        <p:spPr>
          <a:xfrm>
            <a:off x="409575" y="228600"/>
            <a:ext cx="115824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425" dirty="0"/>
          </a:p>
        </p:txBody>
      </p:sp>
      <p:sp>
        <p:nvSpPr>
          <p:cNvPr id="25" name="Text 14"/>
          <p:cNvSpPr/>
          <p:nvPr/>
        </p:nvSpPr>
        <p:spPr>
          <a:xfrm>
            <a:off x="1245840" y="2314575"/>
            <a:ext cx="171822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Upstream 브랜치 설정</a:t>
            </a:r>
            <a:endParaRPr lang="en-US" sz="1200" dirty="0"/>
          </a:p>
        </p:txBody>
      </p:sp>
      <p:sp>
        <p:nvSpPr>
          <p:cNvPr id="26" name="Text 15"/>
          <p:cNvSpPr/>
          <p:nvPr/>
        </p:nvSpPr>
        <p:spPr>
          <a:xfrm>
            <a:off x="6910388" y="2314575"/>
            <a:ext cx="178117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 상태 및 커밋 검증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8515350" y="190500"/>
            <a:ext cx="367665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 로컬 작업 루프와 핵심 Git 명령</a:t>
            </a:r>
            <a:endParaRPr lang="en-US" sz="1125" dirty="0"/>
          </a:p>
        </p:txBody>
      </p:sp>
      <p:sp>
        <p:nvSpPr>
          <p:cNvPr id="28" name="Text 17"/>
          <p:cNvSpPr/>
          <p:nvPr/>
        </p:nvSpPr>
        <p:spPr>
          <a:xfrm>
            <a:off x="10896600" y="190500"/>
            <a:ext cx="1068586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655" y="4841677"/>
            <a:ext cx="243780" cy="23991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7977" y="5088582"/>
            <a:ext cx="646063" cy="528042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1561" y="4834830"/>
            <a:ext cx="255984" cy="24675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486" y="1501825"/>
            <a:ext cx="11265396" cy="2750046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409575" y="781050"/>
            <a:ext cx="11782425" cy="4567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597"/>
              </a:lnSpc>
              <a:buNone/>
            </a:pPr>
            <a:r>
              <a:rPr lang="en-US" sz="33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안전한 동기화를 위한 fetch vs pull 전략</a:t>
            </a:r>
            <a:endParaRPr lang="en-US" sz="3300" dirty="0"/>
          </a:p>
        </p:txBody>
      </p:sp>
      <p:sp>
        <p:nvSpPr>
          <p:cNvPr id="11" name="Text 1"/>
          <p:cNvSpPr/>
          <p:nvPr/>
        </p:nvSpPr>
        <p:spPr>
          <a:xfrm>
            <a:off x="361950" y="200025"/>
            <a:ext cx="1828800" cy="3400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2250" dirty="0"/>
          </a:p>
        </p:txBody>
      </p:sp>
      <p:sp>
        <p:nvSpPr>
          <p:cNvPr id="12" name="Text 2"/>
          <p:cNvSpPr/>
          <p:nvPr/>
        </p:nvSpPr>
        <p:spPr>
          <a:xfrm>
            <a:off x="2276475" y="4857750"/>
            <a:ext cx="369189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fetch: 안전한 확인</a:t>
            </a:r>
            <a:endParaRPr lang="en-US" sz="1425" dirty="0"/>
          </a:p>
        </p:txBody>
      </p:sp>
      <p:sp>
        <p:nvSpPr>
          <p:cNvPr id="13" name="Text 3"/>
          <p:cNvSpPr/>
          <p:nvPr/>
        </p:nvSpPr>
        <p:spPr>
          <a:xfrm>
            <a:off x="8515350" y="4857750"/>
            <a:ext cx="325755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pull: 자동 병합</a:t>
            </a:r>
            <a:endParaRPr lang="en-US" sz="1425" dirty="0"/>
          </a:p>
        </p:txBody>
      </p:sp>
      <p:sp>
        <p:nvSpPr>
          <p:cNvPr id="14" name="Text 4"/>
          <p:cNvSpPr/>
          <p:nvPr/>
        </p:nvSpPr>
        <p:spPr>
          <a:xfrm>
            <a:off x="914400" y="5229225"/>
            <a:ext cx="4955828" cy="934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fetch: 로컬에 영향 없는 안전한 확인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(원격 이력만 가져오며 작업 디렉토리는 그대로 유지)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fetch 후 차이 분석 단계 필수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(git log --oneline --graph --all 로 원격과 로컬 차이 시각화)</a:t>
            </a:r>
            <a:endParaRPr lang="en-US" sz="1425" dirty="0"/>
          </a:p>
        </p:txBody>
      </p:sp>
      <p:sp>
        <p:nvSpPr>
          <p:cNvPr id="15" name="Text 5"/>
          <p:cNvSpPr/>
          <p:nvPr/>
        </p:nvSpPr>
        <p:spPr>
          <a:xfrm>
            <a:off x="6734175" y="5229225"/>
            <a:ext cx="5196780" cy="934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pull: fetch + merge 자동 실행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(편리하지만 예상치 못한 충돌이나 병합 커밋 발생 가능)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pull 직접 실행 시주의사항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(미완성 작업이 있으면 stash 후 pull, 완성 시 commit 후 pull)</a:t>
            </a:r>
            <a:endParaRPr lang="en-US" sz="1425" dirty="0"/>
          </a:p>
        </p:txBody>
      </p:sp>
      <p:sp>
        <p:nvSpPr>
          <p:cNvPr id="16" name="Text 6"/>
          <p:cNvSpPr/>
          <p:nvPr/>
        </p:nvSpPr>
        <p:spPr>
          <a:xfrm>
            <a:off x="9144000" y="200025"/>
            <a:ext cx="2996505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17" name="Text 7"/>
          <p:cNvSpPr/>
          <p:nvPr/>
        </p:nvSpPr>
        <p:spPr>
          <a:xfrm>
            <a:off x="6502598" y="4343400"/>
            <a:ext cx="5689402" cy="1966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4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① git fetch → ② 차이 확인 → ③ merge 또는 rebase 직접 실행</a:t>
            </a:r>
            <a:endParaRPr lang="en-US" sz="1200" dirty="0"/>
          </a:p>
        </p:txBody>
      </p:sp>
      <p:sp>
        <p:nvSpPr>
          <p:cNvPr id="18" name="Text 8"/>
          <p:cNvSpPr/>
          <p:nvPr/>
        </p:nvSpPr>
        <p:spPr>
          <a:xfrm>
            <a:off x="9144000" y="276225"/>
            <a:ext cx="1896368" cy="1320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40"/>
              </a:lnSpc>
              <a:buNone/>
            </a:pPr>
            <a:r>
              <a:rPr lang="en-US" sz="105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작업 루프와 힘심 Git 명령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17940"/>
            <a:ext cx="231577" cy="23991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9663" y="4615309"/>
            <a:ext cx="755898" cy="54858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765" y="4656534"/>
            <a:ext cx="377875" cy="42505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83067" y="4601617"/>
            <a:ext cx="780157" cy="56911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58486" y="3483769"/>
            <a:ext cx="719286" cy="72687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7969" y="4629150"/>
            <a:ext cx="767953" cy="53488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9867" y="4649688"/>
            <a:ext cx="377875" cy="43204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74282" y="4635996"/>
            <a:ext cx="463153" cy="500509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81365" y="3483769"/>
            <a:ext cx="780157" cy="72687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01553" y="4587925"/>
            <a:ext cx="511969" cy="56911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60377" y="4656534"/>
            <a:ext cx="353467" cy="42505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75271" y="4581079"/>
            <a:ext cx="743694" cy="569119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01875" y="3483769"/>
            <a:ext cx="731490" cy="726877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1381125" y="190500"/>
            <a:ext cx="6240780" cy="2823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3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실습 First Commit Cycle</a:t>
            </a:r>
            <a:endParaRPr lang="en-US" sz="1950" dirty="0"/>
          </a:p>
        </p:txBody>
      </p:sp>
      <p:sp>
        <p:nvSpPr>
          <p:cNvPr id="19" name="Text 1"/>
          <p:cNvSpPr/>
          <p:nvPr/>
        </p:nvSpPr>
        <p:spPr>
          <a:xfrm>
            <a:off x="466725" y="190500"/>
            <a:ext cx="134112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650" dirty="0"/>
          </a:p>
        </p:txBody>
      </p:sp>
      <p:sp>
        <p:nvSpPr>
          <p:cNvPr id="20" name="Text 2"/>
          <p:cNvSpPr/>
          <p:nvPr/>
        </p:nvSpPr>
        <p:spPr>
          <a:xfrm>
            <a:off x="771525" y="1323975"/>
            <a:ext cx="11420475" cy="4177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89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루프의 첫 단계: 파일 추가부터 준비 영역 등록까지</a:t>
            </a:r>
            <a:endParaRPr lang="en-US" sz="2550" dirty="0"/>
          </a:p>
        </p:txBody>
      </p:sp>
      <p:sp>
        <p:nvSpPr>
          <p:cNvPr id="21" name="Text 3"/>
          <p:cNvSpPr/>
          <p:nvPr/>
        </p:nvSpPr>
        <p:spPr>
          <a:xfrm>
            <a:off x="3514725" y="2038350"/>
            <a:ext cx="814959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루프의 첫 단계: 파일 추가부터 준비 영역 등록까지</a:t>
            </a:r>
            <a:endParaRPr lang="en-US" sz="1725" dirty="0"/>
          </a:p>
        </p:txBody>
      </p:sp>
      <p:sp>
        <p:nvSpPr>
          <p:cNvPr id="22" name="Text 4"/>
          <p:cNvSpPr/>
          <p:nvPr/>
        </p:nvSpPr>
        <p:spPr>
          <a:xfrm>
            <a:off x="1496318" y="2838450"/>
            <a:ext cx="1655415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1단계: 생성 및 사전 검토</a:t>
            </a:r>
            <a:endParaRPr lang="en-US" sz="1125" dirty="0"/>
          </a:p>
        </p:txBody>
      </p:sp>
      <p:sp>
        <p:nvSpPr>
          <p:cNvPr id="23" name="Text 5"/>
          <p:cNvSpPr/>
          <p:nvPr/>
        </p:nvSpPr>
        <p:spPr>
          <a:xfrm>
            <a:off x="5160169" y="2838450"/>
            <a:ext cx="193833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2단계: Staging Area 등록</a:t>
            </a:r>
            <a:endParaRPr lang="en-US" sz="1200" dirty="0"/>
          </a:p>
        </p:txBody>
      </p:sp>
      <p:sp>
        <p:nvSpPr>
          <p:cNvPr id="24" name="Text 6"/>
          <p:cNvSpPr/>
          <p:nvPr/>
        </p:nvSpPr>
        <p:spPr>
          <a:xfrm>
            <a:off x="8909596" y="2838450"/>
            <a:ext cx="2011561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3단계: 최종 검증 및 루프 스타.rt</a:t>
            </a:r>
            <a:endParaRPr lang="en-US" sz="1050" dirty="0"/>
          </a:p>
        </p:txBody>
      </p:sp>
      <p:sp>
        <p:nvSpPr>
          <p:cNvPr id="25" name="Text 7"/>
          <p:cNvSpPr/>
          <p:nvPr/>
        </p:nvSpPr>
        <p:spPr>
          <a:xfrm>
            <a:off x="657225" y="5334000"/>
            <a:ext cx="4002286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📁 notes.txt 파일 추가 및 상태 확인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echo 명령으로 파일 생성 후 git status로 Untracked 상태 확인</a:t>
            </a:r>
            <a:endParaRPr lang="en-US" sz="1050" dirty="0"/>
          </a:p>
        </p:txBody>
      </p:sp>
      <p:sp>
        <p:nvSpPr>
          <p:cNvPr id="26" name="Text 8"/>
          <p:cNvSpPr/>
          <p:nvPr/>
        </p:nvSpPr>
        <p:spPr>
          <a:xfrm>
            <a:off x="657225" y="5715000"/>
            <a:ext cx="3237458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🔍 git diff로 변경 내용 사전 검토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61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Staging 전 Working Tree의 실제 변경 내용을 diff로 확인</a:t>
            </a:r>
            <a:endParaRPr lang="en-US" sz="900" dirty="0"/>
          </a:p>
        </p:txBody>
      </p:sp>
      <p:sp>
        <p:nvSpPr>
          <p:cNvPr id="27" name="Text 9"/>
          <p:cNvSpPr/>
          <p:nvPr/>
        </p:nvSpPr>
        <p:spPr>
          <a:xfrm>
            <a:off x="4448175" y="5334000"/>
            <a:ext cx="3352800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✏️ git add로 Staging Area에 등록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add notes.txt 실행 후 파일이 준비 영역으로 이동</a:t>
            </a:r>
            <a:endParaRPr lang="en-US" sz="1050" dirty="0"/>
          </a:p>
        </p:txBody>
      </p:sp>
      <p:sp>
        <p:nvSpPr>
          <p:cNvPr id="28" name="Text 10"/>
          <p:cNvSpPr/>
          <p:nvPr/>
        </p:nvSpPr>
        <p:spPr>
          <a:xfrm>
            <a:off x="4448175" y="5715000"/>
            <a:ext cx="341560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📋 가이드 문서 추가 후 동일 흐름 반복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번째 파일 추가로 다음 파일 Staging 흐름 체험</a:t>
            </a:r>
            <a:endParaRPr lang="en-US" sz="1125" dirty="0"/>
          </a:p>
        </p:txBody>
      </p:sp>
      <p:sp>
        <p:nvSpPr>
          <p:cNvPr id="29" name="Text 11"/>
          <p:cNvSpPr/>
          <p:nvPr/>
        </p:nvSpPr>
        <p:spPr>
          <a:xfrm>
            <a:off x="8239125" y="5334000"/>
            <a:ext cx="3604171" cy="3440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✅ git diff --staged로 최종 검증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Staging된 내용만 볼 수 있도록 확인하여 커밋 전 오류 방지</a:t>
            </a:r>
            <a:endParaRPr lang="en-US" sz="1050" dirty="0"/>
          </a:p>
        </p:txBody>
      </p:sp>
      <p:sp>
        <p:nvSpPr>
          <p:cNvPr id="30" name="Text 12"/>
          <p:cNvSpPr/>
          <p:nvPr/>
        </p:nvSpPr>
        <p:spPr>
          <a:xfrm>
            <a:off x="8239125" y="5715000"/>
            <a:ext cx="3520380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📌 각 단계별 git status 재확인 습관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명령 실행 전후 status 확인으로 상태 변화 직접 관찰</a:t>
            </a:r>
            <a:endParaRPr lang="en-US" sz="1125" dirty="0"/>
          </a:p>
        </p:txBody>
      </p:sp>
      <p:sp>
        <p:nvSpPr>
          <p:cNvPr id="31" name="Text 13"/>
          <p:cNvSpPr/>
          <p:nvPr/>
        </p:nvSpPr>
        <p:spPr>
          <a:xfrm>
            <a:off x="1695896" y="6200775"/>
            <a:ext cx="12467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 확인 습관</a:t>
            </a:r>
            <a:endParaRPr lang="en-US" sz="1200" dirty="0"/>
          </a:p>
        </p:txBody>
      </p:sp>
      <p:sp>
        <p:nvSpPr>
          <p:cNvPr id="32" name="Text 14"/>
          <p:cNvSpPr/>
          <p:nvPr/>
        </p:nvSpPr>
        <p:spPr>
          <a:xfrm>
            <a:off x="5527328" y="6200775"/>
            <a:ext cx="1194346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Status 확인 습관</a:t>
            </a:r>
            <a:endParaRPr lang="en-US" sz="1125" dirty="0"/>
          </a:p>
        </p:txBody>
      </p:sp>
      <p:sp>
        <p:nvSpPr>
          <p:cNvPr id="33" name="Text 15"/>
          <p:cNvSpPr/>
          <p:nvPr/>
        </p:nvSpPr>
        <p:spPr>
          <a:xfrm>
            <a:off x="9412486" y="6200775"/>
            <a:ext cx="100578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준비 완료</a:t>
            </a:r>
            <a:endParaRPr lang="en-US" sz="1125" dirty="0"/>
          </a:p>
        </p:txBody>
      </p:sp>
      <p:sp>
        <p:nvSpPr>
          <p:cNvPr id="34" name="Text 16"/>
          <p:cNvSpPr/>
          <p:nvPr/>
        </p:nvSpPr>
        <p:spPr>
          <a:xfrm>
            <a:off x="10972800" y="190500"/>
            <a:ext cx="1068586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188"/>
              </a:lnSpc>
              <a:buNone/>
            </a:pPr>
            <a:r>
              <a:rPr lang="en-US" sz="120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200" dirty="0"/>
          </a:p>
        </p:txBody>
      </p:sp>
      <p:sp>
        <p:nvSpPr>
          <p:cNvPr id="35" name="Text 17"/>
          <p:cNvSpPr/>
          <p:nvPr/>
        </p:nvSpPr>
        <p:spPr>
          <a:xfrm>
            <a:off x="228600" y="6638925"/>
            <a:ext cx="182880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200" dirty="0"/>
          </a:p>
        </p:txBody>
      </p:sp>
      <p:sp>
        <p:nvSpPr>
          <p:cNvPr id="36" name="Text 18"/>
          <p:cNvSpPr/>
          <p:nvPr/>
        </p:nvSpPr>
        <p:spPr>
          <a:xfrm>
            <a:off x="5870674" y="6715125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184" y="6528792"/>
            <a:ext cx="292596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4165" y="6521946"/>
            <a:ext cx="316855" cy="25360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984" y="6521946"/>
            <a:ext cx="268188" cy="24675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1867" y="2811661"/>
            <a:ext cx="767953" cy="630882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5898" y="2818507"/>
            <a:ext cx="719286" cy="637729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6392" y="2777430"/>
            <a:ext cx="524173" cy="596503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777" y="2777430"/>
            <a:ext cx="658267" cy="53488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2818507"/>
            <a:ext cx="755898" cy="226219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04825" y="447675"/>
            <a:ext cx="11687175" cy="5427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274"/>
              </a:lnSpc>
              <a:buNone/>
            </a:pPr>
            <a:r>
              <a:rPr lang="en-US" sz="30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Staging 복구와 gitignore의 활용</a:t>
            </a:r>
            <a:endParaRPr lang="en-US" sz="3075" dirty="0"/>
          </a:p>
        </p:txBody>
      </p:sp>
      <p:sp>
        <p:nvSpPr>
          <p:cNvPr id="12" name="Text 1"/>
          <p:cNvSpPr/>
          <p:nvPr/>
        </p:nvSpPr>
        <p:spPr>
          <a:xfrm>
            <a:off x="895350" y="1104900"/>
            <a:ext cx="4309110" cy="4004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54"/>
              </a:lnSpc>
              <a:buNone/>
            </a:pPr>
            <a:r>
              <a:rPr lang="en-US" sz="217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세부 내용 및 보안 수단</a:t>
            </a:r>
            <a:endParaRPr lang="en-US" sz="2175" dirty="0"/>
          </a:p>
        </p:txBody>
      </p:sp>
      <p:sp>
        <p:nvSpPr>
          <p:cNvPr id="13" name="Text 2"/>
          <p:cNvSpPr/>
          <p:nvPr/>
        </p:nvSpPr>
        <p:spPr>
          <a:xfrm>
            <a:off x="628650" y="4695825"/>
            <a:ext cx="4610100" cy="557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`--staged` 옵션으로 Staging Area에서만 제거,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9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파일 내용은 Working Tree에 유지됨</a:t>
            </a:r>
            <a:endParaRPr lang="en-US" sz="1650" dirty="0"/>
          </a:p>
        </p:txBody>
      </p:sp>
      <p:sp>
        <p:nvSpPr>
          <p:cNvPr id="14" name="Text 3"/>
          <p:cNvSpPr/>
          <p:nvPr/>
        </p:nvSpPr>
        <p:spPr>
          <a:xfrm>
            <a:off x="838200" y="3438525"/>
            <a:ext cx="9989820" cy="354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95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git restore --staged config.local.json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1470571" y="1990725"/>
            <a:ext cx="2849761" cy="324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5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실수로 add한 파일 되돌리기</a:t>
            </a:r>
            <a:endParaRPr lang="en-US" sz="1725" dirty="0"/>
          </a:p>
        </p:txBody>
      </p:sp>
      <p:sp>
        <p:nvSpPr>
          <p:cNvPr id="16" name="Text 5"/>
          <p:cNvSpPr/>
          <p:nvPr/>
        </p:nvSpPr>
        <p:spPr>
          <a:xfrm>
            <a:off x="5725864" y="1990725"/>
            <a:ext cx="18543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4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.gitignore의 역할</a:t>
            </a:r>
            <a:endParaRPr lang="en-US" sz="1650" dirty="0"/>
          </a:p>
        </p:txBody>
      </p:sp>
      <p:sp>
        <p:nvSpPr>
          <p:cNvPr id="17" name="Text 6"/>
          <p:cNvSpPr/>
          <p:nvPr/>
        </p:nvSpPr>
        <p:spPr>
          <a:xfrm>
            <a:off x="7952780" y="1990725"/>
            <a:ext cx="16868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4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단위 적용 의미</a:t>
            </a:r>
            <a:endParaRPr lang="en-US" sz="1650" dirty="0"/>
          </a:p>
        </p:txBody>
      </p:sp>
      <p:sp>
        <p:nvSpPr>
          <p:cNvPr id="18" name="Text 7"/>
          <p:cNvSpPr/>
          <p:nvPr/>
        </p:nvSpPr>
        <p:spPr>
          <a:xfrm>
            <a:off x="10033546" y="1990725"/>
            <a:ext cx="159246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42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근본적 예방 효과</a:t>
            </a:r>
            <a:endParaRPr lang="en-US" sz="1650" dirty="0"/>
          </a:p>
        </p:txBody>
      </p:sp>
      <p:sp>
        <p:nvSpPr>
          <p:cNvPr id="19" name="Text 8"/>
          <p:cNvSpPr/>
          <p:nvPr/>
        </p:nvSpPr>
        <p:spPr>
          <a:xfrm>
            <a:off x="6216848" y="3448050"/>
            <a:ext cx="901005" cy="5030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 정보</a:t>
            </a:r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보호</a:t>
            </a:r>
            <a:endParaRPr lang="en-US" sz="1650" dirty="0"/>
          </a:p>
        </p:txBody>
      </p:sp>
      <p:sp>
        <p:nvSpPr>
          <p:cNvPr id="20" name="Text 9"/>
          <p:cNvSpPr/>
          <p:nvPr/>
        </p:nvSpPr>
        <p:spPr>
          <a:xfrm>
            <a:off x="8226623" y="3514725"/>
            <a:ext cx="1110555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일관성</a:t>
            </a:r>
            <a:endParaRPr lang="en-US" sz="1650" dirty="0"/>
          </a:p>
        </p:txBody>
      </p:sp>
      <p:sp>
        <p:nvSpPr>
          <p:cNvPr id="21" name="Text 10"/>
          <p:cNvSpPr/>
          <p:nvPr/>
        </p:nvSpPr>
        <p:spPr>
          <a:xfrm>
            <a:off x="10351294" y="3514725"/>
            <a:ext cx="890588" cy="2723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사전 예방</a:t>
            </a:r>
            <a:endParaRPr lang="en-US" sz="1650" dirty="0"/>
          </a:p>
        </p:txBody>
      </p:sp>
      <p:sp>
        <p:nvSpPr>
          <p:cNvPr id="22" name="Text 11"/>
          <p:cNvSpPr/>
          <p:nvPr/>
        </p:nvSpPr>
        <p:spPr>
          <a:xfrm>
            <a:off x="5810250" y="4352925"/>
            <a:ext cx="265557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비밀번호·로그 파일</a:t>
            </a:r>
            <a:endParaRPr lang="en-US" sz="1275" dirty="0"/>
          </a:p>
        </p:txBody>
      </p:sp>
      <p:sp>
        <p:nvSpPr>
          <p:cNvPr id="23" name="Text 12"/>
          <p:cNvSpPr/>
          <p:nvPr/>
        </p:nvSpPr>
        <p:spPr>
          <a:xfrm>
            <a:off x="5810250" y="4800600"/>
            <a:ext cx="323088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API 키·환경 설정 파일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5810250" y="5238750"/>
            <a:ext cx="30480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컴파일 파일/빌드 산출물</a:t>
            </a: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5810250" y="5676900"/>
            <a:ext cx="3017520" cy="2160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01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임시 파일/로컬 설정</a:t>
            </a:r>
            <a:endParaRPr lang="en-US" sz="1350" dirty="0"/>
          </a:p>
        </p:txBody>
      </p:sp>
      <p:sp>
        <p:nvSpPr>
          <p:cNvPr id="26" name="Text 15"/>
          <p:cNvSpPr/>
          <p:nvPr/>
        </p:nvSpPr>
        <p:spPr>
          <a:xfrm>
            <a:off x="8029575" y="4352925"/>
            <a:ext cx="286512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동일한 제외 규칙 공유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8029575" y="4800600"/>
            <a:ext cx="21336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실수 누출 방지</a:t>
            </a:r>
            <a:endParaRPr lang="en-US" sz="1200" dirty="0"/>
          </a:p>
        </p:txBody>
      </p:sp>
      <p:sp>
        <p:nvSpPr>
          <p:cNvPr id="28" name="Text 17"/>
          <p:cNvSpPr/>
          <p:nvPr/>
        </p:nvSpPr>
        <p:spPr>
          <a:xfrm>
            <a:off x="8029575" y="5238750"/>
            <a:ext cx="21336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보안 문화 정착</a:t>
            </a:r>
            <a:endParaRPr lang="en-US" sz="1200" dirty="0"/>
          </a:p>
        </p:txBody>
      </p:sp>
      <p:sp>
        <p:nvSpPr>
          <p:cNvPr id="29" name="Text 18"/>
          <p:cNvSpPr/>
          <p:nvPr/>
        </p:nvSpPr>
        <p:spPr>
          <a:xfrm>
            <a:off x="8029575" y="5676900"/>
            <a:ext cx="21336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커밋 이력 보호</a:t>
            </a:r>
            <a:endParaRPr lang="en-US" sz="1200" dirty="0"/>
          </a:p>
        </p:txBody>
      </p:sp>
      <p:sp>
        <p:nvSpPr>
          <p:cNvPr id="30" name="Text 19"/>
          <p:cNvSpPr/>
          <p:nvPr/>
        </p:nvSpPr>
        <p:spPr>
          <a:xfrm>
            <a:off x="10058400" y="4352925"/>
            <a:ext cx="21336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restore는 사후 복구</a:t>
            </a:r>
            <a:endParaRPr lang="en-US" sz="1200" dirty="0"/>
          </a:p>
        </p:txBody>
      </p:sp>
      <p:sp>
        <p:nvSpPr>
          <p:cNvPr id="31" name="Text 20"/>
          <p:cNvSpPr/>
          <p:nvPr/>
        </p:nvSpPr>
        <p:spPr>
          <a:xfrm>
            <a:off x="10058400" y="4800600"/>
            <a:ext cx="21336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gitignore는 사전 등록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10058400" y="5238750"/>
            <a:ext cx="21336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근본적 보안 사고 예방</a:t>
            </a:r>
            <a:endParaRPr lang="en-US" sz="1200" dirty="0"/>
          </a:p>
        </p:txBody>
      </p:sp>
      <p:sp>
        <p:nvSpPr>
          <p:cNvPr id="33" name="Text 22"/>
          <p:cNvSpPr/>
          <p:nvPr/>
        </p:nvSpPr>
        <p:spPr>
          <a:xfrm>
            <a:off x="10058400" y="5676900"/>
            <a:ext cx="2133600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12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개발 생산성 증대</a:t>
            </a:r>
            <a:endParaRPr lang="en-US" sz="1200" dirty="0"/>
          </a:p>
        </p:txBody>
      </p:sp>
      <p:sp>
        <p:nvSpPr>
          <p:cNvPr id="34" name="Text 23"/>
          <p:cNvSpPr/>
          <p:nvPr/>
        </p:nvSpPr>
        <p:spPr>
          <a:xfrm>
            <a:off x="10106025" y="323850"/>
            <a:ext cx="191735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 We Display.</a:t>
            </a:r>
            <a:endParaRPr lang="en-US" sz="1125" dirty="0"/>
          </a:p>
        </p:txBody>
      </p:sp>
      <p:sp>
        <p:nvSpPr>
          <p:cNvPr id="35" name="Text 24"/>
          <p:cNvSpPr/>
          <p:nvPr/>
        </p:nvSpPr>
        <p:spPr>
          <a:xfrm>
            <a:off x="0" y="0"/>
            <a:ext cx="301752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 WOLED</a:t>
            </a:r>
            <a:endParaRPr lang="en-US" sz="1650" dirty="0"/>
          </a:p>
        </p:txBody>
      </p:sp>
      <p:sp>
        <p:nvSpPr>
          <p:cNvPr id="36" name="Text 25"/>
          <p:cNvSpPr/>
          <p:nvPr/>
        </p:nvSpPr>
        <p:spPr>
          <a:xfrm>
            <a:off x="10991850" y="6562725"/>
            <a:ext cx="1200150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5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Tandem OLED</a:t>
            </a:r>
            <a:endParaRPr lang="en-US" sz="1050" dirty="0"/>
          </a:p>
        </p:txBody>
      </p:sp>
      <p:sp>
        <p:nvSpPr>
          <p:cNvPr id="37" name="Text 26"/>
          <p:cNvSpPr/>
          <p:nvPr/>
        </p:nvSpPr>
        <p:spPr>
          <a:xfrm>
            <a:off x="1638300" y="6562725"/>
            <a:ext cx="45050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공개</a:t>
            </a:r>
            <a:endParaRPr lang="en-US" sz="1125" dirty="0"/>
          </a:p>
        </p:txBody>
      </p:sp>
      <p:sp>
        <p:nvSpPr>
          <p:cNvPr id="38" name="Text 27"/>
          <p:cNvSpPr/>
          <p:nvPr/>
        </p:nvSpPr>
        <p:spPr>
          <a:xfrm>
            <a:off x="2143125" y="6562725"/>
            <a:ext cx="754380" cy="12471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  <p:sp>
        <p:nvSpPr>
          <p:cNvPr id="39" name="Text 28"/>
          <p:cNvSpPr/>
          <p:nvPr/>
        </p:nvSpPr>
        <p:spPr>
          <a:xfrm>
            <a:off x="571500" y="57150"/>
            <a:ext cx="9144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125" dirty="0"/>
          </a:p>
        </p:txBody>
      </p:sp>
      <p:sp>
        <p:nvSpPr>
          <p:cNvPr id="40" name="Text 29"/>
          <p:cNvSpPr/>
          <p:nvPr/>
        </p:nvSpPr>
        <p:spPr>
          <a:xfrm>
            <a:off x="504825" y="656272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5796" y="6659017"/>
            <a:ext cx="292596" cy="198834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40275" y="6062365"/>
            <a:ext cx="646063" cy="267444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841677"/>
            <a:ext cx="499765" cy="4868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3475" y="3278088"/>
            <a:ext cx="1011882" cy="113154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7082" y="3298627"/>
            <a:ext cx="1011882" cy="1097161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1381125" y="142875"/>
            <a:ext cx="10810875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Push 직전 필수 검증 루틴 Pre-flight Checklist</a:t>
            </a:r>
            <a:endParaRPr lang="en-US" sz="2325" dirty="0"/>
          </a:p>
        </p:txBody>
      </p:sp>
      <p:sp>
        <p:nvSpPr>
          <p:cNvPr id="11" name="Text 1"/>
          <p:cNvSpPr/>
          <p:nvPr/>
        </p:nvSpPr>
        <p:spPr>
          <a:xfrm>
            <a:off x="4057650" y="1390650"/>
            <a:ext cx="419100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없는 푸시를 위한 필수 체크리스트</a:t>
            </a:r>
            <a:endParaRPr lang="en-US" sz="1725" dirty="0"/>
          </a:p>
        </p:txBody>
      </p:sp>
      <p:sp>
        <p:nvSpPr>
          <p:cNvPr id="12" name="Text 2"/>
          <p:cNvSpPr/>
          <p:nvPr/>
        </p:nvSpPr>
        <p:spPr>
          <a:xfrm>
            <a:off x="352425" y="209550"/>
            <a:ext cx="1219200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500" dirty="0"/>
          </a:p>
        </p:txBody>
      </p:sp>
      <p:sp>
        <p:nvSpPr>
          <p:cNvPr id="13" name="Text 3"/>
          <p:cNvSpPr/>
          <p:nvPr/>
        </p:nvSpPr>
        <p:spPr>
          <a:xfrm>
            <a:off x="4469606" y="5810250"/>
            <a:ext cx="330041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목표: 안전한 코드 통합 및 실수 차단</a:t>
            </a:r>
            <a:endParaRPr lang="en-US" sz="1500" dirty="0"/>
          </a:p>
        </p:txBody>
      </p:sp>
      <p:sp>
        <p:nvSpPr>
          <p:cNvPr id="14" name="Text 4"/>
          <p:cNvSpPr/>
          <p:nvPr/>
        </p:nvSpPr>
        <p:spPr>
          <a:xfrm>
            <a:off x="2387352" y="2057400"/>
            <a:ext cx="2168723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&amp; 커밋 상태 검증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8305205" y="2057400"/>
            <a:ext cx="1896368" cy="2647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&amp; 브랜치 검증</a:t>
            </a:r>
            <a:endParaRPr lang="en-US" sz="1500" dirty="0"/>
          </a:p>
        </p:txBody>
      </p:sp>
      <p:sp>
        <p:nvSpPr>
          <p:cNvPr id="16" name="Text 6"/>
          <p:cNvSpPr/>
          <p:nvPr/>
        </p:nvSpPr>
        <p:spPr>
          <a:xfrm>
            <a:off x="2105025" y="2838450"/>
            <a:ext cx="260604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① git status</a:t>
            </a:r>
            <a:endParaRPr lang="en-US" sz="1425" dirty="0"/>
          </a:p>
        </p:txBody>
      </p:sp>
      <p:sp>
        <p:nvSpPr>
          <p:cNvPr id="17" name="Text 7"/>
          <p:cNvSpPr/>
          <p:nvPr/>
        </p:nvSpPr>
        <p:spPr>
          <a:xfrm>
            <a:off x="2105025" y="3752850"/>
            <a:ext cx="412623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② git log --oneline</a:t>
            </a:r>
            <a:endParaRPr lang="en-US" sz="1425" dirty="0"/>
          </a:p>
        </p:txBody>
      </p:sp>
      <p:sp>
        <p:nvSpPr>
          <p:cNvPr id="18" name="Text 8"/>
          <p:cNvSpPr/>
          <p:nvPr/>
        </p:nvSpPr>
        <p:spPr>
          <a:xfrm>
            <a:off x="2105025" y="4714875"/>
            <a:ext cx="477774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③ git show --stat HEAD</a:t>
            </a:r>
            <a:endParaRPr lang="en-US" sz="1425" dirty="0"/>
          </a:p>
        </p:txBody>
      </p:sp>
      <p:sp>
        <p:nvSpPr>
          <p:cNvPr id="19" name="Text 9"/>
          <p:cNvSpPr/>
          <p:nvPr/>
        </p:nvSpPr>
        <p:spPr>
          <a:xfrm>
            <a:off x="8467725" y="2838450"/>
            <a:ext cx="347472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④ git branch -vv</a:t>
            </a:r>
            <a:endParaRPr lang="en-US" sz="1425" dirty="0"/>
          </a:p>
        </p:txBody>
      </p:sp>
      <p:sp>
        <p:nvSpPr>
          <p:cNvPr id="20" name="Text 10"/>
          <p:cNvSpPr/>
          <p:nvPr/>
        </p:nvSpPr>
        <p:spPr>
          <a:xfrm>
            <a:off x="8467725" y="3752850"/>
            <a:ext cx="3724275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4CAF5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⑤ git fetch origin</a:t>
            </a:r>
            <a:endParaRPr lang="en-US" sz="1425" dirty="0"/>
          </a:p>
        </p:txBody>
      </p:sp>
      <p:sp>
        <p:nvSpPr>
          <p:cNvPr id="21" name="Text 11"/>
          <p:cNvSpPr/>
          <p:nvPr/>
        </p:nvSpPr>
        <p:spPr>
          <a:xfrm>
            <a:off x="8372475" y="4800600"/>
            <a:ext cx="2099310" cy="2153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6"/>
              </a:lnSpc>
              <a:buNone/>
            </a:pPr>
            <a:r>
              <a:rPr lang="en-US" sz="142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4단계 핵심 요약</a:t>
            </a:r>
            <a:endParaRPr lang="en-US" sz="1425" dirty="0"/>
          </a:p>
        </p:txBody>
      </p:sp>
      <p:sp>
        <p:nvSpPr>
          <p:cNvPr id="22" name="Text 12"/>
          <p:cNvSpPr/>
          <p:nvPr/>
        </p:nvSpPr>
        <p:spPr>
          <a:xfrm>
            <a:off x="2076450" y="3181350"/>
            <a:ext cx="3614738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브랜치·스테이징 상태 확인</a:t>
            </a:r>
            <a:endParaRPr lang="en-US" sz="1275" dirty="0"/>
          </a:p>
        </p:txBody>
      </p:sp>
      <p:sp>
        <p:nvSpPr>
          <p:cNvPr id="23" name="Text 13"/>
          <p:cNvSpPr/>
          <p:nvPr/>
        </p:nvSpPr>
        <p:spPr>
          <a:xfrm>
            <a:off x="2076450" y="4095750"/>
            <a:ext cx="3614738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커밋 이력 한눈에 검토</a:t>
            </a:r>
            <a:endParaRPr lang="en-US" sz="1275" dirty="0"/>
          </a:p>
        </p:txBody>
      </p:sp>
      <p:sp>
        <p:nvSpPr>
          <p:cNvPr id="24" name="Text 14"/>
          <p:cNvSpPr/>
          <p:nvPr/>
        </p:nvSpPr>
        <p:spPr>
          <a:xfrm>
            <a:off x="2076450" y="5067300"/>
            <a:ext cx="2137410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최신 커밋 내용 검증</a:t>
            </a:r>
            <a:endParaRPr lang="en-US" sz="1275" dirty="0"/>
          </a:p>
        </p:txBody>
      </p:sp>
      <p:sp>
        <p:nvSpPr>
          <p:cNvPr id="25" name="Text 15"/>
          <p:cNvSpPr/>
          <p:nvPr/>
        </p:nvSpPr>
        <p:spPr>
          <a:xfrm>
            <a:off x="8372475" y="3181350"/>
            <a:ext cx="3132683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추적 브랜치 연결 점검</a:t>
            </a:r>
            <a:endParaRPr lang="en-US" sz="1275" dirty="0"/>
          </a:p>
        </p:txBody>
      </p:sp>
      <p:sp>
        <p:nvSpPr>
          <p:cNvPr id="26" name="Text 16"/>
          <p:cNvSpPr/>
          <p:nvPr/>
        </p:nvSpPr>
        <p:spPr>
          <a:xfrm>
            <a:off x="8372475" y="4095750"/>
            <a:ext cx="3687961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원격 최신 상태 안전 확인</a:t>
            </a:r>
            <a:endParaRPr lang="en-US" sz="1275" dirty="0"/>
          </a:p>
        </p:txBody>
      </p:sp>
      <p:sp>
        <p:nvSpPr>
          <p:cNvPr id="27" name="Text 17"/>
          <p:cNvSpPr/>
          <p:nvPr/>
        </p:nvSpPr>
        <p:spPr>
          <a:xfrm>
            <a:off x="8372475" y="5124450"/>
            <a:ext cx="2331720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순서로 반드시 실행</a:t>
            </a:r>
            <a:endParaRPr lang="en-US" sz="1275" dirty="0"/>
          </a:p>
        </p:txBody>
      </p:sp>
      <p:sp>
        <p:nvSpPr>
          <p:cNvPr id="28" name="Text 18"/>
          <p:cNvSpPr/>
          <p:nvPr/>
        </p:nvSpPr>
        <p:spPr>
          <a:xfrm>
            <a:off x="4209455" y="6115050"/>
            <a:ext cx="3572768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안전하고 정확한 원격 동기화 달성</a:t>
            </a:r>
            <a:endParaRPr lang="en-US" sz="1275" dirty="0"/>
          </a:p>
        </p:txBody>
      </p:sp>
      <p:sp>
        <p:nvSpPr>
          <p:cNvPr id="29" name="Text 19"/>
          <p:cNvSpPr/>
          <p:nvPr/>
        </p:nvSpPr>
        <p:spPr>
          <a:xfrm>
            <a:off x="8343900" y="228600"/>
            <a:ext cx="3848100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2: 로컬 작업 루프와 핵심 Git 명령</a:t>
            </a:r>
            <a:endParaRPr lang="en-US" sz="1200" dirty="0"/>
          </a:p>
        </p:txBody>
      </p:sp>
      <p:sp>
        <p:nvSpPr>
          <p:cNvPr id="30" name="Text 20"/>
          <p:cNvSpPr/>
          <p:nvPr/>
        </p:nvSpPr>
        <p:spPr>
          <a:xfrm>
            <a:off x="10953750" y="190500"/>
            <a:ext cx="953393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984" y="4430167"/>
            <a:ext cx="1289298" cy="249436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1282" y="4430167"/>
            <a:ext cx="1045666" cy="24943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949" y="4430167"/>
            <a:ext cx="1143149" cy="24943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30098" y="4430167"/>
            <a:ext cx="1679079" cy="24943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1984" y="4679603"/>
            <a:ext cx="1289298" cy="58846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41282" y="4679603"/>
            <a:ext cx="1045666" cy="58846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949" y="4679603"/>
            <a:ext cx="1143149" cy="588466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30098" y="4679603"/>
            <a:ext cx="1679079" cy="588466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51984" y="5268069"/>
            <a:ext cx="1289298" cy="588466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41282" y="5268069"/>
            <a:ext cx="1045666" cy="588466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6949" y="5268069"/>
            <a:ext cx="1143149" cy="588466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30098" y="5268069"/>
            <a:ext cx="1679079" cy="588466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8267" y="4430167"/>
            <a:ext cx="5181600" cy="1445233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267" y="4430167"/>
            <a:ext cx="5181600" cy="412924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267" y="4430167"/>
            <a:ext cx="1295400" cy="412924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53667" y="4430167"/>
            <a:ext cx="1036290" cy="412924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989957" y="4430167"/>
            <a:ext cx="1139875" cy="412924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58267" y="4843090"/>
            <a:ext cx="5181600" cy="51615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58267" y="4843090"/>
            <a:ext cx="1295400" cy="51615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953667" y="4843090"/>
            <a:ext cx="1036290" cy="51615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89957" y="4843090"/>
            <a:ext cx="1139875" cy="51615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129832" y="4843090"/>
            <a:ext cx="1710035" cy="516155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8267" y="5359246"/>
            <a:ext cx="5181600" cy="516155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8267" y="5359246"/>
            <a:ext cx="1295400" cy="516155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953667" y="5359246"/>
            <a:ext cx="1036290" cy="516155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989957" y="5359246"/>
            <a:ext cx="1139875" cy="516155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668000" y="6659017"/>
            <a:ext cx="292596" cy="198834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911953" y="6645325"/>
            <a:ext cx="280392" cy="212527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70557" y="6604248"/>
            <a:ext cx="268188" cy="253603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10082659" y="2215009"/>
            <a:ext cx="1255663" cy="1282303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8278267" y="2215009"/>
            <a:ext cx="1316682" cy="1350913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522690" y="2297311"/>
            <a:ext cx="1243459" cy="1268611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401294" y="2215009"/>
            <a:ext cx="1255663" cy="1282303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584698" y="2215009"/>
            <a:ext cx="1304479" cy="1350913"/>
          </a:xfrm>
          <a:prstGeom prst="rect">
            <a:avLst/>
          </a:prstGeom>
        </p:spPr>
      </p:pic>
      <p:pic>
        <p:nvPicPr>
          <p:cNvPr id="37" name="Image 35" descr="preencoded.png">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41177" y="2304157"/>
            <a:ext cx="1243459" cy="1261765"/>
          </a:xfrm>
          <a:prstGeom prst="rect">
            <a:avLst/>
          </a:prstGeom>
        </p:spPr>
      </p:pic>
      <p:sp>
        <p:nvSpPr>
          <p:cNvPr id="38" name="Text 0"/>
          <p:cNvSpPr/>
          <p:nvPr/>
        </p:nvSpPr>
        <p:spPr>
          <a:xfrm>
            <a:off x="6351984" y="4430167"/>
            <a:ext cx="1213098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증상</a:t>
            </a:r>
            <a:endParaRPr lang="en-US" sz="1050" dirty="0"/>
          </a:p>
        </p:txBody>
      </p:sp>
      <p:sp>
        <p:nvSpPr>
          <p:cNvPr id="39" name="Text 1"/>
          <p:cNvSpPr/>
          <p:nvPr/>
        </p:nvSpPr>
        <p:spPr>
          <a:xfrm>
            <a:off x="7641282" y="4430167"/>
            <a:ext cx="969466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원인</a:t>
            </a:r>
            <a:endParaRPr lang="en-US" sz="1050" dirty="0"/>
          </a:p>
        </p:txBody>
      </p:sp>
      <p:sp>
        <p:nvSpPr>
          <p:cNvPr id="40" name="Text 2"/>
          <p:cNvSpPr/>
          <p:nvPr/>
        </p:nvSpPr>
        <p:spPr>
          <a:xfrm>
            <a:off x="8686949" y="4430167"/>
            <a:ext cx="1066949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핵심 대응 전략</a:t>
            </a:r>
            <a:endParaRPr lang="en-US" sz="1050" dirty="0"/>
          </a:p>
        </p:txBody>
      </p:sp>
      <p:sp>
        <p:nvSpPr>
          <p:cNvPr id="41" name="Text 3"/>
          <p:cNvSpPr/>
          <p:nvPr/>
        </p:nvSpPr>
        <p:spPr>
          <a:xfrm>
            <a:off x="9830098" y="4430167"/>
            <a:ext cx="1602879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b="1" dirty="0">
                <a:solidFill>
                  <a:srgbClr val="FFFFFF"/>
                </a:solidFill>
              </a:rPr>
              <a:t>핵심 명령어</a:t>
            </a:r>
            <a:endParaRPr lang="en-US" sz="1050" dirty="0"/>
          </a:p>
        </p:txBody>
      </p:sp>
      <p:sp>
        <p:nvSpPr>
          <p:cNvPr id="42" name="Text 4"/>
          <p:cNvSpPr/>
          <p:nvPr/>
        </p:nvSpPr>
        <p:spPr>
          <a:xfrm>
            <a:off x="6351984" y="4679603"/>
            <a:ext cx="1213098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overwrite</a:t>
            </a:r>
            <a:endParaRPr lang="en-US" sz="1050" dirty="0"/>
          </a:p>
        </p:txBody>
      </p:sp>
      <p:sp>
        <p:nvSpPr>
          <p:cNvPr id="43" name="Text 5"/>
          <p:cNvSpPr/>
          <p:nvPr/>
        </p:nvSpPr>
        <p:spPr>
          <a:xfrm>
            <a:off x="7641282" y="4679603"/>
            <a:ext cx="969466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원격 이력 앞섬</a:t>
            </a:r>
            <a:endParaRPr lang="en-US" sz="1050" dirty="0"/>
          </a:p>
        </p:txBody>
      </p:sp>
      <p:sp>
        <p:nvSpPr>
          <p:cNvPr id="44" name="Text 6"/>
          <p:cNvSpPr/>
          <p:nvPr/>
        </p:nvSpPr>
        <p:spPr>
          <a:xfrm>
            <a:off x="8686949" y="4679603"/>
            <a:ext cx="1066949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안전 통합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(Rebase)</a:t>
            </a:r>
            <a:endParaRPr lang="en-US" sz="1050" dirty="0"/>
          </a:p>
        </p:txBody>
      </p:sp>
      <p:sp>
        <p:nvSpPr>
          <p:cNvPr id="45" name="Text 7"/>
          <p:cNvSpPr/>
          <p:nvPr/>
        </p:nvSpPr>
        <p:spPr>
          <a:xfrm>
            <a:off x="9830098" y="4679603"/>
            <a:ext cx="1602879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git fetch 후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git pull --rebase</a:t>
            </a:r>
            <a:endParaRPr lang="en-US" sz="1050" dirty="0"/>
          </a:p>
        </p:txBody>
      </p:sp>
      <p:sp>
        <p:nvSpPr>
          <p:cNvPr id="46" name="Text 8"/>
          <p:cNvSpPr/>
          <p:nvPr/>
        </p:nvSpPr>
        <p:spPr>
          <a:xfrm>
            <a:off x="6351984" y="5268069"/>
            <a:ext cx="1213098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'changes will be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overwritten'</a:t>
            </a:r>
            <a:endParaRPr lang="en-US" sz="1050" dirty="0"/>
          </a:p>
        </p:txBody>
      </p:sp>
      <p:sp>
        <p:nvSpPr>
          <p:cNvPr id="47" name="Text 9"/>
          <p:cNvSpPr/>
          <p:nvPr/>
        </p:nvSpPr>
        <p:spPr>
          <a:xfrm>
            <a:off x="7641282" y="5268069"/>
            <a:ext cx="969466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로컬 변경 존재</a:t>
            </a:r>
            <a:endParaRPr lang="en-US" sz="1050" dirty="0"/>
          </a:p>
        </p:txBody>
      </p:sp>
      <p:sp>
        <p:nvSpPr>
          <p:cNvPr id="48" name="Text 10"/>
          <p:cNvSpPr/>
          <p:nvPr/>
        </p:nvSpPr>
        <p:spPr>
          <a:xfrm>
            <a:off x="8686949" y="5268069"/>
            <a:ext cx="1066949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Stash 활용</a:t>
            </a:r>
            <a:endParaRPr lang="en-US" sz="1050" dirty="0"/>
          </a:p>
        </p:txBody>
      </p:sp>
      <p:sp>
        <p:nvSpPr>
          <p:cNvPr id="49" name="Text 11"/>
          <p:cNvSpPr/>
          <p:nvPr/>
        </p:nvSpPr>
        <p:spPr>
          <a:xfrm>
            <a:off x="9830098" y="5268069"/>
            <a:ext cx="1602879" cy="58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git stash →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365"/>
              </a:lnSpc>
              <a:buNone/>
            </a:pPr>
            <a:r>
              <a:rPr lang="en-US" sz="1050" dirty="0">
                <a:solidFill>
                  <a:srgbClr val="1A1A1A"/>
                </a:solidFill>
              </a:rPr>
              <a:t>git stash pop</a:t>
            </a:r>
            <a:endParaRPr lang="en-US" sz="1050" dirty="0"/>
          </a:p>
        </p:txBody>
      </p:sp>
      <p:sp>
        <p:nvSpPr>
          <p:cNvPr id="50" name="Text 12"/>
          <p:cNvSpPr/>
          <p:nvPr/>
        </p:nvSpPr>
        <p:spPr>
          <a:xfrm>
            <a:off x="658267" y="4430167"/>
            <a:ext cx="1200150" cy="41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증상</a:t>
            </a:r>
            <a:endParaRPr lang="en-US" sz="1200" dirty="0"/>
          </a:p>
        </p:txBody>
      </p:sp>
      <p:sp>
        <p:nvSpPr>
          <p:cNvPr id="51" name="Text 13"/>
          <p:cNvSpPr/>
          <p:nvPr/>
        </p:nvSpPr>
        <p:spPr>
          <a:xfrm>
            <a:off x="1953667" y="4430167"/>
            <a:ext cx="941040" cy="41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원인</a:t>
            </a:r>
            <a:endParaRPr lang="en-US" sz="1200" dirty="0"/>
          </a:p>
        </p:txBody>
      </p:sp>
      <p:sp>
        <p:nvSpPr>
          <p:cNvPr id="52" name="Text 14"/>
          <p:cNvSpPr/>
          <p:nvPr/>
        </p:nvSpPr>
        <p:spPr>
          <a:xfrm>
            <a:off x="2989957" y="4430167"/>
            <a:ext cx="1044625" cy="41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대응 전략</a:t>
            </a:r>
            <a:endParaRPr lang="en-US" sz="1200" dirty="0"/>
          </a:p>
        </p:txBody>
      </p:sp>
      <p:sp>
        <p:nvSpPr>
          <p:cNvPr id="53" name="Text 15"/>
          <p:cNvSpPr/>
          <p:nvPr/>
        </p:nvSpPr>
        <p:spPr>
          <a:xfrm>
            <a:off x="4129832" y="4430167"/>
            <a:ext cx="1614785" cy="41292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핵심 명령어</a:t>
            </a:r>
            <a:endParaRPr lang="en-US" sz="1200" dirty="0"/>
          </a:p>
        </p:txBody>
      </p:sp>
      <p:sp>
        <p:nvSpPr>
          <p:cNvPr id="54" name="Text 16"/>
          <p:cNvSpPr/>
          <p:nvPr/>
        </p:nvSpPr>
        <p:spPr>
          <a:xfrm>
            <a:off x="658267" y="4843090"/>
            <a:ext cx="1200150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git push 실패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(non-ff)</a:t>
            </a:r>
            <a:endParaRPr lang="en-US" sz="1125" dirty="0"/>
          </a:p>
        </p:txBody>
      </p:sp>
      <p:sp>
        <p:nvSpPr>
          <p:cNvPr id="55" name="Text 17"/>
          <p:cNvSpPr/>
          <p:nvPr/>
        </p:nvSpPr>
        <p:spPr>
          <a:xfrm>
            <a:off x="1953667" y="4843090"/>
            <a:ext cx="941040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원격 이력 앞섬</a:t>
            </a:r>
            <a:endParaRPr lang="en-US" sz="1125" dirty="0"/>
          </a:p>
        </p:txBody>
      </p:sp>
      <p:sp>
        <p:nvSpPr>
          <p:cNvPr id="56" name="Text 18"/>
          <p:cNvSpPr/>
          <p:nvPr/>
        </p:nvSpPr>
        <p:spPr>
          <a:xfrm>
            <a:off x="2989957" y="4843090"/>
            <a:ext cx="1044625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안전 통합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(Rebase)</a:t>
            </a:r>
            <a:endParaRPr lang="en-US" sz="1125" dirty="0"/>
          </a:p>
        </p:txBody>
      </p:sp>
      <p:sp>
        <p:nvSpPr>
          <p:cNvPr id="57" name="Text 19"/>
          <p:cNvSpPr/>
          <p:nvPr/>
        </p:nvSpPr>
        <p:spPr>
          <a:xfrm>
            <a:off x="4129832" y="4843090"/>
            <a:ext cx="1614785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git fetch 후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git pull --rebase</a:t>
            </a:r>
            <a:endParaRPr lang="en-US" sz="1125" dirty="0"/>
          </a:p>
        </p:txBody>
      </p:sp>
      <p:sp>
        <p:nvSpPr>
          <p:cNvPr id="58" name="Text 20"/>
          <p:cNvSpPr/>
          <p:nvPr/>
        </p:nvSpPr>
        <p:spPr>
          <a:xfrm>
            <a:off x="658267" y="5359246"/>
            <a:ext cx="1200150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overwrite</a:t>
            </a:r>
            <a:endParaRPr lang="en-US" sz="1125" dirty="0"/>
          </a:p>
        </p:txBody>
      </p:sp>
      <p:sp>
        <p:nvSpPr>
          <p:cNvPr id="59" name="Text 21"/>
          <p:cNvSpPr/>
          <p:nvPr/>
        </p:nvSpPr>
        <p:spPr>
          <a:xfrm>
            <a:off x="1953667" y="5359246"/>
            <a:ext cx="941040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로컬 변경 존재</a:t>
            </a:r>
            <a:endParaRPr lang="en-US" sz="1125" dirty="0"/>
          </a:p>
        </p:txBody>
      </p:sp>
      <p:sp>
        <p:nvSpPr>
          <p:cNvPr id="60" name="Text 22"/>
          <p:cNvSpPr/>
          <p:nvPr/>
        </p:nvSpPr>
        <p:spPr>
          <a:xfrm>
            <a:off x="2989957" y="5359246"/>
            <a:ext cx="1044625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Stash 활용</a:t>
            </a:r>
            <a:endParaRPr lang="en-US" sz="1125" dirty="0"/>
          </a:p>
        </p:txBody>
      </p:sp>
      <p:sp>
        <p:nvSpPr>
          <p:cNvPr id="61" name="Text 23"/>
          <p:cNvSpPr/>
          <p:nvPr/>
        </p:nvSpPr>
        <p:spPr>
          <a:xfrm>
            <a:off x="4129832" y="5359246"/>
            <a:ext cx="1614785" cy="51615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git stash →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
</a:t>
            </a:r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000000"/>
                </a:solidFill>
              </a:rPr>
              <a:t>git stash pop</a:t>
            </a:r>
            <a:endParaRPr lang="en-US" sz="1125" dirty="0"/>
          </a:p>
        </p:txBody>
      </p:sp>
      <p:sp>
        <p:nvSpPr>
          <p:cNvPr id="62" name="Text 24"/>
          <p:cNvSpPr/>
          <p:nvPr/>
        </p:nvSpPr>
        <p:spPr>
          <a:xfrm>
            <a:off x="323850" y="190500"/>
            <a:ext cx="62865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CH02</a:t>
            </a:r>
            <a:endParaRPr lang="en-US" sz="1725" dirty="0"/>
          </a:p>
        </p:txBody>
      </p:sp>
      <p:sp>
        <p:nvSpPr>
          <p:cNvPr id="63" name="Text 25"/>
          <p:cNvSpPr/>
          <p:nvPr/>
        </p:nvSpPr>
        <p:spPr>
          <a:xfrm>
            <a:off x="352425" y="742950"/>
            <a:ext cx="3943350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98"/>
              </a:lnSpc>
              <a:buNone/>
            </a:pPr>
            <a:r>
              <a:rPr lang="en-US" sz="17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헤드라인 / Headline</a:t>
            </a:r>
            <a:endParaRPr lang="en-US" sz="1725" dirty="0"/>
          </a:p>
        </p:txBody>
      </p:sp>
      <p:sp>
        <p:nvSpPr>
          <p:cNvPr id="64" name="Text 26"/>
          <p:cNvSpPr/>
          <p:nvPr/>
        </p:nvSpPr>
        <p:spPr>
          <a:xfrm>
            <a:off x="1190625" y="142875"/>
            <a:ext cx="8149590" cy="3808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99"/>
              </a:lnSpc>
              <a:buNone/>
            </a:pPr>
            <a:r>
              <a:rPr lang="en-US" sz="23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대표 실패 시나리오와 단계별 대응 매트릭스</a:t>
            </a:r>
            <a:endParaRPr lang="en-US" sz="2325" dirty="0"/>
          </a:p>
        </p:txBody>
      </p:sp>
      <p:sp>
        <p:nvSpPr>
          <p:cNvPr id="65" name="Text 27"/>
          <p:cNvSpPr/>
          <p:nvPr/>
        </p:nvSpPr>
        <p:spPr>
          <a:xfrm>
            <a:off x="8639175" y="266700"/>
            <a:ext cx="3488978" cy="42564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You Dream,</a:t>
            </a:r>
            <a:pPr algn="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r" indent="0" marL="0">
              <a:lnSpc>
                <a:spcPts val="1676"/>
              </a:lnSpc>
              <a:buNone/>
            </a:pPr>
            <a:r>
              <a:rPr lang="en-US" sz="1125" b="1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We Display.</a:t>
            </a:r>
            <a:endParaRPr lang="en-US" sz="1125" dirty="0"/>
          </a:p>
        </p:txBody>
      </p:sp>
      <p:sp>
        <p:nvSpPr>
          <p:cNvPr id="66" name="Text 28"/>
          <p:cNvSpPr/>
          <p:nvPr/>
        </p:nvSpPr>
        <p:spPr>
          <a:xfrm>
            <a:off x="8763000" y="295275"/>
            <a:ext cx="184398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3C3C3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로컬 작업 루프와 핵심 Git 명령/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652171"/>
            <a:ext cx="292596" cy="191988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953" y="6638479"/>
            <a:ext cx="280392" cy="21937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57" y="6604248"/>
            <a:ext cx="255984" cy="25360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0" y="3483769"/>
            <a:ext cx="2706588" cy="99432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2157" y="3442692"/>
            <a:ext cx="1499592" cy="109716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89757" y="3374082"/>
            <a:ext cx="1792188" cy="1275457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1200150" y="190500"/>
            <a:ext cx="1099185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요약 및 이력 탐색과 복구로의 연결 / CH02 Summary &amp; Connection to CH03</a:t>
            </a:r>
            <a:endParaRPr lang="en-US" sz="2100" dirty="0"/>
          </a:p>
        </p:txBody>
      </p:sp>
      <p:sp>
        <p:nvSpPr>
          <p:cNvPr id="10" name="Text 1"/>
          <p:cNvSpPr/>
          <p:nvPr/>
        </p:nvSpPr>
        <p:spPr>
          <a:xfrm>
            <a:off x="3666530" y="2038350"/>
            <a:ext cx="4830068" cy="31209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457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CH02 핵심 여정 마무리를 위한 핵심 요약</a:t>
            </a:r>
            <a:endParaRPr lang="en-US" sz="1950" dirty="0"/>
          </a:p>
        </p:txBody>
      </p:sp>
      <p:sp>
        <p:nvSpPr>
          <p:cNvPr id="11" name="Text 2"/>
          <p:cNvSpPr/>
          <p:nvPr/>
        </p:nvSpPr>
        <p:spPr>
          <a:xfrm>
            <a:off x="377577" y="238125"/>
            <a:ext cx="70187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CH02</a:t>
            </a:r>
            <a:endParaRPr lang="en-US" sz="1650" dirty="0"/>
          </a:p>
        </p:txBody>
      </p:sp>
      <p:sp>
        <p:nvSpPr>
          <p:cNvPr id="12" name="Text 3"/>
          <p:cNvSpPr/>
          <p:nvPr/>
        </p:nvSpPr>
        <p:spPr>
          <a:xfrm>
            <a:off x="827187" y="2800350"/>
            <a:ext cx="2965103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7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CH02 핵심 습관 내재화</a:t>
            </a:r>
            <a:pPr algn="ctr" indent="0" marL="0">
              <a:lnSpc>
                <a:spcPts val="1404"/>
              </a:lnSpc>
              <a:buNone/>
            </a:pPr>
            <a:r>
              <a:rPr lang="en-US" sz="97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404"/>
              </a:lnSpc>
              <a:buNone/>
            </a:pPr>
            <a:r>
              <a:rPr lang="en-US" sz="97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(INTERNALIZING CORE CH02 HABITS)</a:t>
            </a:r>
            <a:endParaRPr lang="en-US" sz="975" dirty="0"/>
          </a:p>
        </p:txBody>
      </p:sp>
      <p:sp>
        <p:nvSpPr>
          <p:cNvPr id="13" name="Text 4"/>
          <p:cNvSpPr/>
          <p:nvPr/>
        </p:nvSpPr>
        <p:spPr>
          <a:xfrm>
            <a:off x="4251871" y="2924175"/>
            <a:ext cx="3897511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04"/>
              </a:lnSpc>
              <a:buNone/>
            </a:pPr>
            <a:r>
              <a:rPr lang="en-US" sz="97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PUSH 전 필수 검증 루틴</a:t>
            </a:r>
            <a:pPr algn="ctr" indent="0" marL="0">
              <a:lnSpc>
                <a:spcPts val="1404"/>
              </a:lnSpc>
              <a:buNone/>
            </a:pPr>
            <a:r>
              <a:rPr lang="en-US" sz="97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404"/>
              </a:lnSpc>
              <a:buNone/>
            </a:pPr>
            <a:r>
              <a:rPr lang="en-US" sz="97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(ESSENTIAL VALIDATION ROUTINE BEFORE PUSH)</a:t>
            </a:r>
            <a:endParaRPr lang="en-US" sz="975" dirty="0"/>
          </a:p>
        </p:txBody>
      </p:sp>
      <p:sp>
        <p:nvSpPr>
          <p:cNvPr id="14" name="Text 5"/>
          <p:cNvSpPr/>
          <p:nvPr/>
        </p:nvSpPr>
        <p:spPr>
          <a:xfrm>
            <a:off x="8256687" y="2800350"/>
            <a:ext cx="2965103" cy="3018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88"/>
              </a:lnSpc>
              <a:buNone/>
            </a:pPr>
            <a:r>
              <a:rPr lang="en-US" sz="82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CH03 핵심 연결 및 예고</a:t>
            </a:r>
            <a:pPr algn="ctr" indent="0" marL="0">
              <a:lnSpc>
                <a:spcPts val="1188"/>
              </a:lnSpc>
              <a:buNone/>
            </a:pPr>
            <a:r>
              <a:rPr lang="en-US" sz="82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188"/>
              </a:lnSpc>
              <a:buNone/>
            </a:pPr>
            <a:r>
              <a:rPr lang="en-US" sz="825" b="1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(CH03 LEARNING CONNECTION &amp; PREVIEW)</a:t>
            </a:r>
            <a:endParaRPr lang="en-US" sz="825" dirty="0"/>
          </a:p>
        </p:txBody>
      </p:sp>
      <p:sp>
        <p:nvSpPr>
          <p:cNvPr id="15" name="Text 6"/>
          <p:cNvSpPr/>
          <p:nvPr/>
        </p:nvSpPr>
        <p:spPr>
          <a:xfrm>
            <a:off x="10953750" y="190500"/>
            <a:ext cx="984796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945"/>
              </a:lnSpc>
              <a:buNone/>
            </a:pPr>
            <a:r>
              <a:rPr lang="en-US" sz="1050" b="1" dirty="0">
                <a:solidFill>
                  <a:srgbClr val="AC3B5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You Dream,</a:t>
            </a:r>
            <a:pPr algn="r" indent="0" marL="0">
              <a:lnSpc>
                <a:spcPts val="945"/>
              </a:lnSpc>
              <a:buNone/>
            </a:pPr>
            <a:r>
              <a:rPr lang="en-US" sz="1050" b="1" dirty="0">
                <a:solidFill>
                  <a:srgbClr val="AC3B5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r" indent="0" marL="0">
              <a:lnSpc>
                <a:spcPts val="945"/>
              </a:lnSpc>
              <a:buNone/>
            </a:pPr>
            <a:r>
              <a:rPr lang="en-US" sz="1050" b="1" dirty="0">
                <a:solidFill>
                  <a:srgbClr val="AC3B5B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We Display.</a:t>
            </a:r>
            <a:endParaRPr lang="en-US" sz="1050" dirty="0"/>
          </a:p>
        </p:txBody>
      </p:sp>
      <p:sp>
        <p:nvSpPr>
          <p:cNvPr id="16" name="Text 7"/>
          <p:cNvSpPr/>
          <p:nvPr/>
        </p:nvSpPr>
        <p:spPr>
          <a:xfrm>
            <a:off x="557659" y="5219700"/>
            <a:ext cx="344700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5가지 필수 안전장치 습관과 (status, diff --staged,</a:t>
            </a:r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branch -vv, fetch, restore --staged)</a:t>
            </a:r>
            <a:endParaRPr lang="en-US" sz="1125" dirty="0"/>
          </a:p>
        </p:txBody>
      </p:sp>
      <p:sp>
        <p:nvSpPr>
          <p:cNvPr id="17" name="Text 8"/>
          <p:cNvSpPr/>
          <p:nvPr/>
        </p:nvSpPr>
        <p:spPr>
          <a:xfrm>
            <a:off x="566142" y="5676900"/>
            <a:ext cx="3467993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좋은 커밋의 두 가지 원칙: 작은 단위 + 명확한 메시지</a:t>
            </a:r>
            <a:endParaRPr lang="en-US" sz="1125" dirty="0"/>
          </a:p>
        </p:txBody>
      </p:sp>
      <p:sp>
        <p:nvSpPr>
          <p:cNvPr id="18" name="Text 9"/>
          <p:cNvSpPr/>
          <p:nvPr/>
        </p:nvSpPr>
        <p:spPr>
          <a:xfrm>
            <a:off x="4806702" y="5219700"/>
            <a:ext cx="25878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'git fetch'로 최신 원격 변경사항 확인</a:t>
            </a:r>
            <a:endParaRPr lang="en-US" sz="1125" dirty="0"/>
          </a:p>
        </p:txBody>
      </p:sp>
      <p:sp>
        <p:nvSpPr>
          <p:cNvPr id="19" name="Text 10"/>
          <p:cNvSpPr/>
          <p:nvPr/>
        </p:nvSpPr>
        <p:spPr>
          <a:xfrm>
            <a:off x="4419600" y="5676900"/>
            <a:ext cx="33528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언전한 동기화를 위한 습관화 (fetch vs pull 전략)</a:t>
            </a:r>
            <a:endParaRPr lang="en-US" sz="1125" dirty="0"/>
          </a:p>
        </p:txBody>
      </p:sp>
      <p:sp>
        <p:nvSpPr>
          <p:cNvPr id="20" name="Text 11"/>
          <p:cNvSpPr/>
          <p:nvPr/>
        </p:nvSpPr>
        <p:spPr>
          <a:xfrm>
            <a:off x="8426202" y="5219700"/>
            <a:ext cx="30069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'log', 'revert', 'bisect' 핵심 명령 활용 학습</a:t>
            </a:r>
            <a:endParaRPr lang="en-US" sz="1125" dirty="0"/>
          </a:p>
        </p:txBody>
      </p:sp>
      <p:sp>
        <p:nvSpPr>
          <p:cNvPr id="21" name="Text 12"/>
          <p:cNvSpPr/>
          <p:nvPr/>
        </p:nvSpPr>
        <p:spPr>
          <a:xfrm>
            <a:off x="8424863" y="5676900"/>
            <a:ext cx="303847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1125" dirty="0">
                <a:solidFill>
                  <a:srgbClr val="3F3F3F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쌓인 커밋 이력을 읽고 되돌리는 능력으로 확장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2026-04-10T04:55:34Z</dcterms:created>
  <dcterms:modified xsi:type="dcterms:W3CDTF">2026-04-10T04:55:34Z</dcterms:modified>
</cp:coreProperties>
</file>
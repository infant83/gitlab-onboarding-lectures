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6325" y="638175"/>
            <a:ext cx="11115675" cy="5037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967"/>
              </a:lnSpc>
              <a:buNone/>
            </a:pPr>
            <a:r>
              <a:rPr lang="en-US" sz="30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CI/CD, self-managed runner, 그리고 운영 품질 게이트</a:t>
            </a:r>
            <a:endParaRPr lang="en-US" sz="3075" dirty="0"/>
          </a:p>
        </p:txBody>
      </p:sp>
      <p:sp>
        <p:nvSpPr>
          <p:cNvPr id="4" name="Text 1"/>
          <p:cNvSpPr/>
          <p:nvPr/>
        </p:nvSpPr>
        <p:spPr>
          <a:xfrm>
            <a:off x="1266825" y="2171700"/>
            <a:ext cx="2221111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Merge 이후 자동화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검증 단계</a:t>
            </a:r>
            <a:endParaRPr lang="en-US" sz="1725" dirty="0"/>
          </a:p>
        </p:txBody>
      </p:sp>
      <p:sp>
        <p:nvSpPr>
          <p:cNvPr id="5" name="Text 2"/>
          <p:cNvSpPr/>
          <p:nvPr/>
        </p:nvSpPr>
        <p:spPr>
          <a:xfrm>
            <a:off x="4572000" y="2171700"/>
            <a:ext cx="3949898" cy="529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.gitlab-ci.yml 파이프라인 구조 이해</a:t>
            </a:r>
            <a:pPr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stages, job, artifact 개념과 설계 원칙 학습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515350" y="2171700"/>
            <a:ext cx="2734568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Self-managed Runner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설계와 운영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266825" y="5286375"/>
            <a:ext cx="832485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외부 시스템 연동: Webhook과 RSS/Atom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6429375" y="5286375"/>
            <a:ext cx="543306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MLOps 파이프라인 확장 요소</a:t>
            </a:r>
            <a:endParaRPr lang="en-US" sz="1725" dirty="0"/>
          </a:p>
        </p:txBody>
      </p:sp>
      <p:sp>
        <p:nvSpPr>
          <p:cNvPr id="9" name="Text 6"/>
          <p:cNvSpPr/>
          <p:nvPr/>
        </p:nvSpPr>
        <p:spPr>
          <a:xfrm>
            <a:off x="1295400" y="2886075"/>
            <a:ext cx="2776538" cy="529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성공은 배포 준비 완료가</a:t>
            </a:r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아닌 검증의 출발선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62975" y="2886075"/>
            <a:ext cx="2608808" cy="529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Scope, Tag, Executor 차이를</a:t>
            </a:r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관점에서 분석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419225" y="5667375"/>
            <a:ext cx="50292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알림과 구독 모니터링의 목적 구분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38925" y="5667375"/>
            <a:ext cx="5553075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학습·평가·등록 단계가 품질 게이트로 추가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953625" y="6391275"/>
            <a:ext cx="2238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 Quality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1266825" y="6076950"/>
            <a:ext cx="54178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CI/CD팀 | 2026. 04. 10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876925" y="6734175"/>
            <a:ext cx="419100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9017"/>
            <a:ext cx="292596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5255" y="4965055"/>
            <a:ext cx="938659" cy="76110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063" y="4773067"/>
            <a:ext cx="451098" cy="42505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8675" y="3387775"/>
            <a:ext cx="390079" cy="36343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2886" y="2160240"/>
            <a:ext cx="792361" cy="69264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2063" y="1940719"/>
            <a:ext cx="451098" cy="41820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6094" y="4965055"/>
            <a:ext cx="865584" cy="76110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177" y="4773067"/>
            <a:ext cx="426690" cy="438894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1459" y="3662065"/>
            <a:ext cx="1170384" cy="56911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380" y="3346698"/>
            <a:ext cx="414486" cy="438894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1177" y="1940719"/>
            <a:ext cx="426690" cy="411361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228600" y="123825"/>
            <a:ext cx="1193292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CI/CD에서 MLOps로 확장되면 무엇이 늘어나는가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1447800" y="1962150"/>
            <a:ext cx="3017520" cy="2948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2"/>
              </a:lnSpc>
              <a:buNone/>
            </a:pPr>
            <a:r>
              <a:rPr lang="en-US" sz="18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계층 유지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1447800" y="3381375"/>
            <a:ext cx="400050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학습 Stage 추가</a:t>
            </a:r>
            <a:endParaRPr lang="en-US" sz="1875" dirty="0"/>
          </a:p>
        </p:txBody>
      </p:sp>
      <p:sp>
        <p:nvSpPr>
          <p:cNvPr id="19" name="Text 3"/>
          <p:cNvSpPr/>
          <p:nvPr/>
        </p:nvSpPr>
        <p:spPr>
          <a:xfrm>
            <a:off x="1447800" y="4810125"/>
            <a:ext cx="342900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데이터/모델 평가 편입</a:t>
            </a:r>
            <a:endParaRPr lang="en-US" sz="1875" dirty="0"/>
          </a:p>
        </p:txBody>
      </p:sp>
      <p:sp>
        <p:nvSpPr>
          <p:cNvPr id="20" name="Text 4"/>
          <p:cNvSpPr/>
          <p:nvPr/>
        </p:nvSpPr>
        <p:spPr>
          <a:xfrm>
            <a:off x="7362825" y="1962150"/>
            <a:ext cx="31432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레지스터리 확장</a:t>
            </a:r>
            <a:endParaRPr lang="en-US" sz="1875" dirty="0"/>
          </a:p>
        </p:txBody>
      </p:sp>
      <p:sp>
        <p:nvSpPr>
          <p:cNvPr id="21" name="Text 5"/>
          <p:cNvSpPr/>
          <p:nvPr/>
        </p:nvSpPr>
        <p:spPr>
          <a:xfrm>
            <a:off x="7362825" y="3381375"/>
            <a:ext cx="400050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롤back 절차 추가</a:t>
            </a:r>
            <a:endParaRPr lang="en-US" sz="1875" dirty="0"/>
          </a:p>
        </p:txBody>
      </p:sp>
      <p:sp>
        <p:nvSpPr>
          <p:cNvPr id="22" name="Text 6"/>
          <p:cNvSpPr/>
          <p:nvPr/>
        </p:nvSpPr>
        <p:spPr>
          <a:xfrm>
            <a:off x="7362825" y="4810125"/>
            <a:ext cx="25717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대상의 확장</a:t>
            </a:r>
            <a:endParaRPr lang="en-US" sz="1875" dirty="0"/>
          </a:p>
        </p:txBody>
      </p:sp>
      <p:sp>
        <p:nvSpPr>
          <p:cNvPr id="23" name="Text 7"/>
          <p:cNvSpPr/>
          <p:nvPr/>
        </p:nvSpPr>
        <p:spPr>
          <a:xfrm>
            <a:off x="352425" y="742950"/>
            <a:ext cx="1085850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MLOps로의 전환에 따른 파이프라인 및 운영 체계의 주요 변화 사항</a:t>
            </a:r>
            <a:endParaRPr lang="en-US" sz="1875" dirty="0"/>
          </a:p>
        </p:txBody>
      </p:sp>
      <p:sp>
        <p:nvSpPr>
          <p:cNvPr id="24" name="Text 8"/>
          <p:cNvSpPr/>
          <p:nvPr/>
        </p:nvSpPr>
        <p:spPr>
          <a:xfrm>
            <a:off x="1447800" y="2400300"/>
            <a:ext cx="2975521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→ build → deploy 단계는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MLOps에서도 핵심 프로세스로 작동.</a:t>
            </a:r>
            <a:endParaRPr lang="en-US" sz="1425" dirty="0"/>
          </a:p>
        </p:txBody>
      </p:sp>
      <p:sp>
        <p:nvSpPr>
          <p:cNvPr id="25" name="Text 9"/>
          <p:cNvSpPr/>
          <p:nvPr/>
        </p:nvSpPr>
        <p:spPr>
          <a:xfrm>
            <a:off x="1447800" y="3829050"/>
            <a:ext cx="2986088" cy="6170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stage에서 데이터셋을 입력받아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학습하고, 모델 파일을 Artifact로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및 관리.</a:t>
            </a:r>
            <a:endParaRPr lang="en-US" sz="1350" dirty="0"/>
          </a:p>
        </p:txBody>
      </p:sp>
      <p:sp>
        <p:nvSpPr>
          <p:cNvPr id="26" name="Text 10"/>
          <p:cNvSpPr/>
          <p:nvPr/>
        </p:nvSpPr>
        <p:spPr>
          <a:xfrm>
            <a:off x="1447800" y="5248275"/>
            <a:ext cx="3583186" cy="6170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evaluate stage에서 모델 정확도(Accuracy),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F1-score 등 성능 지표에 대해 사전 정의된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게이트를 통과해야 함.</a:t>
            </a:r>
            <a:endParaRPr lang="en-US" sz="1350" dirty="0"/>
          </a:p>
        </p:txBody>
      </p:sp>
      <p:sp>
        <p:nvSpPr>
          <p:cNvPr id="27" name="Text 11"/>
          <p:cNvSpPr/>
          <p:nvPr/>
        </p:nvSpPr>
        <p:spPr>
          <a:xfrm>
            <a:off x="7362825" y="2400300"/>
            <a:ext cx="2944118" cy="65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register_model stage에서 품질이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모델을 버전 태그와 함께 중앙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저장소에 등록 및 관리.</a:t>
            </a:r>
            <a:endParaRPr lang="en-US" sz="1425" dirty="0"/>
          </a:p>
        </p:txBody>
      </p:sp>
      <p:sp>
        <p:nvSpPr>
          <p:cNvPr id="28" name="Text 12"/>
          <p:cNvSpPr/>
          <p:nvPr/>
        </p:nvSpPr>
        <p:spPr>
          <a:xfrm>
            <a:off x="7362825" y="3829050"/>
            <a:ext cx="3331815" cy="65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버전뿐만 아니라 학습 데이터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버전까지 추적하여, 문제 발생 시 신속하게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버전으로 복구할 수 있는 체계 구축.</a:t>
            </a:r>
            <a:endParaRPr lang="en-US" sz="1425" dirty="0"/>
          </a:p>
        </p:txBody>
      </p:sp>
      <p:sp>
        <p:nvSpPr>
          <p:cNvPr id="29" name="Text 13"/>
          <p:cNvSpPr/>
          <p:nvPr/>
        </p:nvSpPr>
        <p:spPr>
          <a:xfrm>
            <a:off x="7362825" y="5248275"/>
            <a:ext cx="3027908" cy="65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코드 중심의 품질 게이트에서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+ 데이터 + 모델로 검증 범위가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되어 운영 책임과 점검 항목 증가.</a:t>
            </a:r>
            <a:endParaRPr lang="en-US" sz="1425" dirty="0"/>
          </a:p>
        </p:txBody>
      </p:sp>
      <p:sp>
        <p:nvSpPr>
          <p:cNvPr id="30" name="Text 14"/>
          <p:cNvSpPr/>
          <p:nvPr/>
        </p:nvSpPr>
        <p:spPr>
          <a:xfrm>
            <a:off x="8277225" y="190500"/>
            <a:ext cx="3914775" cy="241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00"/>
              </a:lnSpc>
              <a:buNone/>
            </a:pPr>
            <a:r>
              <a:rPr lang="en-US" sz="12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7: CI/CD 운영 품질 게이트</a:t>
            </a:r>
            <a:endParaRPr lang="en-US" sz="1275" dirty="0"/>
          </a:p>
        </p:txBody>
      </p:sp>
      <p:sp>
        <p:nvSpPr>
          <p:cNvPr id="31" name="Text 15"/>
          <p:cNvSpPr/>
          <p:nvPr/>
        </p:nvSpPr>
        <p:spPr>
          <a:xfrm>
            <a:off x="10953750" y="161925"/>
            <a:ext cx="113154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2879" y="6659017"/>
            <a:ext cx="194965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796" y="6659017"/>
            <a:ext cx="292596" cy="19883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898" y="6638479"/>
            <a:ext cx="316855" cy="21937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271" y="3236863"/>
            <a:ext cx="4523184" cy="246191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094" y="109686"/>
            <a:ext cx="536377" cy="555427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504825" y="371475"/>
            <a:ext cx="905256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.gitlab-ci.yml을 구조로 읽기</a:t>
            </a:r>
            <a:endParaRPr lang="en-US" sz="2700" dirty="0"/>
          </a:p>
        </p:txBody>
      </p:sp>
      <p:sp>
        <p:nvSpPr>
          <p:cNvPr id="10" name="Text 1"/>
          <p:cNvSpPr/>
          <p:nvPr/>
        </p:nvSpPr>
        <p:spPr>
          <a:xfrm>
            <a:off x="962025" y="1819275"/>
            <a:ext cx="4663440" cy="4502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45"/>
              </a:lnSpc>
              <a:buNone/>
            </a:pPr>
            <a:r>
              <a:rPr lang="en-US" sz="2550" b="1" dirty="0">
                <a:solidFill>
                  <a:srgbClr val="B512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구조와 운영 관점</a:t>
            </a:r>
            <a:endParaRPr lang="en-US" sz="2550" dirty="0"/>
          </a:p>
        </p:txBody>
      </p:sp>
      <p:sp>
        <p:nvSpPr>
          <p:cNvPr id="11" name="Text 2"/>
          <p:cNvSpPr/>
          <p:nvPr/>
        </p:nvSpPr>
        <p:spPr>
          <a:xfrm>
            <a:off x="6953250" y="1781175"/>
            <a:ext cx="4160520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09"/>
              </a:lnSpc>
              <a:buNone/>
            </a:pPr>
            <a:r>
              <a:rPr lang="en-US" sz="210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실행 및 제어</a:t>
            </a:r>
            <a:endParaRPr lang="en-US" sz="2100" dirty="0"/>
          </a:p>
        </p:txBody>
      </p:sp>
      <p:sp>
        <p:nvSpPr>
          <p:cNvPr id="12" name="Text 3"/>
          <p:cNvSpPr/>
          <p:nvPr/>
        </p:nvSpPr>
        <p:spPr>
          <a:xfrm>
            <a:off x="6953250" y="3343275"/>
            <a:ext cx="4480560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09"/>
              </a:lnSpc>
              <a:buNone/>
            </a:pPr>
            <a:r>
              <a:rPr lang="en-US" sz="210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단위 및 결과물 전달</a:t>
            </a:r>
            <a:endParaRPr lang="en-US" sz="2100" dirty="0"/>
          </a:p>
        </p:txBody>
      </p:sp>
      <p:sp>
        <p:nvSpPr>
          <p:cNvPr id="13" name="Text 4"/>
          <p:cNvSpPr/>
          <p:nvPr/>
        </p:nvSpPr>
        <p:spPr>
          <a:xfrm>
            <a:off x="6953250" y="4895850"/>
            <a:ext cx="3520440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09"/>
              </a:lnSpc>
              <a:buNone/>
            </a:pPr>
            <a:r>
              <a:rPr lang="en-US" sz="210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판단 및 리포팅</a:t>
            </a:r>
            <a:endParaRPr lang="en-US" sz="2100" dirty="0"/>
          </a:p>
        </p:txBody>
      </p:sp>
      <p:sp>
        <p:nvSpPr>
          <p:cNvPr id="14" name="Text 5"/>
          <p:cNvSpPr/>
          <p:nvPr/>
        </p:nvSpPr>
        <p:spPr>
          <a:xfrm>
            <a:off x="962025" y="2352675"/>
            <a:ext cx="4997648" cy="6390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명령 목록이 아닌 각 요소 간 의존성과</a:t>
            </a:r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흐름을 읽어야 운영 가능</a:t>
            </a:r>
            <a:endParaRPr lang="en-US" sz="1950" dirty="0"/>
          </a:p>
        </p:txBody>
      </p:sp>
      <p:sp>
        <p:nvSpPr>
          <p:cNvPr id="15" name="Text 6"/>
          <p:cNvSpPr/>
          <p:nvPr/>
        </p:nvSpPr>
        <p:spPr>
          <a:xfrm>
            <a:off x="6900863" y="2209800"/>
            <a:ext cx="5291138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stages: 파이프라인 실행 순서 정의 (test → build → deploy 순서...)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rules: 조건부 job 실행 제어 로직 (브랜치·변수·변경 파일 조건...)</a:t>
            </a:r>
            <a:endParaRPr lang="en-US" sz="1275" dirty="0"/>
          </a:p>
        </p:txBody>
      </p:sp>
      <p:sp>
        <p:nvSpPr>
          <p:cNvPr id="16" name="Text 7"/>
          <p:cNvSpPr/>
          <p:nvPr/>
        </p:nvSpPr>
        <p:spPr>
          <a:xfrm>
            <a:off x="6712148" y="3771900"/>
            <a:ext cx="5479703" cy="5030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jobs: 실제 작업의 최소 실행 단위 (특정 stage 속함, script...)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artifacts: job 결과물의 전달 매커니즘 (dist/폴더 등 생성 파일...)</a:t>
            </a:r>
            <a:endParaRPr lang="en-US" sz="1425" dirty="0"/>
          </a:p>
        </p:txBody>
      </p:sp>
      <p:sp>
        <p:nvSpPr>
          <p:cNvPr id="17" name="Text 8"/>
          <p:cNvSpPr/>
          <p:nvPr/>
        </p:nvSpPr>
        <p:spPr>
          <a:xfrm>
            <a:off x="6953250" y="5324475"/>
            <a:ext cx="3729930" cy="529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reports: 품질 지표를 담은 구조화 결과물</a:t>
            </a:r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(테스트 결과·커버리지·lint...)</a:t>
            </a:r>
            <a:endParaRPr lang="en-US" sz="1500" dirty="0"/>
          </a:p>
        </p:txBody>
      </p:sp>
      <p:sp>
        <p:nvSpPr>
          <p:cNvPr id="18" name="Text 9"/>
          <p:cNvSpPr/>
          <p:nvPr/>
        </p:nvSpPr>
        <p:spPr>
          <a:xfrm>
            <a:off x="8682038" y="180975"/>
            <a:ext cx="3509963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B512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B512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B512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당신의 꿈, 우리는 디스플레이합니다. 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92596" cy="18514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17940"/>
            <a:ext cx="255984" cy="23991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4784" y="2804815"/>
            <a:ext cx="1353294" cy="92571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0565" y="2825353"/>
            <a:ext cx="1133773" cy="8572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2086" y="2804815"/>
            <a:ext cx="1219200" cy="98062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365" y="2832348"/>
            <a:ext cx="1292275" cy="78864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28600" y="133350"/>
            <a:ext cx="582930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pipeline을 읽는 순서</a:t>
            </a:r>
            <a:endParaRPr lang="en-US" sz="2550" dirty="0"/>
          </a:p>
        </p:txBody>
      </p:sp>
      <p:sp>
        <p:nvSpPr>
          <p:cNvPr id="11" name="Text 1"/>
          <p:cNvSpPr/>
          <p:nvPr/>
        </p:nvSpPr>
        <p:spPr>
          <a:xfrm>
            <a:off x="881509" y="1943100"/>
            <a:ext cx="1770608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81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전체 상태</a:t>
            </a:r>
            <a:endParaRPr lang="en-US" sz="1425" dirty="0"/>
          </a:p>
        </p:txBody>
      </p:sp>
      <p:sp>
        <p:nvSpPr>
          <p:cNvPr id="12" name="Text 2"/>
          <p:cNvSpPr/>
          <p:nvPr/>
        </p:nvSpPr>
        <p:spPr>
          <a:xfrm>
            <a:off x="3875633" y="1943100"/>
            <a:ext cx="1487686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분석 및 분류</a:t>
            </a:r>
            <a:endParaRPr lang="en-US" sz="1500" dirty="0"/>
          </a:p>
        </p:txBody>
      </p:sp>
      <p:sp>
        <p:nvSpPr>
          <p:cNvPr id="13" name="Text 3"/>
          <p:cNvSpPr/>
          <p:nvPr/>
        </p:nvSpPr>
        <p:spPr>
          <a:xfrm>
            <a:off x="6742658" y="1943100"/>
            <a:ext cx="1487686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검토 및 증거</a:t>
            </a:r>
            <a:endParaRPr lang="en-US" sz="1500" dirty="0"/>
          </a:p>
        </p:txBody>
      </p:sp>
      <p:sp>
        <p:nvSpPr>
          <p:cNvPr id="14" name="Text 4"/>
          <p:cNvSpPr/>
          <p:nvPr/>
        </p:nvSpPr>
        <p:spPr>
          <a:xfrm>
            <a:off x="9507736" y="1943100"/>
            <a:ext cx="163443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81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해결책 및 재발 방지</a:t>
            </a:r>
            <a:endParaRPr lang="en-US" sz="1425" dirty="0"/>
          </a:p>
        </p:txBody>
      </p:sp>
      <p:sp>
        <p:nvSpPr>
          <p:cNvPr id="15" name="Text 5"/>
          <p:cNvSpPr/>
          <p:nvPr/>
        </p:nvSpPr>
        <p:spPr>
          <a:xfrm>
            <a:off x="885230" y="2314575"/>
            <a:ext cx="1686818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점검 및 식별</a:t>
            </a:r>
            <a:endParaRPr lang="en-US" sz="1650" dirty="0"/>
          </a:p>
        </p:txBody>
      </p:sp>
      <p:sp>
        <p:nvSpPr>
          <p:cNvPr id="16" name="Text 6"/>
          <p:cNvSpPr/>
          <p:nvPr/>
        </p:nvSpPr>
        <p:spPr>
          <a:xfrm>
            <a:off x="3957638" y="2314575"/>
            <a:ext cx="1362075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근본 원인 도출</a:t>
            </a:r>
            <a:endParaRPr lang="en-US" sz="1650" dirty="0"/>
          </a:p>
        </p:txBody>
      </p:sp>
      <p:sp>
        <p:nvSpPr>
          <p:cNvPr id="17" name="Text 7"/>
          <p:cNvSpPr/>
          <p:nvPr/>
        </p:nvSpPr>
        <p:spPr>
          <a:xfrm>
            <a:off x="6535489" y="2314575"/>
            <a:ext cx="1854398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수준 직접 확인</a:t>
            </a:r>
            <a:endParaRPr lang="en-US" sz="1650" dirty="0"/>
          </a:p>
        </p:txBody>
      </p:sp>
      <p:sp>
        <p:nvSpPr>
          <p:cNvPr id="18" name="Text 8"/>
          <p:cNvSpPr/>
          <p:nvPr/>
        </p:nvSpPr>
        <p:spPr>
          <a:xfrm>
            <a:off x="9673977" y="2314575"/>
            <a:ext cx="1330523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근본 원인 제거</a:t>
            </a:r>
            <a:endParaRPr lang="en-US" sz="1575" dirty="0"/>
          </a:p>
        </p:txBody>
      </p:sp>
      <p:sp>
        <p:nvSpPr>
          <p:cNvPr id="19" name="Text 9"/>
          <p:cNvSpPr/>
          <p:nvPr/>
        </p:nvSpPr>
        <p:spPr>
          <a:xfrm>
            <a:off x="838200" y="4095750"/>
            <a:ext cx="2926080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전체 파이프라인 상태 확인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838200" y="4876800"/>
            <a:ext cx="369189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실패한 Stage와 Job 식별</a:t>
            </a:r>
            <a:endParaRPr lang="en-US" sz="1275" dirty="0"/>
          </a:p>
        </p:txBody>
      </p:sp>
      <p:sp>
        <p:nvSpPr>
          <p:cNvPr id="21" name="Text 11"/>
          <p:cNvSpPr/>
          <p:nvPr/>
        </p:nvSpPr>
        <p:spPr>
          <a:xfrm>
            <a:off x="3638550" y="4095750"/>
            <a:ext cx="330327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로그에서 첫 번째 에러 탐색</a:t>
            </a:r>
            <a:endParaRPr lang="en-US" sz="1275" dirty="0"/>
          </a:p>
        </p:txBody>
      </p:sp>
      <p:sp>
        <p:nvSpPr>
          <p:cNvPr id="22" name="Text 12"/>
          <p:cNvSpPr/>
          <p:nvPr/>
        </p:nvSpPr>
        <p:spPr>
          <a:xfrm>
            <a:off x="3552825" y="4876800"/>
            <a:ext cx="3703320" cy="2382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원인 코드 vs 환경으로 분류</a:t>
            </a:r>
            <a:endParaRPr lang="en-US" sz="1350" dirty="0"/>
          </a:p>
        </p:txBody>
      </p:sp>
      <p:sp>
        <p:nvSpPr>
          <p:cNvPr id="23" name="Text 13"/>
          <p:cNvSpPr/>
          <p:nvPr/>
        </p:nvSpPr>
        <p:spPr>
          <a:xfrm>
            <a:off x="6477000" y="4095750"/>
            <a:ext cx="446913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Artifacts와 Reports 검토</a:t>
            </a:r>
            <a:endParaRPr lang="en-US" sz="1275" dirty="0"/>
          </a:p>
        </p:txBody>
      </p:sp>
      <p:sp>
        <p:nvSpPr>
          <p:cNvPr id="24" name="Text 14"/>
          <p:cNvSpPr/>
          <p:nvPr/>
        </p:nvSpPr>
        <p:spPr>
          <a:xfrm>
            <a:off x="6477000" y="4876800"/>
            <a:ext cx="3291840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⑥ 아티팩트 및 리포트 활용 전략</a:t>
            </a:r>
            <a:endParaRPr lang="en-US" sz="1200" dirty="0"/>
          </a:p>
        </p:txBody>
      </p:sp>
      <p:sp>
        <p:nvSpPr>
          <p:cNvPr id="25" name="Text 15"/>
          <p:cNvSpPr/>
          <p:nvPr/>
        </p:nvSpPr>
        <p:spPr>
          <a:xfrm>
            <a:off x="8241953" y="190500"/>
            <a:ext cx="3949898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CH07. 운영 품질 게이트 및 자동화된 운영</a:t>
            </a:r>
            <a:pPr algn="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350" dirty="0"/>
          </a:p>
        </p:txBody>
      </p:sp>
      <p:sp>
        <p:nvSpPr>
          <p:cNvPr id="26" name="Text 16"/>
          <p:cNvSpPr/>
          <p:nvPr/>
        </p:nvSpPr>
        <p:spPr>
          <a:xfrm>
            <a:off x="671513" y="4429125"/>
            <a:ext cx="2200275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Success-Failed-Pending 여부를</a:t>
            </a:r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먼저 확인</a:t>
            </a:r>
            <a:endParaRPr lang="en-US" sz="1125" dirty="0"/>
          </a:p>
        </p:txBody>
      </p:sp>
      <p:sp>
        <p:nvSpPr>
          <p:cNvPr id="27" name="Text 17"/>
          <p:cNvSpPr/>
          <p:nvPr/>
        </p:nvSpPr>
        <p:spPr>
          <a:xfrm>
            <a:off x="567630" y="5210175"/>
            <a:ext cx="2388840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빨간색 X 표시된 Stage-Job 위치를</a:t>
            </a:r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정확히 파악</a:t>
            </a:r>
            <a:endParaRPr lang="en-US" sz="1125" dirty="0"/>
          </a:p>
        </p:txBody>
      </p:sp>
      <p:sp>
        <p:nvSpPr>
          <p:cNvPr id="28" name="Text 18"/>
          <p:cNvSpPr/>
          <p:nvPr/>
        </p:nvSpPr>
        <p:spPr>
          <a:xfrm>
            <a:off x="3767584" y="4429125"/>
            <a:ext cx="1770608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줄이 아닌 최초 발생</a:t>
            </a:r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에서 메시지가 핵심</a:t>
            </a:r>
            <a:endParaRPr lang="en-US" sz="1125" dirty="0"/>
          </a:p>
        </p:txBody>
      </p:sp>
      <p:sp>
        <p:nvSpPr>
          <p:cNvPr id="29" name="Text 19"/>
          <p:cNvSpPr/>
          <p:nvPr/>
        </p:nvSpPr>
        <p:spPr>
          <a:xfrm>
            <a:off x="3494633" y="5210175"/>
            <a:ext cx="2325886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실패는 코드, Pending-권한</a:t>
            </a:r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오류는 환경 문제</a:t>
            </a:r>
            <a:endParaRPr lang="en-US" sz="1125" dirty="0"/>
          </a:p>
        </p:txBody>
      </p:sp>
      <p:sp>
        <p:nvSpPr>
          <p:cNvPr id="30" name="Text 20"/>
          <p:cNvSpPr/>
          <p:nvPr/>
        </p:nvSpPr>
        <p:spPr>
          <a:xfrm>
            <a:off x="6371630" y="4429125"/>
            <a:ext cx="2315468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결과물-테스트 리포트를 열어</a:t>
            </a:r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수준 직접 확인</a:t>
            </a:r>
            <a:endParaRPr lang="en-US" sz="1125" dirty="0"/>
          </a:p>
        </p:txBody>
      </p:sp>
      <p:sp>
        <p:nvSpPr>
          <p:cNvPr id="31" name="Text 21"/>
          <p:cNvSpPr/>
          <p:nvPr/>
        </p:nvSpPr>
        <p:spPr>
          <a:xfrm>
            <a:off x="6456908" y="5210175"/>
            <a:ext cx="2116336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동적 리포트 시각화 및 자동화된</a:t>
            </a:r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점수 산출 고려</a:t>
            </a:r>
            <a:endParaRPr lang="en-US" sz="1125" dirty="0"/>
          </a:p>
        </p:txBody>
      </p:sp>
      <p:sp>
        <p:nvSpPr>
          <p:cNvPr id="32" name="Text 22"/>
          <p:cNvSpPr/>
          <p:nvPr/>
        </p:nvSpPr>
        <p:spPr>
          <a:xfrm>
            <a:off x="9441061" y="4429125"/>
            <a:ext cx="1843980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Retry 대신 재현 가능한</a:t>
            </a:r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2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제거 방법을 정의</a:t>
            </a:r>
            <a:endParaRPr lang="en-US" sz="1125" dirty="0"/>
          </a:p>
        </p:txBody>
      </p:sp>
      <p:sp>
        <p:nvSpPr>
          <p:cNvPr id="33" name="Text 23"/>
          <p:cNvSpPr/>
          <p:nvPr/>
        </p:nvSpPr>
        <p:spPr>
          <a:xfrm>
            <a:off x="9262467" y="4876800"/>
            <a:ext cx="2210693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재발 방지 및 운영 팔단 고도화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9577388" y="5210175"/>
            <a:ext cx="1571625" cy="2908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예로 패턴 학습 및 예방적</a:t>
            </a:r>
            <a:pPr algn="ct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45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게이트 설정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5813971" y="6705600"/>
            <a:ext cx="544711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92596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9984" y="4395936"/>
            <a:ext cx="1060698" cy="76795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7780" y="1940719"/>
            <a:ext cx="1011882" cy="59650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2863" y="4443859"/>
            <a:ext cx="1109365" cy="62403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0494" y="1940719"/>
            <a:ext cx="1255663" cy="60349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6282" y="4389090"/>
            <a:ext cx="755898" cy="69949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16596" y="1892796"/>
            <a:ext cx="902196" cy="699492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52425" y="209550"/>
            <a:ext cx="11839575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self-managed runner를 어떻게 설계하고 있어야 하는가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352425" y="762000"/>
            <a:ext cx="639699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CH07: CI/CD 운영 및 품질 게이트</a:t>
            </a:r>
            <a:endParaRPr lang="en-US" sz="1725" dirty="0"/>
          </a:p>
        </p:txBody>
      </p:sp>
      <p:sp>
        <p:nvSpPr>
          <p:cNvPr id="14" name="Text 2"/>
          <p:cNvSpPr/>
          <p:nvPr/>
        </p:nvSpPr>
        <p:spPr>
          <a:xfrm>
            <a:off x="689967" y="2800350"/>
            <a:ext cx="3258443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Runner Scope: 운영 책임의 경계</a:t>
            </a:r>
            <a:endParaRPr lang="en-US" sz="1725" dirty="0"/>
          </a:p>
        </p:txBody>
      </p:sp>
      <p:sp>
        <p:nvSpPr>
          <p:cNvPr id="15" name="Text 3"/>
          <p:cNvSpPr/>
          <p:nvPr/>
        </p:nvSpPr>
        <p:spPr>
          <a:xfrm>
            <a:off x="4356199" y="2800350"/>
            <a:ext cx="348897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 기반 라우팅: Job-Runner 매핑</a:t>
            </a:r>
            <a:endParaRPr lang="en-US" sz="1725" dirty="0"/>
          </a:p>
        </p:txBody>
      </p:sp>
      <p:sp>
        <p:nvSpPr>
          <p:cNvPr id="16" name="Text 4"/>
          <p:cNvSpPr/>
          <p:nvPr/>
        </p:nvSpPr>
        <p:spPr>
          <a:xfrm>
            <a:off x="8542883" y="2800350"/>
            <a:ext cx="2744986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Executor 선택: 격리 vs 성능</a:t>
            </a:r>
            <a:endParaRPr lang="en-US" sz="1650" dirty="0"/>
          </a:p>
        </p:txBody>
      </p:sp>
      <p:sp>
        <p:nvSpPr>
          <p:cNvPr id="17" name="Text 5"/>
          <p:cNvSpPr/>
          <p:nvPr/>
        </p:nvSpPr>
        <p:spPr>
          <a:xfrm>
            <a:off x="605730" y="5267325"/>
            <a:ext cx="343659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Protected Runner: 민감 작업 격리</a:t>
            </a:r>
            <a:endParaRPr lang="en-US" sz="1575" dirty="0"/>
          </a:p>
        </p:txBody>
      </p:sp>
      <p:sp>
        <p:nvSpPr>
          <p:cNvPr id="18" name="Text 6"/>
          <p:cNvSpPr/>
          <p:nvPr/>
        </p:nvSpPr>
        <p:spPr>
          <a:xfrm>
            <a:off x="4596705" y="5267325"/>
            <a:ext cx="301749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네트워크·보안 정책과의 교차점</a:t>
            </a:r>
            <a:endParaRPr lang="en-US" sz="1725" dirty="0"/>
          </a:p>
        </p:txBody>
      </p:sp>
      <p:sp>
        <p:nvSpPr>
          <p:cNvPr id="19" name="Text 7"/>
          <p:cNvSpPr/>
          <p:nvPr/>
        </p:nvSpPr>
        <p:spPr>
          <a:xfrm>
            <a:off x="8043267" y="5267325"/>
            <a:ext cx="3677543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원칙: Scope-Tag-Executor 조합</a:t>
            </a:r>
            <a:endParaRPr lang="en-US" sz="1575" dirty="0"/>
          </a:p>
        </p:txBody>
      </p:sp>
      <p:sp>
        <p:nvSpPr>
          <p:cNvPr id="20" name="Text 8"/>
          <p:cNvSpPr/>
          <p:nvPr/>
        </p:nvSpPr>
        <p:spPr>
          <a:xfrm>
            <a:off x="1960662" y="1371600"/>
            <a:ext cx="660053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12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</a:t>
            </a:r>
            <a:endParaRPr lang="en-US" sz="1350" dirty="0"/>
          </a:p>
        </p:txBody>
      </p:sp>
      <p:sp>
        <p:nvSpPr>
          <p:cNvPr id="21" name="Text 9"/>
          <p:cNvSpPr/>
          <p:nvPr/>
        </p:nvSpPr>
        <p:spPr>
          <a:xfrm>
            <a:off x="5726906" y="1371600"/>
            <a:ext cx="785813" cy="241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Routing</a:t>
            </a:r>
            <a:endParaRPr lang="en-US" sz="1275" dirty="0"/>
          </a:p>
        </p:txBody>
      </p:sp>
      <p:sp>
        <p:nvSpPr>
          <p:cNvPr id="22" name="Text 10"/>
          <p:cNvSpPr/>
          <p:nvPr/>
        </p:nvSpPr>
        <p:spPr>
          <a:xfrm>
            <a:off x="9484519" y="1371600"/>
            <a:ext cx="890588" cy="241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Executor</a:t>
            </a:r>
            <a:endParaRPr lang="en-US" sz="1275" dirty="0"/>
          </a:p>
        </p:txBody>
      </p:sp>
      <p:sp>
        <p:nvSpPr>
          <p:cNvPr id="23" name="Text 11"/>
          <p:cNvSpPr/>
          <p:nvPr/>
        </p:nvSpPr>
        <p:spPr>
          <a:xfrm>
            <a:off x="1836390" y="4000500"/>
            <a:ext cx="880021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76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Protected</a:t>
            </a:r>
            <a:endParaRPr lang="en-US" sz="1125" dirty="0"/>
          </a:p>
        </p:txBody>
      </p:sp>
      <p:sp>
        <p:nvSpPr>
          <p:cNvPr id="24" name="Text 12"/>
          <p:cNvSpPr/>
          <p:nvPr/>
        </p:nvSpPr>
        <p:spPr>
          <a:xfrm>
            <a:off x="5716786" y="4000500"/>
            <a:ext cx="796230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5" name="Text 13"/>
          <p:cNvSpPr/>
          <p:nvPr/>
        </p:nvSpPr>
        <p:spPr>
          <a:xfrm>
            <a:off x="9077325" y="4000500"/>
            <a:ext cx="1676400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 Principles</a:t>
            </a:r>
            <a:endParaRPr lang="en-US" sz="1200" dirty="0"/>
          </a:p>
        </p:txBody>
      </p:sp>
      <p:sp>
        <p:nvSpPr>
          <p:cNvPr id="26" name="Text 14"/>
          <p:cNvSpPr/>
          <p:nvPr/>
        </p:nvSpPr>
        <p:spPr>
          <a:xfrm>
            <a:off x="9677400" y="742950"/>
            <a:ext cx="251460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CH07: CI/CD 운영 및 품질 게이트</a:t>
            </a:r>
            <a:endParaRPr lang="en-US" sz="1350" dirty="0"/>
          </a:p>
        </p:txBody>
      </p:sp>
      <p:sp>
        <p:nvSpPr>
          <p:cNvPr id="27" name="Text 15"/>
          <p:cNvSpPr/>
          <p:nvPr/>
        </p:nvSpPr>
        <p:spPr>
          <a:xfrm>
            <a:off x="707231" y="3105150"/>
            <a:ext cx="3090863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Instance-Group-Project 범위별로</a:t>
            </a:r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권한과 요원 위험 차이</a:t>
            </a:r>
            <a:endParaRPr lang="en-US" sz="1350" dirty="0"/>
          </a:p>
        </p:txBody>
      </p:sp>
      <p:sp>
        <p:nvSpPr>
          <p:cNvPr id="28" name="Text 16"/>
          <p:cNvSpPr/>
          <p:nvPr/>
        </p:nvSpPr>
        <p:spPr>
          <a:xfrm>
            <a:off x="4595813" y="3105150"/>
            <a:ext cx="3038475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tags 불일치 시 Job Pending 상태로</a:t>
            </a:r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멈추며 인프라 문제로 분류</a:t>
            </a:r>
            <a:endParaRPr lang="en-US" sz="1350" dirty="0"/>
          </a:p>
        </p:txBody>
      </p:sp>
      <p:sp>
        <p:nvSpPr>
          <p:cNvPr id="29" name="Text 17"/>
          <p:cNvSpPr/>
          <p:nvPr/>
        </p:nvSpPr>
        <p:spPr>
          <a:xfrm>
            <a:off x="8311902" y="3105150"/>
            <a:ext cx="3216473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shell은 빠르나 환경 오염 위험,</a:t>
            </a:r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docker는 재현성 높으나 오버헤드 발생</a:t>
            </a:r>
            <a:endParaRPr lang="en-US" sz="1350" dirty="0"/>
          </a:p>
        </p:txBody>
      </p:sp>
      <p:sp>
        <p:nvSpPr>
          <p:cNvPr id="30" name="Text 18"/>
          <p:cNvSpPr/>
          <p:nvPr/>
        </p:nvSpPr>
        <p:spPr>
          <a:xfrm>
            <a:off x="617637" y="5581650"/>
            <a:ext cx="3384203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프로덕션 배포 Job은 Protected Branch</a:t>
            </a:r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전용 Runner에만 할당</a:t>
            </a:r>
            <a:endParaRPr lang="en-US" sz="1350" dirty="0"/>
          </a:p>
        </p:txBody>
      </p:sp>
      <p:sp>
        <p:nvSpPr>
          <p:cNvPr id="31" name="Text 19"/>
          <p:cNvSpPr/>
          <p:nvPr/>
        </p:nvSpPr>
        <p:spPr>
          <a:xfrm>
            <a:off x="4866233" y="5581650"/>
            <a:ext cx="2535436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방화벽·Proxy·내부 CA 설정이</a:t>
            </a:r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Runner 실행 환경에 직접 영향</a:t>
            </a:r>
            <a:endParaRPr lang="en-US" sz="1350" dirty="0"/>
          </a:p>
        </p:txBody>
      </p:sp>
      <p:sp>
        <p:nvSpPr>
          <p:cNvPr id="32" name="Text 20"/>
          <p:cNvSpPr/>
          <p:nvPr/>
        </p:nvSpPr>
        <p:spPr>
          <a:xfrm>
            <a:off x="8311902" y="5581650"/>
            <a:ext cx="3216473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요소를 함께 설계하여 보안·성능·운영</a:t>
            </a:r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책임을 동시에 충족</a:t>
            </a:r>
            <a:endParaRPr lang="en-US" sz="1350" dirty="0"/>
          </a:p>
        </p:txBody>
      </p:sp>
      <p:sp>
        <p:nvSpPr>
          <p:cNvPr id="33" name="Text 21"/>
          <p:cNvSpPr/>
          <p:nvPr/>
        </p:nvSpPr>
        <p:spPr>
          <a:xfrm>
            <a:off x="10782300" y="171450"/>
            <a:ext cx="1299121" cy="3205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62"/>
              </a:lnSpc>
              <a:buNone/>
            </a:pPr>
            <a:r>
              <a:rPr lang="en-US" sz="1275" b="1" dirty="0">
                <a:solidFill>
                  <a:srgbClr val="EA17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62"/>
              </a:lnSpc>
              <a:buNone/>
            </a:pPr>
            <a:r>
              <a:rPr lang="en-US" sz="1275" b="1" dirty="0">
                <a:solidFill>
                  <a:srgbClr val="EA17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62"/>
              </a:lnSpc>
              <a:buNone/>
            </a:pPr>
            <a:r>
              <a:rPr lang="en-US" sz="1275" b="1" dirty="0">
                <a:solidFill>
                  <a:srgbClr val="EA17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75" dirty="0"/>
          </a:p>
        </p:txBody>
      </p:sp>
      <p:sp>
        <p:nvSpPr>
          <p:cNvPr id="34" name="Text 22"/>
          <p:cNvSpPr/>
          <p:nvPr/>
        </p:nvSpPr>
        <p:spPr>
          <a:xfrm>
            <a:off x="5810696" y="6705600"/>
            <a:ext cx="618083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68"/>
              </a:lnSpc>
              <a:buNone/>
            </a:pPr>
            <a:r>
              <a:rPr lang="en-US" sz="7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68188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7467" y="2098477"/>
            <a:ext cx="975271" cy="90517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9475" y="2098477"/>
            <a:ext cx="1194792" cy="89148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0855" y="2098477"/>
            <a:ext cx="987475" cy="89148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400050" y="323850"/>
            <a:ext cx="11791950" cy="4668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677"/>
              </a:lnSpc>
              <a:buNone/>
            </a:pPr>
            <a:r>
              <a:rPr lang="en-US" sz="285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shell, docker, kubernetes executor 차이</a:t>
            </a:r>
            <a:endParaRPr lang="en-US" sz="2850" dirty="0"/>
          </a:p>
        </p:txBody>
      </p:sp>
      <p:sp>
        <p:nvSpPr>
          <p:cNvPr id="10" name="Text 1"/>
          <p:cNvSpPr/>
          <p:nvPr/>
        </p:nvSpPr>
        <p:spPr>
          <a:xfrm>
            <a:off x="762000" y="3133725"/>
            <a:ext cx="3258443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Shell Executor: 호스트 직접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1725" dirty="0"/>
          </a:p>
        </p:txBody>
      </p:sp>
      <p:sp>
        <p:nvSpPr>
          <p:cNvPr id="11" name="Text 2"/>
          <p:cNvSpPr/>
          <p:nvPr/>
        </p:nvSpPr>
        <p:spPr>
          <a:xfrm>
            <a:off x="4619625" y="3133725"/>
            <a:ext cx="3206055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 Executor: 컨테이너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격리 실행</a:t>
            </a:r>
            <a:endParaRPr lang="en-US" sz="1725" dirty="0"/>
          </a:p>
        </p:txBody>
      </p:sp>
      <p:sp>
        <p:nvSpPr>
          <p:cNvPr id="12" name="Text 3"/>
          <p:cNvSpPr/>
          <p:nvPr/>
        </p:nvSpPr>
        <p:spPr>
          <a:xfrm>
            <a:off x="8467725" y="3133725"/>
            <a:ext cx="2786955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Kubernetes Executor: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Pod 단위 동작 생성</a:t>
            </a:r>
            <a:endParaRPr lang="en-US" sz="1725" dirty="0"/>
          </a:p>
        </p:txBody>
      </p:sp>
      <p:sp>
        <p:nvSpPr>
          <p:cNvPr id="13" name="Text 4"/>
          <p:cNvSpPr/>
          <p:nvPr/>
        </p:nvSpPr>
        <p:spPr>
          <a:xfrm>
            <a:off x="762000" y="3781425"/>
            <a:ext cx="3541365" cy="20387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격리 수준: 없음 (호스트 환경 공유)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특징: 빠른 실행 속도, 간편한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호스트 스크립트 실행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디버깅: 호스트 시스템에 직접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접속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선택 기준: 격리가 불필요한 간단한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작업</a:t>
            </a:r>
            <a:endParaRPr lang="en-US" sz="1650" dirty="0"/>
          </a:p>
        </p:txBody>
      </p:sp>
      <p:sp>
        <p:nvSpPr>
          <p:cNvPr id="14" name="Text 5"/>
          <p:cNvSpPr/>
          <p:nvPr/>
        </p:nvSpPr>
        <p:spPr>
          <a:xfrm>
            <a:off x="4619625" y="3781425"/>
            <a:ext cx="3562350" cy="20387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격리 수준: 높음 (독립 컨테이너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보장)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특징: 높은 재현성, image 지정으로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통제 가능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디버깅: 컨테이너 `exec` 명령 사용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선택 기준: 빌드 재현성 및 보안이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중요한 경우 (권장)</a:t>
            </a:r>
            <a:endParaRPr lang="en-US" sz="1650" dirty="0"/>
          </a:p>
        </p:txBody>
      </p:sp>
      <p:sp>
        <p:nvSpPr>
          <p:cNvPr id="15" name="Text 6"/>
          <p:cNvSpPr/>
          <p:nvPr/>
        </p:nvSpPr>
        <p:spPr>
          <a:xfrm>
            <a:off x="8467725" y="3781425"/>
            <a:ext cx="3352800" cy="20387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격리 수준: 매우 높음 (독립 Pod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보장)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특징: 대규모 병렬 처리, 자원 자동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회수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디버깅: Pod 로그 조회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선택 기준: 대규모 파이프라인 및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자원 관리 환경 (권장)</a:t>
            </a:r>
            <a:endParaRPr lang="en-US" sz="1650" dirty="0"/>
          </a:p>
        </p:txBody>
      </p:sp>
      <p:sp>
        <p:nvSpPr>
          <p:cNvPr id="16" name="Text 7"/>
          <p:cNvSpPr/>
          <p:nvPr/>
        </p:nvSpPr>
        <p:spPr>
          <a:xfrm>
            <a:off x="9069586" y="647700"/>
            <a:ext cx="3122265" cy="2552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CH07: 품질 게이트 및 자가 관리 운영</a:t>
            </a:r>
            <a:endParaRPr lang="en-US" sz="1500" dirty="0"/>
          </a:p>
        </p:txBody>
      </p:sp>
      <p:sp>
        <p:nvSpPr>
          <p:cNvPr id="17" name="Text 8"/>
          <p:cNvSpPr/>
          <p:nvPr/>
        </p:nvSpPr>
        <p:spPr>
          <a:xfrm>
            <a:off x="10820400" y="152400"/>
            <a:ext cx="113154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  <p:sp>
        <p:nvSpPr>
          <p:cNvPr id="18" name="Text 9"/>
          <p:cNvSpPr/>
          <p:nvPr/>
        </p:nvSpPr>
        <p:spPr>
          <a:xfrm>
            <a:off x="466725" y="6629400"/>
            <a:ext cx="182880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5870674" y="6705600"/>
            <a:ext cx="55527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825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68188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17940"/>
            <a:ext cx="255984" cy="23991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0377" y="4663380"/>
            <a:ext cx="341263" cy="49366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7467" y="3463230"/>
            <a:ext cx="767953" cy="77494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071" y="4711303"/>
            <a:ext cx="377875" cy="43889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5067" y="3278088"/>
            <a:ext cx="1084957" cy="113838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4784" y="4663380"/>
            <a:ext cx="329059" cy="49366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8965" y="3278088"/>
            <a:ext cx="1084957" cy="932557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66700" y="171450"/>
            <a:ext cx="1192530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runner tag, protected runner, pending 해석</a:t>
            </a:r>
            <a:endParaRPr lang="en-US" sz="2250" dirty="0"/>
          </a:p>
        </p:txBody>
      </p:sp>
      <p:sp>
        <p:nvSpPr>
          <p:cNvPr id="13" name="Text 1"/>
          <p:cNvSpPr/>
          <p:nvPr/>
        </p:nvSpPr>
        <p:spPr>
          <a:xfrm>
            <a:off x="323850" y="742950"/>
            <a:ext cx="4480560" cy="3519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 라우팅 및 문제 해결</a:t>
            </a:r>
            <a:endParaRPr lang="en-US" sz="2100" dirty="0"/>
          </a:p>
        </p:txBody>
      </p:sp>
      <p:sp>
        <p:nvSpPr>
          <p:cNvPr id="14" name="Text 2"/>
          <p:cNvSpPr/>
          <p:nvPr/>
        </p:nvSpPr>
        <p:spPr>
          <a:xfrm>
            <a:off x="781050" y="4648200"/>
            <a:ext cx="1257300" cy="4116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태그 요청</a:t>
            </a:r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(tags 키워드를 사용해</a:t>
            </a:r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할당 시도)</a:t>
            </a:r>
            <a:endParaRPr lang="en-US" sz="900" dirty="0"/>
          </a:p>
        </p:txBody>
      </p:sp>
      <p:sp>
        <p:nvSpPr>
          <p:cNvPr id="15" name="Text 3"/>
          <p:cNvSpPr/>
          <p:nvPr/>
        </p:nvSpPr>
        <p:spPr>
          <a:xfrm>
            <a:off x="2535436" y="4648200"/>
            <a:ext cx="1424880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일치 러너 부재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(태그가 일치하는 러너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없음 -&gt; 팬딩 발생)</a:t>
            </a:r>
            <a:endParaRPr lang="en-US" sz="1050" dirty="0"/>
          </a:p>
        </p:txBody>
      </p:sp>
      <p:sp>
        <p:nvSpPr>
          <p:cNvPr id="16" name="Text 4"/>
          <p:cNvSpPr/>
          <p:nvPr/>
        </p:nvSpPr>
        <p:spPr>
          <a:xfrm>
            <a:off x="4533900" y="4648200"/>
            <a:ext cx="1257300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잠 실행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(비보호 브랜치 또는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태그에서 잠 실행)</a:t>
            </a:r>
            <a:endParaRPr lang="en-US" sz="1050" dirty="0"/>
          </a:p>
        </p:txBody>
      </p:sp>
      <p:sp>
        <p:nvSpPr>
          <p:cNvPr id="17" name="Text 5"/>
          <p:cNvSpPr/>
          <p:nvPr/>
        </p:nvSpPr>
        <p:spPr>
          <a:xfrm>
            <a:off x="6384131" y="4648200"/>
            <a:ext cx="1414463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 러너 전용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(보호 러너만 있어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수행 불가 -&gt; 팬딩)</a:t>
            </a:r>
            <a:endParaRPr lang="en-US" sz="1050" dirty="0"/>
          </a:p>
        </p:txBody>
      </p:sp>
      <p:sp>
        <p:nvSpPr>
          <p:cNvPr id="18" name="Text 6"/>
          <p:cNvSpPr/>
          <p:nvPr/>
        </p:nvSpPr>
        <p:spPr>
          <a:xfrm>
            <a:off x="8204299" y="4648200"/>
            <a:ext cx="1603028" cy="4799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팬딩 상태 감지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(잡이 'Pending' 상태로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장시간 대기 중)</a:t>
            </a:r>
            <a:endParaRPr lang="en-US" sz="1050" dirty="0"/>
          </a:p>
        </p:txBody>
      </p:sp>
      <p:sp>
        <p:nvSpPr>
          <p:cNvPr id="19" name="Text 7"/>
          <p:cNvSpPr/>
          <p:nvPr/>
        </p:nvSpPr>
        <p:spPr>
          <a:xfrm>
            <a:off x="10069711" y="4648200"/>
            <a:ext cx="1424880" cy="5487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트러블슈팅 시작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(점검 순서에서 따라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파악 및 해결)</a:t>
            </a:r>
            <a:endParaRPr lang="en-US" sz="1200" dirty="0"/>
          </a:p>
        </p:txBody>
      </p:sp>
      <p:sp>
        <p:nvSpPr>
          <p:cNvPr id="20" name="Text 8"/>
          <p:cNvSpPr/>
          <p:nvPr/>
        </p:nvSpPr>
        <p:spPr>
          <a:xfrm>
            <a:off x="1322040" y="2847975"/>
            <a:ext cx="1927771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 라우팅 및 팬딩 원인</a:t>
            </a:r>
            <a:endParaRPr lang="en-US" sz="1275" dirty="0"/>
          </a:p>
        </p:txBody>
      </p:sp>
      <p:sp>
        <p:nvSpPr>
          <p:cNvPr id="21" name="Text 9"/>
          <p:cNvSpPr/>
          <p:nvPr/>
        </p:nvSpPr>
        <p:spPr>
          <a:xfrm>
            <a:off x="5169694" y="2085975"/>
            <a:ext cx="1938337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 라우팅 및 문제 해결</a:t>
            </a:r>
            <a:endParaRPr lang="en-US" sz="1275" dirty="0"/>
          </a:p>
        </p:txBody>
      </p:sp>
      <p:sp>
        <p:nvSpPr>
          <p:cNvPr id="22" name="Text 10"/>
          <p:cNvSpPr/>
          <p:nvPr/>
        </p:nvSpPr>
        <p:spPr>
          <a:xfrm>
            <a:off x="5173861" y="2847975"/>
            <a:ext cx="184398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 러너 및 설정 충돌</a:t>
            </a:r>
            <a:endParaRPr lang="en-US" sz="1425" dirty="0"/>
          </a:p>
        </p:txBody>
      </p:sp>
      <p:sp>
        <p:nvSpPr>
          <p:cNvPr id="23" name="Text 11"/>
          <p:cNvSpPr/>
          <p:nvPr/>
        </p:nvSpPr>
        <p:spPr>
          <a:xfrm>
            <a:off x="9099649" y="2847975"/>
            <a:ext cx="1603028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팬딩 상태 원인 분석</a:t>
            </a:r>
            <a:endParaRPr lang="en-US" sz="1425" dirty="0"/>
          </a:p>
        </p:txBody>
      </p:sp>
      <p:sp>
        <p:nvSpPr>
          <p:cNvPr id="24" name="Text 12"/>
          <p:cNvSpPr/>
          <p:nvPr/>
        </p:nvSpPr>
        <p:spPr>
          <a:xfrm>
            <a:off x="657225" y="5467350"/>
            <a:ext cx="3604171" cy="3628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라우팅 메커니즘 : tags 키워드를 사용하여 특정</a:t>
            </a:r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태그를 가진 러너 그룹에 작업을 라우팅합니다.</a:t>
            </a:r>
            <a:endParaRPr lang="en-US" sz="1200" dirty="0"/>
          </a:p>
        </p:txBody>
      </p:sp>
      <p:sp>
        <p:nvSpPr>
          <p:cNvPr id="25" name="Text 13"/>
          <p:cNvSpPr/>
          <p:nvPr/>
        </p:nvSpPr>
        <p:spPr>
          <a:xfrm>
            <a:off x="657225" y="5905500"/>
            <a:ext cx="3761333" cy="3628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팬딩 대기 : 일치하는 태그를 가진 러너가 활성화될</a:t>
            </a:r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때까지 작업은 'Pending' 상태로 대기합니다.</a:t>
            </a:r>
            <a:endParaRPr lang="en-US" sz="1200" dirty="0"/>
          </a:p>
        </p:txBody>
      </p:sp>
      <p:sp>
        <p:nvSpPr>
          <p:cNvPr id="26" name="Text 14"/>
          <p:cNvSpPr/>
          <p:nvPr/>
        </p:nvSpPr>
        <p:spPr>
          <a:xfrm>
            <a:off x="4505325" y="5467350"/>
            <a:ext cx="3604171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보호 러너 정의 : 중요 정보 접근을 위해 보호된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브랜치나 태그의 잠만 수행하도록 제한합니다.</a:t>
            </a:r>
            <a:endParaRPr lang="en-US" sz="1275" dirty="0"/>
          </a:p>
        </p:txBody>
      </p:sp>
      <p:sp>
        <p:nvSpPr>
          <p:cNvPr id="27" name="Text 15"/>
          <p:cNvSpPr/>
          <p:nvPr/>
        </p:nvSpPr>
        <p:spPr>
          <a:xfrm>
            <a:off x="4505325" y="5905500"/>
            <a:ext cx="3887093" cy="3628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충돌 해결 : 중요도가 낮은 잠은 Protected 설정을</a:t>
            </a:r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해제하거나 일반 러너를 사용하여 충돌을 방지합니다.</a:t>
            </a:r>
            <a:endParaRPr lang="en-US" sz="1200" dirty="0"/>
          </a:p>
        </p:txBody>
      </p:sp>
      <p:sp>
        <p:nvSpPr>
          <p:cNvPr id="28" name="Text 16"/>
          <p:cNvSpPr/>
          <p:nvPr/>
        </p:nvSpPr>
        <p:spPr>
          <a:xfrm>
            <a:off x="8343900" y="5467350"/>
            <a:ext cx="3352800" cy="3628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주요 원인 파악 : 대부분 태그 불일치 또는 사용</a:t>
            </a:r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가능한 Runner 부재가 핵심 원인입니다.</a:t>
            </a:r>
            <a:endParaRPr lang="en-US" sz="1200" dirty="0"/>
          </a:p>
        </p:txBody>
      </p:sp>
      <p:sp>
        <p:nvSpPr>
          <p:cNvPr id="29" name="Text 17"/>
          <p:cNvSpPr/>
          <p:nvPr/>
        </p:nvSpPr>
        <p:spPr>
          <a:xfrm>
            <a:off x="8343900" y="5905500"/>
            <a:ext cx="3740348" cy="5098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점검 순서 : 태그 일치 여부 -&gt; Scope 확인</a:t>
            </a:r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(Project/Group/Instance) -&gt; Protected 설정 순으로</a:t>
            </a:r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확인합니다.</a:t>
            </a:r>
            <a:endParaRPr lang="en-US" sz="1125" dirty="0"/>
          </a:p>
        </p:txBody>
      </p:sp>
      <p:sp>
        <p:nvSpPr>
          <p:cNvPr id="30" name="Text 18"/>
          <p:cNvSpPr/>
          <p:nvPr/>
        </p:nvSpPr>
        <p:spPr>
          <a:xfrm>
            <a:off x="10820400" y="190500"/>
            <a:ext cx="1131540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1350" b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15"/>
              </a:lnSpc>
              <a:buNone/>
            </a:pPr>
            <a:r>
              <a:rPr lang="en-US" sz="1350" b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15"/>
              </a:lnSpc>
              <a:buNone/>
            </a:pPr>
            <a:r>
              <a:rPr lang="en-US" sz="1350" b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45325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486" y="1940719"/>
            <a:ext cx="11301859" cy="4162723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8600" y="190500"/>
            <a:ext cx="11963400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88"/>
              </a:lnSpc>
              <a:buNone/>
            </a:pPr>
            <a:r>
              <a:rPr lang="en-US" sz="24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artifact와 report는 왜 결과 해석의 증거가 되는가</a:t>
            </a:r>
            <a:endParaRPr lang="en-US" sz="2400" dirty="0"/>
          </a:p>
        </p:txBody>
      </p:sp>
      <p:sp>
        <p:nvSpPr>
          <p:cNvPr id="8" name="Text 1"/>
          <p:cNvSpPr/>
          <p:nvPr/>
        </p:nvSpPr>
        <p:spPr>
          <a:xfrm>
            <a:off x="10953750" y="190500"/>
            <a:ext cx="9533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000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000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000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  <p:sp>
        <p:nvSpPr>
          <p:cNvPr id="9" name="Text 2"/>
          <p:cNvSpPr/>
          <p:nvPr/>
        </p:nvSpPr>
        <p:spPr>
          <a:xfrm>
            <a:off x="9610725" y="266700"/>
            <a:ext cx="1783080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0"/>
              </a:lnSpc>
              <a:buNone/>
            </a:pPr>
            <a:r>
              <a:rPr lang="en-US" sz="9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협터영을 입력해 주세요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9017"/>
            <a:ext cx="292596" cy="18514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55984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879" y="2043559"/>
            <a:ext cx="6315373" cy="211216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588" y="5006280"/>
            <a:ext cx="853380" cy="75426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6369" y="4457700"/>
            <a:ext cx="451098" cy="37028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9890" y="2489448"/>
            <a:ext cx="1170384" cy="73372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7867" y="2482453"/>
            <a:ext cx="755898" cy="706338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28600" y="123825"/>
            <a:ext cx="1028700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Pages를 어떻게 운영할 것인가</a:t>
            </a:r>
            <a:endParaRPr lang="en-US" sz="2700" dirty="0"/>
          </a:p>
        </p:txBody>
      </p:sp>
      <p:sp>
        <p:nvSpPr>
          <p:cNvPr id="12" name="Text 1"/>
          <p:cNvSpPr/>
          <p:nvPr/>
        </p:nvSpPr>
        <p:spPr>
          <a:xfrm>
            <a:off x="4610546" y="1171575"/>
            <a:ext cx="2713583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Pages 핵심 개념</a:t>
            </a:r>
            <a:endParaRPr lang="en-US" sz="1800" dirty="0"/>
          </a:p>
        </p:txBody>
      </p:sp>
      <p:sp>
        <p:nvSpPr>
          <p:cNvPr id="13" name="Text 2"/>
          <p:cNvSpPr/>
          <p:nvPr/>
        </p:nvSpPr>
        <p:spPr>
          <a:xfrm>
            <a:off x="1655862" y="1866900"/>
            <a:ext cx="2126903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Artifact → Publish</a:t>
            </a:r>
            <a:endParaRPr lang="en-US" sz="1500" dirty="0"/>
          </a:p>
        </p:txBody>
      </p:sp>
      <p:sp>
        <p:nvSpPr>
          <p:cNvPr id="14" name="Text 3"/>
          <p:cNvSpPr/>
          <p:nvPr/>
        </p:nvSpPr>
        <p:spPr>
          <a:xfrm>
            <a:off x="5648325" y="4514850"/>
            <a:ext cx="262890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Wiki 대미 강점</a:t>
            </a:r>
            <a:endParaRPr lang="en-US" sz="1725" dirty="0"/>
          </a:p>
        </p:txBody>
      </p:sp>
      <p:sp>
        <p:nvSpPr>
          <p:cNvPr id="15" name="Text 4"/>
          <p:cNvSpPr/>
          <p:nvPr/>
        </p:nvSpPr>
        <p:spPr>
          <a:xfrm>
            <a:off x="5648325" y="5372100"/>
            <a:ext cx="452628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Self-Managed 필수 설정</a:t>
            </a:r>
            <a:endParaRPr lang="en-US" sz="1650" dirty="0"/>
          </a:p>
        </p:txBody>
      </p:sp>
      <p:sp>
        <p:nvSpPr>
          <p:cNvPr id="16" name="Text 5"/>
          <p:cNvSpPr/>
          <p:nvPr/>
        </p:nvSpPr>
        <p:spPr>
          <a:xfrm>
            <a:off x="8886825" y="4514850"/>
            <a:ext cx="289179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Job 이름의 중요성</a:t>
            </a:r>
            <a:endParaRPr lang="en-US" sz="1725" dirty="0"/>
          </a:p>
        </p:txBody>
      </p:sp>
      <p:sp>
        <p:nvSpPr>
          <p:cNvPr id="17" name="Text 6"/>
          <p:cNvSpPr/>
          <p:nvPr/>
        </p:nvSpPr>
        <p:spPr>
          <a:xfrm>
            <a:off x="8886825" y="5372100"/>
            <a:ext cx="3305175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Artifact→Publish 패턴</a:t>
            </a:r>
            <a:endParaRPr lang="en-US" sz="1575" dirty="0"/>
          </a:p>
        </p:txBody>
      </p:sp>
      <p:sp>
        <p:nvSpPr>
          <p:cNvPr id="18" name="Text 7"/>
          <p:cNvSpPr/>
          <p:nvPr/>
        </p:nvSpPr>
        <p:spPr>
          <a:xfrm>
            <a:off x="758130" y="3343275"/>
            <a:ext cx="1760190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16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파이프라인</a:t>
            </a:r>
            <a:pPr algn="ctr" indent="0" marL="0">
              <a:lnSpc>
                <a:spcPts val="1716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16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(Job)</a:t>
            </a:r>
            <a:endParaRPr lang="en-US" sz="1650" dirty="0"/>
          </a:p>
        </p:txBody>
      </p:sp>
      <p:sp>
        <p:nvSpPr>
          <p:cNvPr id="19" name="Text 8"/>
          <p:cNvSpPr/>
          <p:nvPr/>
        </p:nvSpPr>
        <p:spPr>
          <a:xfrm>
            <a:off x="3196084" y="3381375"/>
            <a:ext cx="1141958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8"/>
              </a:lnSpc>
              <a:buNone/>
            </a:pPr>
            <a:r>
              <a:rPr lang="en-US" sz="157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산출물</a:t>
            </a:r>
            <a:pPr algn="ctr" indent="0" marL="0">
              <a:lnSpc>
                <a:spcPts val="1638"/>
              </a:lnSpc>
              <a:buNone/>
            </a:pPr>
            <a:r>
              <a:rPr lang="en-US" sz="157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38"/>
              </a:lnSpc>
              <a:buNone/>
            </a:pPr>
            <a:r>
              <a:rPr lang="en-US" sz="157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(Artifact)</a:t>
            </a:r>
            <a:endParaRPr lang="en-US" sz="1575" dirty="0"/>
          </a:p>
        </p:txBody>
      </p:sp>
      <p:sp>
        <p:nvSpPr>
          <p:cNvPr id="20" name="Text 9"/>
          <p:cNvSpPr/>
          <p:nvPr/>
        </p:nvSpPr>
        <p:spPr>
          <a:xfrm>
            <a:off x="2181225" y="5095875"/>
            <a:ext cx="3840480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Pages 사이트</a:t>
            </a:r>
            <a:endParaRPr lang="en-US" sz="1575" dirty="0"/>
          </a:p>
        </p:txBody>
      </p:sp>
      <p:sp>
        <p:nvSpPr>
          <p:cNvPr id="21" name="Text 10"/>
          <p:cNvSpPr/>
          <p:nvPr/>
        </p:nvSpPr>
        <p:spPr>
          <a:xfrm>
            <a:off x="5648325" y="4810125"/>
            <a:ext cx="50292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관리, 빌드 검증, 자동 배포 가능</a:t>
            </a:r>
            <a:endParaRPr lang="en-US" sz="1500" dirty="0"/>
          </a:p>
        </p:txBody>
      </p:sp>
      <p:sp>
        <p:nvSpPr>
          <p:cNvPr id="22" name="Text 11"/>
          <p:cNvSpPr/>
          <p:nvPr/>
        </p:nvSpPr>
        <p:spPr>
          <a:xfrm>
            <a:off x="5648325" y="5686425"/>
            <a:ext cx="59436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활성화, 전용 도메인, TLS 인증서 별도 구성</a:t>
            </a:r>
            <a:endParaRPr lang="en-US" sz="1500" dirty="0"/>
          </a:p>
        </p:txBody>
      </p:sp>
      <p:sp>
        <p:nvSpPr>
          <p:cNvPr id="23" name="Text 12"/>
          <p:cNvSpPr/>
          <p:nvPr/>
        </p:nvSpPr>
        <p:spPr>
          <a:xfrm>
            <a:off x="8886825" y="4810125"/>
            <a:ext cx="3305175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 `pages`여야 GitLab이 자동 인식</a:t>
            </a:r>
            <a:endParaRPr lang="en-US" sz="1425" dirty="0"/>
          </a:p>
        </p:txBody>
      </p:sp>
      <p:sp>
        <p:nvSpPr>
          <p:cNvPr id="24" name="Text 13"/>
          <p:cNvSpPr/>
          <p:nvPr/>
        </p:nvSpPr>
        <p:spPr>
          <a:xfrm>
            <a:off x="8886825" y="5667375"/>
            <a:ext cx="330517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 결과물을 특정 목적지로 자동 배포</a:t>
            </a:r>
            <a:endParaRPr lang="en-US" sz="1500" dirty="0"/>
          </a:p>
        </p:txBody>
      </p:sp>
      <p:sp>
        <p:nvSpPr>
          <p:cNvPr id="25" name="Text 14"/>
          <p:cNvSpPr/>
          <p:nvPr/>
        </p:nvSpPr>
        <p:spPr>
          <a:xfrm>
            <a:off x="10325100" y="228600"/>
            <a:ext cx="523875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CH07</a:t>
            </a:r>
            <a:endParaRPr lang="en-US" sz="1275" dirty="0"/>
          </a:p>
        </p:txBody>
      </p:sp>
      <p:sp>
        <p:nvSpPr>
          <p:cNvPr id="26" name="Text 15"/>
          <p:cNvSpPr/>
          <p:nvPr/>
        </p:nvSpPr>
        <p:spPr>
          <a:xfrm>
            <a:off x="10896600" y="190500"/>
            <a:ext cx="1068586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B5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B5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B52E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592" y="6659017"/>
            <a:ext cx="304800" cy="18514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0282" y="5746998"/>
            <a:ext cx="438894" cy="39082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0282" y="5143500"/>
            <a:ext cx="438894" cy="35659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70282" y="3957042"/>
            <a:ext cx="402282" cy="39766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70282" y="3278088"/>
            <a:ext cx="390079" cy="44574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5875" y="2173932"/>
            <a:ext cx="463153" cy="41820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5875" y="1453753"/>
            <a:ext cx="463153" cy="46627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879" y="2407146"/>
            <a:ext cx="4962079" cy="349061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557" y="89148"/>
            <a:ext cx="341263" cy="383977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8936" y="123825"/>
            <a:ext cx="12132915" cy="7542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7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self-managed GitLab에서 Pages가 더 까다로운 이유 /</a:t>
            </a:r>
            <a:pPr indent="0" marL="0">
              <a:lnSpc>
                <a:spcPts val="297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97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GitLab Pages is more complex in a self-managed environment</a:t>
            </a:r>
            <a:endParaRPr lang="en-US" sz="2250" dirty="0"/>
          </a:p>
        </p:txBody>
      </p:sp>
      <p:sp>
        <p:nvSpPr>
          <p:cNvPr id="15" name="Text 1"/>
          <p:cNvSpPr/>
          <p:nvPr/>
        </p:nvSpPr>
        <p:spPr>
          <a:xfrm>
            <a:off x="931069" y="1724025"/>
            <a:ext cx="4662488" cy="5363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Self-Managed GitLab Pages Architecture</a:t>
            </a:r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Potential Points of Failure</a:t>
            </a:r>
            <a:endParaRPr lang="en-US" sz="1650" dirty="0"/>
          </a:p>
        </p:txBody>
      </p:sp>
      <p:sp>
        <p:nvSpPr>
          <p:cNvPr id="16" name="Text 2"/>
          <p:cNvSpPr/>
          <p:nvPr/>
        </p:nvSpPr>
        <p:spPr>
          <a:xfrm>
            <a:off x="6686550" y="1352550"/>
            <a:ext cx="4389983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설정 미흡으로 인한 접속 실패</a:t>
            </a:r>
            <a:pPr indent="0" marL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Pages 전용 서브도메인 미설정 시 404 오류 발생</a:t>
            </a:r>
            <a:endParaRPr lang="en-US" sz="1575" dirty="0"/>
          </a:p>
        </p:txBody>
      </p:sp>
      <p:sp>
        <p:nvSpPr>
          <p:cNvPr id="17" name="Text 3"/>
          <p:cNvSpPr/>
          <p:nvPr/>
        </p:nvSpPr>
        <p:spPr>
          <a:xfrm>
            <a:off x="6686550" y="2114550"/>
            <a:ext cx="4285208" cy="4631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24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TLS 인증서 부재 또는 내부 CA 미신뢰</a:t>
            </a:r>
            <a:pPr indent="0" marL="0">
              <a:lnSpc>
                <a:spcPts val="1824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24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서명 인증서 미적용 시 브라우저 보안 경고 발생</a:t>
            </a:r>
            <a:endParaRPr lang="en-US" sz="1425" dirty="0"/>
          </a:p>
        </p:txBody>
      </p:sp>
      <p:sp>
        <p:nvSpPr>
          <p:cNvPr id="18" name="Text 4"/>
          <p:cNvSpPr/>
          <p:nvPr/>
        </p:nvSpPr>
        <p:spPr>
          <a:xfrm>
            <a:off x="6686550" y="3257550"/>
            <a:ext cx="3038475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Reverse Proxy 설정 문제</a:t>
            </a:r>
            <a:pPr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Nginx 등 프록시에서 Pages 포트 미전달 시 연결 불가</a:t>
            </a:r>
            <a:endParaRPr lang="en-US" sz="900" dirty="0"/>
          </a:p>
        </p:txBody>
      </p:sp>
      <p:sp>
        <p:nvSpPr>
          <p:cNvPr id="19" name="Text 5"/>
          <p:cNvSpPr/>
          <p:nvPr/>
        </p:nvSpPr>
        <p:spPr>
          <a:xfrm>
            <a:off x="6686550" y="3962400"/>
            <a:ext cx="4054673" cy="4146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gitlab-pages 데몬 비활성화 상태</a:t>
            </a:r>
            <a:pPr indent="0" marL="0">
              <a:lnSpc>
                <a:spcPts val="163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3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설정에서 Pages 데몬 실행 시 기능 전체 불동작</a:t>
            </a:r>
            <a:endParaRPr lang="en-US" sz="1275" dirty="0"/>
          </a:p>
        </p:txBody>
      </p:sp>
      <p:sp>
        <p:nvSpPr>
          <p:cNvPr id="20" name="Text 6"/>
          <p:cNvSpPr/>
          <p:nvPr/>
        </p:nvSpPr>
        <p:spPr>
          <a:xfrm>
            <a:off x="6686550" y="5048250"/>
            <a:ext cx="4348163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Artifact 경로 오류로 인한 게시 실패</a:t>
            </a:r>
            <a:pPr indent="0" marL="0">
              <a:lnSpc>
                <a:spcPts val="192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2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'public/' 폴더명 불일치 시 Pages 콘텐츠 미게시</a:t>
            </a:r>
            <a:endParaRPr lang="en-US" sz="1500" dirty="0"/>
          </a:p>
        </p:txBody>
      </p:sp>
      <p:sp>
        <p:nvSpPr>
          <p:cNvPr id="21" name="Text 7"/>
          <p:cNvSpPr/>
          <p:nvPr/>
        </p:nvSpPr>
        <p:spPr>
          <a:xfrm>
            <a:off x="6686550" y="5772150"/>
            <a:ext cx="5385346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접근 정책으로 인한 외부 차단</a:t>
            </a:r>
            <a:pPr indent="0" marL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6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방화벽 규칙으로 Pages 포트(8090) 차단 시 외부 접근 불가</a:t>
            </a:r>
            <a:endParaRPr lang="en-US" sz="1575" dirty="0"/>
          </a:p>
        </p:txBody>
      </p:sp>
      <p:sp>
        <p:nvSpPr>
          <p:cNvPr id="22" name="Text 8"/>
          <p:cNvSpPr/>
          <p:nvPr/>
        </p:nvSpPr>
        <p:spPr>
          <a:xfrm>
            <a:off x="9496425" y="142875"/>
            <a:ext cx="15506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협력영을 입력해 주세요</a:t>
            </a:r>
            <a:endParaRPr lang="en-US" sz="1125" dirty="0"/>
          </a:p>
        </p:txBody>
      </p:sp>
      <p:sp>
        <p:nvSpPr>
          <p:cNvPr id="23" name="Text 9"/>
          <p:cNvSpPr/>
          <p:nvPr/>
        </p:nvSpPr>
        <p:spPr>
          <a:xfrm>
            <a:off x="10953750" y="142875"/>
            <a:ext cx="95339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8486" y="4875907"/>
            <a:ext cx="414486" cy="35659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8259" y="4875907"/>
            <a:ext cx="341263" cy="35659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7490" y="5088582"/>
            <a:ext cx="524173" cy="52119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1875" y="3620988"/>
            <a:ext cx="316855" cy="34974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5184" y="3627834"/>
            <a:ext cx="353467" cy="32221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1898" y="3861048"/>
            <a:ext cx="463153" cy="45258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2973" y="2393305"/>
            <a:ext cx="414486" cy="30852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95098" y="2386459"/>
            <a:ext cx="329059" cy="31536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7490" y="2599134"/>
            <a:ext cx="499765" cy="47312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6769" y="5136505"/>
            <a:ext cx="572988" cy="486817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74690" y="3614142"/>
            <a:ext cx="816769" cy="363438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5584" y="3833515"/>
            <a:ext cx="524173" cy="500509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1177" y="2571750"/>
            <a:ext cx="548580" cy="541734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0557" y="89148"/>
            <a:ext cx="390079" cy="425053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714375" y="142875"/>
            <a:ext cx="971550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webhook과 RSS/Atom은 언제 쓰는가</a:t>
            </a:r>
            <a:endParaRPr lang="en-US" sz="2550" dirty="0"/>
          </a:p>
        </p:txBody>
      </p:sp>
      <p:sp>
        <p:nvSpPr>
          <p:cNvPr id="21" name="Text 1"/>
          <p:cNvSpPr/>
          <p:nvPr/>
        </p:nvSpPr>
        <p:spPr>
          <a:xfrm>
            <a:off x="352425" y="781050"/>
            <a:ext cx="7680960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0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기반 자동화와 정보 구독의 선택 전략</a:t>
            </a:r>
            <a:endParaRPr lang="en-US" sz="2100" dirty="0"/>
          </a:p>
        </p:txBody>
      </p:sp>
      <p:sp>
        <p:nvSpPr>
          <p:cNvPr id="22" name="Text 2"/>
          <p:cNvSpPr/>
          <p:nvPr/>
        </p:nvSpPr>
        <p:spPr>
          <a:xfrm>
            <a:off x="1571625" y="2419350"/>
            <a:ext cx="297180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기반 자동화</a:t>
            </a:r>
            <a:endParaRPr lang="en-US" sz="1950" dirty="0"/>
          </a:p>
        </p:txBody>
      </p:sp>
      <p:sp>
        <p:nvSpPr>
          <p:cNvPr id="23" name="Text 3"/>
          <p:cNvSpPr/>
          <p:nvPr/>
        </p:nvSpPr>
        <p:spPr>
          <a:xfrm>
            <a:off x="1571625" y="3638550"/>
            <a:ext cx="316992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M2M 연동</a:t>
            </a:r>
            <a:endParaRPr lang="en-US" sz="1950" dirty="0"/>
          </a:p>
        </p:txBody>
      </p:sp>
      <p:sp>
        <p:nvSpPr>
          <p:cNvPr id="24" name="Text 4"/>
          <p:cNvSpPr/>
          <p:nvPr/>
        </p:nvSpPr>
        <p:spPr>
          <a:xfrm>
            <a:off x="1571625" y="4895850"/>
            <a:ext cx="505206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Self-Managed 고려사항</a:t>
            </a:r>
            <a:endParaRPr lang="en-US" sz="1950" dirty="0"/>
          </a:p>
        </p:txBody>
      </p:sp>
      <p:sp>
        <p:nvSpPr>
          <p:cNvPr id="25" name="Text 5"/>
          <p:cNvSpPr/>
          <p:nvPr/>
        </p:nvSpPr>
        <p:spPr>
          <a:xfrm>
            <a:off x="7543800" y="2419350"/>
            <a:ext cx="297180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사람의 비동기 확인</a:t>
            </a:r>
            <a:endParaRPr lang="en-US" sz="1950" dirty="0"/>
          </a:p>
        </p:txBody>
      </p:sp>
      <p:sp>
        <p:nvSpPr>
          <p:cNvPr id="26" name="Text 6"/>
          <p:cNvSpPr/>
          <p:nvPr/>
        </p:nvSpPr>
        <p:spPr>
          <a:xfrm>
            <a:off x="7543800" y="3638550"/>
            <a:ext cx="208026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모니터링</a:t>
            </a:r>
            <a:endParaRPr lang="en-US" sz="1950" dirty="0"/>
          </a:p>
        </p:txBody>
      </p:sp>
      <p:sp>
        <p:nvSpPr>
          <p:cNvPr id="27" name="Text 7"/>
          <p:cNvSpPr/>
          <p:nvPr/>
        </p:nvSpPr>
        <p:spPr>
          <a:xfrm>
            <a:off x="7543800" y="4895850"/>
            <a:ext cx="237744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선택 기준</a:t>
            </a:r>
            <a:endParaRPr lang="en-US" sz="1950" dirty="0"/>
          </a:p>
        </p:txBody>
      </p:sp>
      <p:sp>
        <p:nvSpPr>
          <p:cNvPr id="28" name="Text 8"/>
          <p:cNvSpPr/>
          <p:nvPr/>
        </p:nvSpPr>
        <p:spPr>
          <a:xfrm>
            <a:off x="1852017" y="1714500"/>
            <a:ext cx="2420243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Webhook (자동화 채널)</a:t>
            </a:r>
            <a:endParaRPr lang="en-US" sz="1725" dirty="0"/>
          </a:p>
        </p:txBody>
      </p:sp>
      <p:sp>
        <p:nvSpPr>
          <p:cNvPr id="29" name="Text 9"/>
          <p:cNvSpPr/>
          <p:nvPr/>
        </p:nvSpPr>
        <p:spPr>
          <a:xfrm>
            <a:off x="7587109" y="1714500"/>
            <a:ext cx="2818358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RSS / Atom (정보 구독 피드)</a:t>
            </a:r>
            <a:endParaRPr lang="en-US" sz="1650" dirty="0"/>
          </a:p>
        </p:txBody>
      </p:sp>
      <p:sp>
        <p:nvSpPr>
          <p:cNvPr id="30" name="Text 10"/>
          <p:cNvSpPr/>
          <p:nvPr/>
        </p:nvSpPr>
        <p:spPr>
          <a:xfrm>
            <a:off x="1571625" y="2781300"/>
            <a:ext cx="3478411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이벤트 발생 시 지정 URL로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POST 즉시 전송</a:t>
            </a:r>
            <a:endParaRPr lang="en-US" sz="1650" dirty="0"/>
          </a:p>
        </p:txBody>
      </p:sp>
      <p:sp>
        <p:nvSpPr>
          <p:cNvPr id="31" name="Text 11"/>
          <p:cNvSpPr/>
          <p:nvPr/>
        </p:nvSpPr>
        <p:spPr>
          <a:xfrm>
            <a:off x="1571625" y="4067175"/>
            <a:ext cx="4170015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 실패 시 Slack 알림,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MR 생성 시 이슈 시스템 자동 업데이트</a:t>
            </a:r>
            <a:endParaRPr lang="en-US" sz="1650" dirty="0"/>
          </a:p>
        </p:txBody>
      </p:sp>
      <p:sp>
        <p:nvSpPr>
          <p:cNvPr id="32" name="Text 12"/>
          <p:cNvSpPr/>
          <p:nvPr/>
        </p:nvSpPr>
        <p:spPr>
          <a:xfrm>
            <a:off x="1571625" y="5276850"/>
            <a:ext cx="4306193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Outbound 방화벽 정책으로 Webhook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전송 허용 여부 반드시 확인</a:t>
            </a:r>
            <a:endParaRPr lang="en-US" sz="1650" dirty="0"/>
          </a:p>
        </p:txBody>
      </p:sp>
      <p:sp>
        <p:nvSpPr>
          <p:cNvPr id="33" name="Text 13"/>
          <p:cNvSpPr/>
          <p:nvPr/>
        </p:nvSpPr>
        <p:spPr>
          <a:xfrm>
            <a:off x="7543800" y="2781300"/>
            <a:ext cx="3363218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RSS 리더기로 주기적 방문하여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사항 비동기 확인</a:t>
            </a:r>
            <a:endParaRPr lang="en-US" sz="1650" dirty="0"/>
          </a:p>
        </p:txBody>
      </p:sp>
      <p:sp>
        <p:nvSpPr>
          <p:cNvPr id="34" name="Text 14"/>
          <p:cNvSpPr/>
          <p:nvPr/>
        </p:nvSpPr>
        <p:spPr>
          <a:xfrm>
            <a:off x="7543800" y="4067175"/>
            <a:ext cx="3771900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프로젝트 목록, 릴리스 노트를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리더가 주기적으로 확인</a:t>
            </a:r>
            <a:endParaRPr lang="en-US" sz="1650" dirty="0"/>
          </a:p>
        </p:txBody>
      </p:sp>
      <p:sp>
        <p:nvSpPr>
          <p:cNvPr id="35" name="Text 15"/>
          <p:cNvSpPr/>
          <p:nvPr/>
        </p:nvSpPr>
        <p:spPr>
          <a:xfrm>
            <a:off x="7543800" y="5276850"/>
            <a:ext cx="3656558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 간 즉각 연동은 Webhook,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사람의 비동기 확인은 RSS/Atom</a:t>
            </a:r>
            <a:endParaRPr lang="en-US" sz="1650" dirty="0"/>
          </a:p>
        </p:txBody>
      </p:sp>
      <p:sp>
        <p:nvSpPr>
          <p:cNvPr id="36" name="Text 16"/>
          <p:cNvSpPr/>
          <p:nvPr/>
        </p:nvSpPr>
        <p:spPr>
          <a:xfrm>
            <a:off x="7905750" y="190500"/>
            <a:ext cx="3237458" cy="2580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CH07. CI/CD 품질 게이트 및 자가 운영</a:t>
            </a:r>
            <a:endParaRPr lang="en-US" sz="1575" dirty="0"/>
          </a:p>
        </p:txBody>
      </p:sp>
      <p:sp>
        <p:nvSpPr>
          <p:cNvPr id="37" name="Text 17"/>
          <p:cNvSpPr/>
          <p:nvPr/>
        </p:nvSpPr>
        <p:spPr>
          <a:xfrm>
            <a:off x="10953750" y="190500"/>
            <a:ext cx="984796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9017"/>
            <a:ext cx="292596" cy="18514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17940"/>
            <a:ext cx="255984" cy="23991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5177" y="3463230"/>
            <a:ext cx="865584" cy="92571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6682" y="3449538"/>
            <a:ext cx="950863" cy="93940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6879" y="3476923"/>
            <a:ext cx="1633686" cy="89148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8965" y="3374082"/>
            <a:ext cx="1109365" cy="111784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79" y="82153"/>
            <a:ext cx="316855" cy="459432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371475" y="142875"/>
            <a:ext cx="11201400" cy="3634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61"/>
              </a:lnSpc>
              <a:buNone/>
            </a:pPr>
            <a:r>
              <a:rPr lang="en-US" sz="26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OpenProject와 GitLab 연동 운영 예제</a:t>
            </a:r>
            <a:endParaRPr lang="en-US" sz="2625" dirty="0"/>
          </a:p>
        </p:txBody>
      </p:sp>
      <p:sp>
        <p:nvSpPr>
          <p:cNvPr id="12" name="Text 1"/>
          <p:cNvSpPr/>
          <p:nvPr/>
        </p:nvSpPr>
        <p:spPr>
          <a:xfrm>
            <a:off x="371475" y="742950"/>
            <a:ext cx="9429750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4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OpenProject와 GitLab 연동의 이점과 구성 방법</a:t>
            </a:r>
            <a:endParaRPr lang="en-US" sz="1875" dirty="0"/>
          </a:p>
        </p:txBody>
      </p:sp>
      <p:sp>
        <p:nvSpPr>
          <p:cNvPr id="13" name="Text 2"/>
          <p:cNvSpPr/>
          <p:nvPr/>
        </p:nvSpPr>
        <p:spPr>
          <a:xfrm>
            <a:off x="5090071" y="2076450"/>
            <a:ext cx="2011561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및 연동 프로세스</a:t>
            </a:r>
            <a:endParaRPr lang="en-US" sz="1725" dirty="0"/>
          </a:p>
        </p:txBody>
      </p:sp>
      <p:sp>
        <p:nvSpPr>
          <p:cNvPr id="14" name="Text 3"/>
          <p:cNvSpPr/>
          <p:nvPr/>
        </p:nvSpPr>
        <p:spPr>
          <a:xfrm>
            <a:off x="1856333" y="2838450"/>
            <a:ext cx="85903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단계</a:t>
            </a:r>
            <a:endParaRPr lang="en-US" sz="1725" dirty="0"/>
          </a:p>
        </p:txBody>
      </p:sp>
      <p:sp>
        <p:nvSpPr>
          <p:cNvPr id="15" name="Text 4"/>
          <p:cNvSpPr/>
          <p:nvPr/>
        </p:nvSpPr>
        <p:spPr>
          <a:xfrm>
            <a:off x="5353050" y="2838450"/>
            <a:ext cx="146685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원리 및 효과</a:t>
            </a:r>
            <a:endParaRPr lang="en-US" sz="1725" dirty="0"/>
          </a:p>
        </p:txBody>
      </p:sp>
      <p:sp>
        <p:nvSpPr>
          <p:cNvPr id="16" name="Text 5"/>
          <p:cNvSpPr/>
          <p:nvPr/>
        </p:nvSpPr>
        <p:spPr>
          <a:xfrm>
            <a:off x="9153525" y="2838450"/>
            <a:ext cx="146685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 시 고려사항</a:t>
            </a:r>
            <a:endParaRPr lang="en-US" sz="1725" dirty="0"/>
          </a:p>
        </p:txBody>
      </p:sp>
      <p:sp>
        <p:nvSpPr>
          <p:cNvPr id="17" name="Text 6"/>
          <p:cNvSpPr/>
          <p:nvPr/>
        </p:nvSpPr>
        <p:spPr>
          <a:xfrm>
            <a:off x="711398" y="4572000"/>
            <a:ext cx="320605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요구사항 추적 구성</a:t>
            </a:r>
            <a:endParaRPr lang="en-US" sz="1500" dirty="0"/>
          </a:p>
        </p:txBody>
      </p:sp>
      <p:sp>
        <p:nvSpPr>
          <p:cNvPr id="18" name="Text 7"/>
          <p:cNvSpPr/>
          <p:nvPr/>
        </p:nvSpPr>
        <p:spPr>
          <a:xfrm>
            <a:off x="5147221" y="4572000"/>
            <a:ext cx="1802011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상태 업데이트</a:t>
            </a:r>
            <a:endParaRPr lang="en-US" sz="1500" dirty="0"/>
          </a:p>
        </p:txBody>
      </p:sp>
      <p:sp>
        <p:nvSpPr>
          <p:cNvPr id="19" name="Text 8"/>
          <p:cNvSpPr/>
          <p:nvPr/>
        </p:nvSpPr>
        <p:spPr>
          <a:xfrm>
            <a:off x="8857655" y="4572000"/>
            <a:ext cx="2105918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Outbound 방화벽 허용</a:t>
            </a:r>
            <a:endParaRPr lang="en-US" sz="1500" dirty="0"/>
          </a:p>
        </p:txBody>
      </p:sp>
      <p:sp>
        <p:nvSpPr>
          <p:cNvPr id="20" name="Text 9"/>
          <p:cNvSpPr/>
          <p:nvPr/>
        </p:nvSpPr>
        <p:spPr>
          <a:xfrm>
            <a:off x="8696325" y="209550"/>
            <a:ext cx="349567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CH07. GitLab 운영과 품질 확보</a:t>
            </a:r>
            <a:endParaRPr lang="en-US" sz="1275" dirty="0"/>
          </a:p>
        </p:txBody>
      </p:sp>
      <p:sp>
        <p:nvSpPr>
          <p:cNvPr id="21" name="Text 10"/>
          <p:cNvSpPr/>
          <p:nvPr/>
        </p:nvSpPr>
        <p:spPr>
          <a:xfrm>
            <a:off x="10953750" y="209550"/>
            <a:ext cx="984796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A832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A832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A832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050" dirty="0"/>
          </a:p>
        </p:txBody>
      </p:sp>
      <p:sp>
        <p:nvSpPr>
          <p:cNvPr id="22" name="Text 11"/>
          <p:cNvSpPr/>
          <p:nvPr/>
        </p:nvSpPr>
        <p:spPr>
          <a:xfrm>
            <a:off x="1699171" y="3095625"/>
            <a:ext cx="117336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(Setup Phase)</a:t>
            </a:r>
            <a:endParaRPr lang="en-US" sz="1200" dirty="0"/>
          </a:p>
        </p:txBody>
      </p:sp>
      <p:sp>
        <p:nvSpPr>
          <p:cNvPr id="23" name="Text 12"/>
          <p:cNvSpPr/>
          <p:nvPr/>
        </p:nvSpPr>
        <p:spPr>
          <a:xfrm>
            <a:off x="5162996" y="3095625"/>
            <a:ext cx="187538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(Mechanism &amp; Effect)</a:t>
            </a:r>
            <a:endParaRPr lang="en-US" sz="1200" dirty="0"/>
          </a:p>
        </p:txBody>
      </p:sp>
      <p:sp>
        <p:nvSpPr>
          <p:cNvPr id="24" name="Text 13"/>
          <p:cNvSpPr/>
          <p:nvPr/>
        </p:nvSpPr>
        <p:spPr>
          <a:xfrm>
            <a:off x="8994428" y="3095625"/>
            <a:ext cx="182299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(Key Considerations)</a:t>
            </a:r>
            <a:endParaRPr lang="en-US" sz="1200" dirty="0"/>
          </a:p>
        </p:txBody>
      </p:sp>
      <p:sp>
        <p:nvSpPr>
          <p:cNvPr id="25" name="Text 14"/>
          <p:cNvSpPr/>
          <p:nvPr/>
        </p:nvSpPr>
        <p:spPr>
          <a:xfrm>
            <a:off x="554831" y="5419725"/>
            <a:ext cx="3509963" cy="58980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Webhook 권장 설정</a:t>
            </a:r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GitLab에서 Push, MR, Pipeline, Comments</a:t>
            </a:r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이벤트를 OpenProject로 전송</a:t>
            </a:r>
            <a:endParaRPr lang="en-US" sz="1200" dirty="0"/>
          </a:p>
        </p:txBody>
      </p:sp>
      <p:sp>
        <p:nvSpPr>
          <p:cNvPr id="26" name="Text 15"/>
          <p:cNvSpPr/>
          <p:nvPr/>
        </p:nvSpPr>
        <p:spPr>
          <a:xfrm>
            <a:off x="4951958" y="5419725"/>
            <a:ext cx="2325886" cy="58980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맥락 가시성 확보</a:t>
            </a:r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GitLab 접속 없이도</a:t>
            </a:r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진행 상황을 명확하게 파악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8114705" y="5610225"/>
            <a:ext cx="3572768" cy="58980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정책 GitLab 위임</a:t>
            </a:r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연동은 가시성 전제; Approval Rule, Protected</a:t>
            </a:r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Branch 등 품질 정책은 GitLab에서 관리</a:t>
            </a:r>
            <a:endParaRPr lang="en-US" sz="1200" dirty="0"/>
          </a:p>
        </p:txBody>
      </p:sp>
      <p:sp>
        <p:nvSpPr>
          <p:cNvPr id="28" name="Text 17"/>
          <p:cNvSpPr/>
          <p:nvPr/>
        </p:nvSpPr>
        <p:spPr>
          <a:xfrm>
            <a:off x="5874544" y="6705600"/>
            <a:ext cx="47148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92596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671" y="2674590"/>
            <a:ext cx="694879" cy="685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0792" y="4004965"/>
            <a:ext cx="755898" cy="72687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4659" y="1405830"/>
            <a:ext cx="1048494" cy="77494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6494" y="4032498"/>
            <a:ext cx="1060698" cy="63772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996" y="1460748"/>
            <a:ext cx="816769" cy="72003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9357" y="2777430"/>
            <a:ext cx="828973" cy="521196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28600" y="123825"/>
            <a:ext cx="8727728" cy="7795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69"/>
              </a:lnSpc>
              <a:buNone/>
            </a:pPr>
            <a:r>
              <a:rPr lang="en-US" sz="23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self-managed 운영에서 추가로 봐야 할 것 /</a:t>
            </a:r>
            <a:pPr indent="0" marL="0">
              <a:lnSpc>
                <a:spcPts val="3069"/>
              </a:lnSpc>
              <a:buNone/>
            </a:pPr>
            <a:r>
              <a:rPr lang="en-US" sz="23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069"/>
              </a:lnSpc>
              <a:buNone/>
            </a:pPr>
            <a:r>
              <a:rPr lang="en-US" sz="23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Additional considerations in self-managed operations</a:t>
            </a:r>
            <a:endParaRPr lang="en-US" sz="2325" dirty="0"/>
          </a:p>
        </p:txBody>
      </p:sp>
      <p:sp>
        <p:nvSpPr>
          <p:cNvPr id="13" name="Text 1"/>
          <p:cNvSpPr/>
          <p:nvPr/>
        </p:nvSpPr>
        <p:spPr>
          <a:xfrm>
            <a:off x="3808065" y="2247900"/>
            <a:ext cx="1718221" cy="50809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레지스터리 및</a:t>
            </a:r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Proxy 설정</a:t>
            </a:r>
            <a:endParaRPr lang="en-US" sz="1575" dirty="0"/>
          </a:p>
        </p:txBody>
      </p:sp>
      <p:sp>
        <p:nvSpPr>
          <p:cNvPr id="14" name="Text 2"/>
          <p:cNvSpPr/>
          <p:nvPr/>
        </p:nvSpPr>
        <p:spPr>
          <a:xfrm>
            <a:off x="6593086" y="2247900"/>
            <a:ext cx="2053530" cy="50809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Runner 태그·Scope</a:t>
            </a:r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불일치 점검</a:t>
            </a:r>
            <a:endParaRPr lang="en-US" sz="1575" dirty="0"/>
          </a:p>
        </p:txBody>
      </p:sp>
      <p:sp>
        <p:nvSpPr>
          <p:cNvPr id="15" name="Text 3"/>
          <p:cNvSpPr/>
          <p:nvPr/>
        </p:nvSpPr>
        <p:spPr>
          <a:xfrm>
            <a:off x="3400425" y="4781550"/>
            <a:ext cx="2514600" cy="50809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인스턴스·Runner</a:t>
            </a:r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호환성</a:t>
            </a:r>
            <a:endParaRPr lang="en-US" sz="1575" dirty="0"/>
          </a:p>
        </p:txBody>
      </p:sp>
      <p:sp>
        <p:nvSpPr>
          <p:cNvPr id="16" name="Text 4"/>
          <p:cNvSpPr/>
          <p:nvPr/>
        </p:nvSpPr>
        <p:spPr>
          <a:xfrm>
            <a:off x="6530727" y="4781550"/>
            <a:ext cx="2168723" cy="50809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Secret Variable 주입</a:t>
            </a:r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Scope 확인</a:t>
            </a:r>
            <a:endParaRPr lang="en-US" sz="1575" dirty="0"/>
          </a:p>
        </p:txBody>
      </p:sp>
      <p:sp>
        <p:nvSpPr>
          <p:cNvPr id="17" name="Text 5"/>
          <p:cNvSpPr/>
          <p:nvPr/>
        </p:nvSpPr>
        <p:spPr>
          <a:xfrm>
            <a:off x="8721030" y="3429000"/>
            <a:ext cx="2179290" cy="50809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Webhook Outbound</a:t>
            </a:r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00"/>
              </a:lnSpc>
              <a:buNone/>
            </a:pPr>
            <a:r>
              <a:rPr lang="en-US" sz="15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 허용</a:t>
            </a:r>
            <a:endParaRPr lang="en-US" sz="1575" dirty="0"/>
          </a:p>
        </p:txBody>
      </p:sp>
      <p:sp>
        <p:nvSpPr>
          <p:cNvPr id="18" name="Text 6"/>
          <p:cNvSpPr/>
          <p:nvPr/>
        </p:nvSpPr>
        <p:spPr>
          <a:xfrm>
            <a:off x="8515350" y="266700"/>
            <a:ext cx="3676650" cy="1300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24"/>
              </a:lnSpc>
              <a:buNone/>
            </a:pPr>
            <a:r>
              <a:rPr lang="en-US" sz="9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CH07. Self-Managed 운영 및 품질 게이트</a:t>
            </a:r>
            <a:endParaRPr lang="en-US" sz="975" dirty="0"/>
          </a:p>
        </p:txBody>
      </p:sp>
      <p:sp>
        <p:nvSpPr>
          <p:cNvPr id="19" name="Text 7"/>
          <p:cNvSpPr/>
          <p:nvPr/>
        </p:nvSpPr>
        <p:spPr>
          <a:xfrm>
            <a:off x="10953750" y="190500"/>
            <a:ext cx="984796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080"/>
              </a:lnSpc>
              <a:buNone/>
            </a:pPr>
            <a:r>
              <a:rPr lang="en-US" sz="1125" b="1" dirty="0">
                <a:solidFill>
                  <a:srgbClr val="B54B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080"/>
              </a:lnSpc>
              <a:buNone/>
            </a:pPr>
            <a:r>
              <a:rPr lang="en-US" sz="1125" b="1" dirty="0">
                <a:solidFill>
                  <a:srgbClr val="B54B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080"/>
              </a:lnSpc>
              <a:buNone/>
            </a:pPr>
            <a:r>
              <a:rPr lang="en-US" sz="1125" b="1" dirty="0">
                <a:solidFill>
                  <a:srgbClr val="B54B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20" name="Text 8"/>
          <p:cNvSpPr/>
          <p:nvPr/>
        </p:nvSpPr>
        <p:spPr>
          <a:xfrm>
            <a:off x="1612999" y="3429000"/>
            <a:ext cx="1603028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인터넷 요청</a:t>
            </a:r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 여부 확인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3533775" y="5362575"/>
            <a:ext cx="2305050" cy="6411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8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Self-managed는 버전</a:t>
            </a:r>
            <a:pPr algn="ctr" indent="0" marL="0">
              <a:lnSpc>
                <a:spcPts val="168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8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업그레이드를 직접 관리하므로</a:t>
            </a:r>
            <a:pPr algn="ctr" indent="0" marL="0">
              <a:lnSpc>
                <a:spcPts val="168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8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호환성 충돌 주의</a:t>
            </a:r>
            <a:endParaRPr lang="en-US" sz="1275" dirty="0"/>
          </a:p>
        </p:txBody>
      </p:sp>
      <p:sp>
        <p:nvSpPr>
          <p:cNvPr id="22" name="Text 10"/>
          <p:cNvSpPr/>
          <p:nvPr/>
        </p:nvSpPr>
        <p:spPr>
          <a:xfrm>
            <a:off x="6783139" y="5362575"/>
            <a:ext cx="1854398" cy="5656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Protected Branch·환경별</a:t>
            </a:r>
            <a:pPr algn="ctr" indent="0" marL="0">
              <a:lnSpc>
                <a:spcPts val="1485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85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Variable Scope 설정</a:t>
            </a:r>
            <a:pPr algn="ctr" indent="0" marL="0">
              <a:lnSpc>
                <a:spcPts val="1485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85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누락 시 Job 실패 발생</a:t>
            </a:r>
            <a:endParaRPr lang="en-US" sz="1125" dirty="0"/>
          </a:p>
        </p:txBody>
      </p:sp>
      <p:sp>
        <p:nvSpPr>
          <p:cNvPr id="23" name="Text 11"/>
          <p:cNvSpPr/>
          <p:nvPr/>
        </p:nvSpPr>
        <p:spPr>
          <a:xfrm>
            <a:off x="1486793" y="3990975"/>
            <a:ext cx="1864965" cy="8298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4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패키지 다운로드 등</a:t>
            </a:r>
            <a:pPr algn="ctr" indent="0" marL="0">
              <a:lnSpc>
                <a:spcPts val="1634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34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Outbound 요청이</a:t>
            </a:r>
            <a:pPr algn="ctr" indent="0" marL="0">
              <a:lnSpc>
                <a:spcPts val="1634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34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방화벽에서 허용되는지</a:t>
            </a:r>
            <a:pPr algn="ctr" indent="0" marL="0">
              <a:lnSpc>
                <a:spcPts val="1634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34"/>
              </a:lnSpc>
              <a:buNone/>
            </a:pPr>
            <a:r>
              <a:rPr lang="en-US" sz="13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허용되는지 점검</a:t>
            </a:r>
            <a:endParaRPr lang="en-US" sz="1350" dirty="0"/>
          </a:p>
        </p:txBody>
      </p:sp>
      <p:sp>
        <p:nvSpPr>
          <p:cNvPr id="24" name="Text 12"/>
          <p:cNvSpPr/>
          <p:nvPr/>
        </p:nvSpPr>
        <p:spPr>
          <a:xfrm>
            <a:off x="3474244" y="2847975"/>
            <a:ext cx="2357438" cy="5875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Proxy·내부 CA 인증서가</a:t>
            </a:r>
            <a:pPr algn="ctr"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Runner 환경에 올바르게</a:t>
            </a:r>
            <a:pPr algn="ctr"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작용되는지 확인</a:t>
            </a:r>
            <a:endParaRPr lang="en-US" sz="1275" dirty="0"/>
          </a:p>
        </p:txBody>
      </p:sp>
      <p:sp>
        <p:nvSpPr>
          <p:cNvPr id="25" name="Text 13"/>
          <p:cNvSpPr/>
          <p:nvPr/>
        </p:nvSpPr>
        <p:spPr>
          <a:xfrm>
            <a:off x="6794599" y="2847975"/>
            <a:ext cx="1603028" cy="5875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Job 태그와 일치하는</a:t>
            </a:r>
            <a:pPr algn="ctr"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Runner가 없으면</a:t>
            </a:r>
            <a:pPr algn="ctr"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43"/>
              </a:lnSpc>
              <a:buNone/>
            </a:pPr>
            <a:r>
              <a:rPr lang="en-US" sz="12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Pending 상태로 멈춤</a:t>
            </a:r>
            <a:endParaRPr lang="en-US" sz="1275" dirty="0"/>
          </a:p>
        </p:txBody>
      </p:sp>
      <p:sp>
        <p:nvSpPr>
          <p:cNvPr id="26" name="Text 14"/>
          <p:cNvSpPr/>
          <p:nvPr/>
        </p:nvSpPr>
        <p:spPr>
          <a:xfrm>
            <a:off x="8858696" y="3990975"/>
            <a:ext cx="1875383" cy="737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2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연동 알림을 위한</a:t>
            </a:r>
            <a:pPr algn="ctr" indent="0" marL="0">
              <a:lnSpc>
                <a:spcPts val="1452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2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Outbound HTTP 요청이</a:t>
            </a:r>
            <a:pPr algn="ctr" indent="0" marL="0">
              <a:lnSpc>
                <a:spcPts val="1452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2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내부망 정책에서</a:t>
            </a:r>
            <a:pPr algn="ctr" indent="0" marL="0">
              <a:lnSpc>
                <a:spcPts val="1452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2"/>
              </a:lnSpc>
              <a:buNone/>
            </a:pPr>
            <a:r>
              <a:rPr lang="en-US" sz="12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차단될 수 있음</a:t>
            </a: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5870674" y="6705600"/>
            <a:ext cx="555278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592" y="6659017"/>
            <a:ext cx="292596" cy="18514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8196" y="3257550"/>
            <a:ext cx="1145977" cy="11589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8180" y="4937671"/>
            <a:ext cx="4937671" cy="147444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859" y="3257550"/>
            <a:ext cx="1158180" cy="1172617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85750" y="742950"/>
            <a:ext cx="11906250" cy="3594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31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CI/CD에서 MLOps로 확장하면 pipeline은 어떻게 달라지는가</a:t>
            </a:r>
            <a:endParaRPr lang="en-US" sz="2550" dirty="0"/>
          </a:p>
        </p:txBody>
      </p:sp>
      <p:sp>
        <p:nvSpPr>
          <p:cNvPr id="10" name="Text 1"/>
          <p:cNvSpPr/>
          <p:nvPr/>
        </p:nvSpPr>
        <p:spPr>
          <a:xfrm>
            <a:off x="285750" y="171450"/>
            <a:ext cx="6732270" cy="3189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1"/>
              </a:lnSpc>
              <a:buNone/>
            </a:pPr>
            <a:r>
              <a:rPr lang="en-US" sz="23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제목 / Page title</a:t>
            </a:r>
            <a:endParaRPr lang="en-US" sz="2325" dirty="0"/>
          </a:p>
        </p:txBody>
      </p:sp>
      <p:sp>
        <p:nvSpPr>
          <p:cNvPr id="11" name="Text 2"/>
          <p:cNvSpPr/>
          <p:nvPr/>
        </p:nvSpPr>
        <p:spPr>
          <a:xfrm>
            <a:off x="371475" y="1209675"/>
            <a:ext cx="11820525" cy="2733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53"/>
              </a:lnSpc>
              <a:buNone/>
            </a:pPr>
            <a:r>
              <a:rPr lang="en-US" sz="21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강의 / CI/CD Lecture: MLOps Expansion</a:t>
            </a:r>
            <a:endParaRPr lang="en-US" sz="2175" dirty="0"/>
          </a:p>
        </p:txBody>
      </p:sp>
      <p:sp>
        <p:nvSpPr>
          <p:cNvPr id="12" name="Text 3"/>
          <p:cNvSpPr/>
          <p:nvPr/>
        </p:nvSpPr>
        <p:spPr>
          <a:xfrm>
            <a:off x="1535311" y="2076450"/>
            <a:ext cx="393948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 파이프라인 구조적 변화 및 확장</a:t>
            </a:r>
            <a:endParaRPr lang="en-US" sz="1725" dirty="0"/>
          </a:p>
        </p:txBody>
      </p:sp>
      <p:sp>
        <p:nvSpPr>
          <p:cNvPr id="13" name="Text 4"/>
          <p:cNvSpPr/>
          <p:nvPr/>
        </p:nvSpPr>
        <p:spPr>
          <a:xfrm>
            <a:off x="7877175" y="2076450"/>
            <a:ext cx="272415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및 데이 및 운영 포인트</a:t>
            </a:r>
            <a:endParaRPr lang="en-US" sz="1725" dirty="0"/>
          </a:p>
        </p:txBody>
      </p:sp>
      <p:sp>
        <p:nvSpPr>
          <p:cNvPr id="14" name="Text 5"/>
          <p:cNvSpPr/>
          <p:nvPr/>
        </p:nvSpPr>
        <p:spPr>
          <a:xfrm>
            <a:off x="2028825" y="2724150"/>
            <a:ext cx="38862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새로운 파이프라인 단계 추가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2028825" y="3505200"/>
            <a:ext cx="3429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검증 대상의 포괄적 확장</a:t>
            </a:r>
            <a:endParaRPr lang="en-US" sz="1500" dirty="0"/>
          </a:p>
        </p:txBody>
      </p:sp>
      <p:sp>
        <p:nvSpPr>
          <p:cNvPr id="16" name="Text 7"/>
          <p:cNvSpPr/>
          <p:nvPr/>
        </p:nvSpPr>
        <p:spPr>
          <a:xfrm>
            <a:off x="2028825" y="4162425"/>
            <a:ext cx="3429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지표 중심의 품질 게이트</a:t>
            </a:r>
            <a:endParaRPr lang="en-US" sz="1500" dirty="0"/>
          </a:p>
        </p:txBody>
      </p:sp>
      <p:sp>
        <p:nvSpPr>
          <p:cNvPr id="17" name="Text 8"/>
          <p:cNvSpPr/>
          <p:nvPr/>
        </p:nvSpPr>
        <p:spPr>
          <a:xfrm>
            <a:off x="6580733" y="5067300"/>
            <a:ext cx="3792736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세심 : 코드 검증 → 코드+데이터+모델 검증</a:t>
            </a:r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증명 → 성능 증명</a:t>
            </a:r>
            <a:endParaRPr lang="en-US" sz="1500" dirty="0"/>
          </a:p>
        </p:txBody>
      </p:sp>
      <p:sp>
        <p:nvSpPr>
          <p:cNvPr id="18" name="Text 9"/>
          <p:cNvSpPr/>
          <p:nvPr/>
        </p:nvSpPr>
        <p:spPr>
          <a:xfrm>
            <a:off x="8410575" y="2724150"/>
            <a:ext cx="378142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모델 아티팩트 관리의 특수성</a:t>
            </a:r>
            <a:endParaRPr lang="en-US" sz="1500" dirty="0"/>
          </a:p>
        </p:txBody>
      </p:sp>
      <p:sp>
        <p:nvSpPr>
          <p:cNvPr id="19" name="Text 10"/>
          <p:cNvSpPr/>
          <p:nvPr/>
        </p:nvSpPr>
        <p:spPr>
          <a:xfrm>
            <a:off x="8410575" y="3438525"/>
            <a:ext cx="3781425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Model Registry를 통한 통합 추적</a:t>
            </a:r>
            <a:endParaRPr lang="en-US" sz="1425" dirty="0"/>
          </a:p>
        </p:txBody>
      </p:sp>
      <p:sp>
        <p:nvSpPr>
          <p:cNvPr id="20" name="Text 11"/>
          <p:cNvSpPr/>
          <p:nvPr/>
        </p:nvSpPr>
        <p:spPr>
          <a:xfrm>
            <a:off x="8410575" y="4086225"/>
            <a:ext cx="3429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모델 롤백 전략의 복잡성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6528792" y="5648325"/>
            <a:ext cx="4934843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요약: CI/CD가 코드 무결성을 본다면, MLOps는 ‘코드 +</a:t>
            </a:r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+ 모델’의 통합 성능 및 운영 품질을 증명합니다.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9477375" y="228600"/>
            <a:ext cx="2608808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90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90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90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2114550" y="3009900"/>
            <a:ext cx="4054673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CI/CD 파이프라인에 ‘학습(train)’, ‘평가(evaluate)’,</a:t>
            </a:r>
            <a:pPr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‘모델 등록(register_model)’ 단계가 추가됨</a:t>
            </a:r>
            <a:endParaRPr lang="en-US" sz="1125" dirty="0"/>
          </a:p>
        </p:txBody>
      </p:sp>
      <p:sp>
        <p:nvSpPr>
          <p:cNvPr id="24" name="Text 15"/>
          <p:cNvSpPr/>
          <p:nvPr/>
        </p:nvSpPr>
        <p:spPr>
          <a:xfrm>
            <a:off x="2114550" y="3781425"/>
            <a:ext cx="61722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무결성뿐만 아니라 학습 데이터 및 모델의 성능까지 통합 검증</a:t>
            </a:r>
            <a:endParaRPr lang="en-US" sz="1125" dirty="0"/>
          </a:p>
        </p:txBody>
      </p:sp>
      <p:sp>
        <p:nvSpPr>
          <p:cNvPr id="25" name="Text 16"/>
          <p:cNvSpPr/>
          <p:nvPr/>
        </p:nvSpPr>
        <p:spPr>
          <a:xfrm>
            <a:off x="2114550" y="4419600"/>
            <a:ext cx="73152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Accuracy, F1-score 등 모델 성능 임계값을 배포 조건으로 설정</a:t>
            </a:r>
            <a:endParaRPr lang="en-US" sz="1125" dirty="0"/>
          </a:p>
        </p:txBody>
      </p:sp>
      <p:sp>
        <p:nvSpPr>
          <p:cNvPr id="26" name="Text 17"/>
          <p:cNvSpPr/>
          <p:nvPr/>
        </p:nvSpPr>
        <p:spPr>
          <a:xfrm>
            <a:off x="8496300" y="3009900"/>
            <a:ext cx="3279428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외에 학습된 모델 파일과 다양한 평가 지표가</a:t>
            </a:r>
            <a:pPr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Artifact로 버전 관리됨</a:t>
            </a:r>
            <a:endParaRPr lang="en-US" sz="1125" dirty="0"/>
          </a:p>
        </p:txBody>
      </p:sp>
      <p:sp>
        <p:nvSpPr>
          <p:cNvPr id="27" name="Text 18"/>
          <p:cNvSpPr/>
          <p:nvPr/>
        </p:nvSpPr>
        <p:spPr>
          <a:xfrm>
            <a:off x="8496300" y="3714750"/>
            <a:ext cx="3520380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버전과 함께 사용된 데이터 및 모델 버전을 함께</a:t>
            </a:r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</a:t>
            </a:r>
            <a:endParaRPr lang="en-US" sz="1125" dirty="0"/>
          </a:p>
        </p:txBody>
      </p:sp>
      <p:sp>
        <p:nvSpPr>
          <p:cNvPr id="28" name="Text 19"/>
          <p:cNvSpPr/>
          <p:nvPr/>
        </p:nvSpPr>
        <p:spPr>
          <a:xfrm>
            <a:off x="8496300" y="4352925"/>
            <a:ext cx="3279428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수정뿐만 아니라 데이터 및 모델 버전을 함께</a:t>
            </a:r>
            <a:pPr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95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상태로 되돌려야 함</a:t>
            </a:r>
            <a:endParaRPr lang="en-US" sz="1125" dirty="0"/>
          </a:p>
        </p:txBody>
      </p:sp>
      <p:sp>
        <p:nvSpPr>
          <p:cNvPr id="29" name="Text 20"/>
          <p:cNvSpPr/>
          <p:nvPr/>
        </p:nvSpPr>
        <p:spPr>
          <a:xfrm>
            <a:off x="9505355" y="6677025"/>
            <a:ext cx="105816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1160"/>
              </a:lnSpc>
              <a:buNone/>
            </a:pPr>
            <a:r>
              <a:rPr lang="en-US" sz="9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60"/>
              </a:lnSpc>
              <a:buNone/>
            </a:pPr>
            <a:r>
              <a:rPr lang="en-US" sz="9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</a:t>
            </a:r>
            <a:endParaRPr lang="en-US" sz="975" dirty="0"/>
          </a:p>
        </p:txBody>
      </p:sp>
      <p:sp>
        <p:nvSpPr>
          <p:cNvPr id="30" name="Text 21"/>
          <p:cNvSpPr/>
          <p:nvPr/>
        </p:nvSpPr>
        <p:spPr>
          <a:xfrm>
            <a:off x="10936039" y="6677025"/>
            <a:ext cx="387548" cy="1812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14"/>
              </a:lnSpc>
              <a:buNone/>
            </a:pPr>
            <a:r>
              <a:rPr lang="en-US" sz="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714"/>
              </a:lnSpc>
              <a:buNone/>
            </a:pPr>
            <a:r>
              <a:rPr lang="en-US" sz="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714"/>
              </a:lnSpc>
              <a:buNone/>
            </a:pPr>
            <a:r>
              <a:rPr lang="en-US" sz="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OLED</a:t>
            </a:r>
            <a:endParaRPr lang="en-US" sz="600" dirty="0"/>
          </a:p>
        </p:txBody>
      </p:sp>
      <p:sp>
        <p:nvSpPr>
          <p:cNvPr id="31" name="Text 22"/>
          <p:cNvSpPr/>
          <p:nvPr/>
        </p:nvSpPr>
        <p:spPr>
          <a:xfrm>
            <a:off x="5882580" y="6734175"/>
            <a:ext cx="502890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2753" y="2832348"/>
            <a:ext cx="2828479" cy="260598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356027"/>
            <a:ext cx="475357" cy="46627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759375"/>
            <a:ext cx="475357" cy="46627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149030"/>
            <a:ext cx="475357" cy="46627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545532"/>
            <a:ext cx="475357" cy="47997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2942034"/>
            <a:ext cx="475357" cy="47312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196" y="2331690"/>
            <a:ext cx="487561" cy="47997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6298" y="150763"/>
            <a:ext cx="621655" cy="630882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90550" y="704850"/>
            <a:ext cx="11601450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483"/>
              </a:lnSpc>
              <a:buNone/>
            </a:pPr>
            <a:r>
              <a:rPr lang="en-US" sz="270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deploy readiness checklist와 대표 failure scenario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1504950" y="2314575"/>
            <a:ext cx="5212080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Success 상태 확인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1504950" y="2933700"/>
            <a:ext cx="6858000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Pending 원인: Runner 태그 불일치</a:t>
            </a:r>
            <a:endParaRPr lang="en-US" sz="1800" dirty="0"/>
          </a:p>
        </p:txBody>
      </p:sp>
      <p:sp>
        <p:nvSpPr>
          <p:cNvPr id="17" name="Text 3"/>
          <p:cNvSpPr/>
          <p:nvPr/>
        </p:nvSpPr>
        <p:spPr>
          <a:xfrm>
            <a:off x="1504950" y="3533775"/>
            <a:ext cx="6583680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Secret Variable 누락 여부 점검</a:t>
            </a:r>
            <a:endParaRPr lang="en-US" sz="1800" dirty="0"/>
          </a:p>
        </p:txBody>
      </p:sp>
      <p:sp>
        <p:nvSpPr>
          <p:cNvPr id="18" name="Text 4"/>
          <p:cNvSpPr/>
          <p:nvPr/>
        </p:nvSpPr>
        <p:spPr>
          <a:xfrm>
            <a:off x="1504950" y="4133850"/>
            <a:ext cx="5760720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Pages 미오픈 시나리오</a:t>
            </a:r>
            <a:endParaRPr lang="en-US" sz="1800" dirty="0"/>
          </a:p>
        </p:txBody>
      </p:sp>
      <p:sp>
        <p:nvSpPr>
          <p:cNvPr id="19" name="Text 5"/>
          <p:cNvSpPr/>
          <p:nvPr/>
        </p:nvSpPr>
        <p:spPr>
          <a:xfrm>
            <a:off x="1504950" y="4733925"/>
            <a:ext cx="7132320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Artifacts·Reports 직접 열람 필수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1504950" y="5343525"/>
            <a:ext cx="6035040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Rollback Plan 사전 수립 확인</a:t>
            </a:r>
            <a:endParaRPr lang="en-US" sz="1800" dirty="0"/>
          </a:p>
        </p:txBody>
      </p:sp>
      <p:sp>
        <p:nvSpPr>
          <p:cNvPr id="21" name="Text 7"/>
          <p:cNvSpPr/>
          <p:nvPr/>
        </p:nvSpPr>
        <p:spPr>
          <a:xfrm>
            <a:off x="9144000" y="190500"/>
            <a:ext cx="2975521" cy="6819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26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26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26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500" dirty="0"/>
          </a:p>
        </p:txBody>
      </p:sp>
      <p:sp>
        <p:nvSpPr>
          <p:cNvPr id="22" name="Text 8"/>
          <p:cNvSpPr/>
          <p:nvPr/>
        </p:nvSpPr>
        <p:spPr>
          <a:xfrm>
            <a:off x="8820150" y="266700"/>
            <a:ext cx="2252663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CH07. 배포 및 운영 품질 게이트</a:t>
            </a:r>
            <a:endParaRPr lang="en-US" sz="1125" dirty="0"/>
          </a:p>
        </p:txBody>
      </p:sp>
      <p:sp>
        <p:nvSpPr>
          <p:cNvPr id="23" name="Text 9"/>
          <p:cNvSpPr/>
          <p:nvPr/>
        </p:nvSpPr>
        <p:spPr>
          <a:xfrm>
            <a:off x="5813971" y="6705600"/>
            <a:ext cx="544711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898" y="6638479"/>
            <a:ext cx="292596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184" y="2777430"/>
            <a:ext cx="4011067" cy="187210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85750" y="142875"/>
            <a:ext cx="10165080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06"/>
              </a:lnSpc>
              <a:buNone/>
            </a:pPr>
            <a:r>
              <a:rPr lang="en-US" sz="2175" b="1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CH07 요약 / Chapter 07 Summary</a:t>
            </a:r>
            <a:endParaRPr lang="en-US" sz="2175" dirty="0"/>
          </a:p>
        </p:txBody>
      </p:sp>
      <p:sp>
        <p:nvSpPr>
          <p:cNvPr id="8" name="Text 1"/>
          <p:cNvSpPr/>
          <p:nvPr/>
        </p:nvSpPr>
        <p:spPr>
          <a:xfrm>
            <a:off x="4467225" y="6200775"/>
            <a:ext cx="335280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 / Key Takeaways</a:t>
            </a:r>
            <a:endParaRPr lang="en-US" sz="1725" dirty="0"/>
          </a:p>
        </p:txBody>
      </p:sp>
      <p:sp>
        <p:nvSpPr>
          <p:cNvPr id="9" name="Text 2"/>
          <p:cNvSpPr/>
          <p:nvPr/>
        </p:nvSpPr>
        <p:spPr>
          <a:xfrm>
            <a:off x="0" y="742950"/>
            <a:ext cx="12192000" cy="609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Pipeline: 코드 실행이 아니라 운영 판단 체계 / Pipeline: Not just code execution, but an operational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judgment system</a:t>
            </a:r>
            <a:endParaRPr lang="en-US" sz="1725" dirty="0"/>
          </a:p>
        </p:txBody>
      </p:sp>
      <p:sp>
        <p:nvSpPr>
          <p:cNvPr id="10" name="Text 3"/>
          <p:cNvSpPr/>
          <p:nvPr/>
        </p:nvSpPr>
        <p:spPr>
          <a:xfrm>
            <a:off x="895350" y="1838325"/>
            <a:ext cx="276606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핵심 개념 총정리</a:t>
            </a:r>
            <a:endParaRPr lang="en-US" sz="1650" dirty="0"/>
          </a:p>
        </p:txBody>
      </p:sp>
      <p:sp>
        <p:nvSpPr>
          <p:cNvPr id="11" name="Text 4"/>
          <p:cNvSpPr/>
          <p:nvPr/>
        </p:nvSpPr>
        <p:spPr>
          <a:xfrm>
            <a:off x="895350" y="2524125"/>
            <a:ext cx="402336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판단 체계로서의 파이프라인</a:t>
            </a:r>
            <a:endParaRPr lang="en-US" sz="1650" dirty="0"/>
          </a:p>
        </p:txBody>
      </p:sp>
      <p:sp>
        <p:nvSpPr>
          <p:cNvPr id="12" name="Text 5"/>
          <p:cNvSpPr/>
          <p:nvPr/>
        </p:nvSpPr>
        <p:spPr>
          <a:xfrm>
            <a:off x="895350" y="3190875"/>
            <a:ext cx="326898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운영 핵심 점검 항목</a:t>
            </a:r>
            <a:endParaRPr lang="en-US" sz="1650" dirty="0"/>
          </a:p>
        </p:txBody>
      </p:sp>
      <p:sp>
        <p:nvSpPr>
          <p:cNvPr id="13" name="Text 6"/>
          <p:cNvSpPr/>
          <p:nvPr/>
        </p:nvSpPr>
        <p:spPr>
          <a:xfrm>
            <a:off x="895350" y="3876675"/>
            <a:ext cx="452628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CI/CD → MLOps 확장</a:t>
            </a:r>
            <a:endParaRPr lang="en-US" sz="1650" dirty="0"/>
          </a:p>
        </p:txBody>
      </p:sp>
      <p:sp>
        <p:nvSpPr>
          <p:cNvPr id="14" name="Text 7"/>
          <p:cNvSpPr/>
          <p:nvPr/>
        </p:nvSpPr>
        <p:spPr>
          <a:xfrm>
            <a:off x="895350" y="4562475"/>
            <a:ext cx="678942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Deploy Readiness 최종 체크리스트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895350" y="5238750"/>
            <a:ext cx="486156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CH08 캡스톤 프로젝트 연계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10714137" y="161925"/>
            <a:ext cx="1288703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75"/>
              </a:lnSpc>
              <a:buNone/>
            </a:pPr>
            <a:r>
              <a:rPr lang="en-US" sz="1275" b="1" dirty="0">
                <a:solidFill>
                  <a:srgbClr val="B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ctr" indent="0" marL="0">
              <a:lnSpc>
                <a:spcPts val="1275"/>
              </a:lnSpc>
              <a:buNone/>
            </a:pPr>
            <a:r>
              <a:rPr lang="en-US" sz="1275" b="1" dirty="0">
                <a:solidFill>
                  <a:srgbClr val="B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75"/>
              </a:lnSpc>
              <a:buNone/>
            </a:pPr>
            <a:r>
              <a:rPr lang="en-US" sz="1275" b="1" dirty="0">
                <a:solidFill>
                  <a:srgbClr val="B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75" dirty="0"/>
          </a:p>
        </p:txBody>
      </p:sp>
      <p:sp>
        <p:nvSpPr>
          <p:cNvPr id="17" name="Text 10"/>
          <p:cNvSpPr/>
          <p:nvPr/>
        </p:nvSpPr>
        <p:spPr>
          <a:xfrm>
            <a:off x="1076325" y="2162175"/>
            <a:ext cx="1111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Runner 범위·태그·Executor, Artifact 검증, Webhook·RSS 연동 방식을 체계적으로 정리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1076325" y="2838450"/>
            <a:ext cx="1111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초록불 성공 결과뿐만 아니라 Artifact와 Report를 직접 확인해야 배포 적합성이 보장됨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1076325" y="3514725"/>
            <a:ext cx="1111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Runner 태그·Scope 불일치, 네트워크 방화벽, Secret 변수 누락이 숨은 장애 원인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076325" y="4200525"/>
            <a:ext cx="1111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train-evaluate-register_model 스테이지 추가 및 모델 성능 임계값이 새로운 품질 게이트로 작동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076325" y="4876800"/>
            <a:ext cx="10972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완료·파이프라인 성공·Rollback 계획·모델 버전 확인까지 배포 전 필수 점검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076325" y="5553075"/>
            <a:ext cx="111156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과정을 하나의 시나리오로 연결하여 실제 운영 판단 체계를 직접 설계·실습하는 단계로 전환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5870674" y="6715125"/>
            <a:ext cx="55527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2026-04-10T21:02:09Z</dcterms:created>
  <dcterms:modified xsi:type="dcterms:W3CDTF">2026-04-10T21:02:09Z</dcterms:modified>
</cp:coreProperties>
</file>
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  <p:embeddedFont>
      <p:font typeface="NanumGothic"/>
      <p:regular r:id="rId201315"/>
      <p:bold r:id="rId3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301314" Target="fonts/301314.fntdata" Type="http://schemas.openxmlformats.org/officeDocument/2006/relationships/font"/><Relationship Id="rId301315" Target="fonts/3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00150" y="1219200"/>
            <a:ext cx="10991850" cy="58980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644"/>
              </a:lnSpc>
              <a:buNone/>
            </a:pPr>
            <a:r>
              <a:rPr lang="en-US" sz="36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 권한, MR, 승인 구조를 운영 관점에서 읽기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2600325" y="3000375"/>
            <a:ext cx="430911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23"/>
              </a:lnSpc>
              <a:buNone/>
            </a:pPr>
            <a:r>
              <a:rPr lang="en-US" sz="21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위의 운영 레이어</a:t>
            </a:r>
            <a:endParaRPr lang="en-US" sz="2175" dirty="0"/>
          </a:p>
        </p:txBody>
      </p:sp>
      <p:sp>
        <p:nvSpPr>
          <p:cNvPr id="5" name="Text 2"/>
          <p:cNvSpPr/>
          <p:nvPr/>
        </p:nvSpPr>
        <p:spPr>
          <a:xfrm>
            <a:off x="7905750" y="3000375"/>
            <a:ext cx="331470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23"/>
              </a:lnSpc>
              <a:buNone/>
            </a:pPr>
            <a:r>
              <a:rPr lang="en-US" sz="21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MR 전체 생애주기</a:t>
            </a:r>
            <a:endParaRPr lang="en-US" sz="2175" dirty="0"/>
          </a:p>
        </p:txBody>
      </p:sp>
      <p:sp>
        <p:nvSpPr>
          <p:cNvPr id="6" name="Text 3"/>
          <p:cNvSpPr/>
          <p:nvPr/>
        </p:nvSpPr>
        <p:spPr>
          <a:xfrm>
            <a:off x="2600325" y="4171950"/>
            <a:ext cx="364617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23"/>
              </a:lnSpc>
              <a:buNone/>
            </a:pPr>
            <a:r>
              <a:rPr lang="en-US" sz="21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기반 권한 모델</a:t>
            </a:r>
            <a:endParaRPr lang="en-US" sz="2175" dirty="0"/>
          </a:p>
        </p:txBody>
      </p:sp>
      <p:sp>
        <p:nvSpPr>
          <p:cNvPr id="7" name="Text 4"/>
          <p:cNvSpPr/>
          <p:nvPr/>
        </p:nvSpPr>
        <p:spPr>
          <a:xfrm>
            <a:off x="7905750" y="4171950"/>
            <a:ext cx="298323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23"/>
              </a:lnSpc>
              <a:buNone/>
            </a:pPr>
            <a:r>
              <a:rPr lang="en-US" sz="21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시스템 연동</a:t>
            </a:r>
            <a:endParaRPr lang="en-US" sz="2175" dirty="0"/>
          </a:p>
        </p:txBody>
      </p:sp>
      <p:sp>
        <p:nvSpPr>
          <p:cNvPr id="8" name="Text 5"/>
          <p:cNvSpPr/>
          <p:nvPr/>
        </p:nvSpPr>
        <p:spPr>
          <a:xfrm>
            <a:off x="2600325" y="5362575"/>
            <a:ext cx="430911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23"/>
              </a:lnSpc>
              <a:buNone/>
            </a:pPr>
            <a:r>
              <a:rPr lang="en-US" sz="21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보호 브랜치와 승인 규칙</a:t>
            </a:r>
            <a:endParaRPr lang="en-US" sz="2175" dirty="0"/>
          </a:p>
        </p:txBody>
      </p:sp>
      <p:sp>
        <p:nvSpPr>
          <p:cNvPr id="9" name="Text 6"/>
          <p:cNvSpPr/>
          <p:nvPr/>
        </p:nvSpPr>
        <p:spPr>
          <a:xfrm>
            <a:off x="7905750" y="5362575"/>
            <a:ext cx="364617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23"/>
              </a:lnSpc>
              <a:buNone/>
            </a:pPr>
            <a:r>
              <a:rPr lang="en-US" sz="21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시나리오 대처법</a:t>
            </a:r>
            <a:endParaRPr lang="en-US" sz="2175" dirty="0"/>
          </a:p>
        </p:txBody>
      </p:sp>
      <p:sp>
        <p:nvSpPr>
          <p:cNvPr id="10" name="Text 7"/>
          <p:cNvSpPr/>
          <p:nvPr/>
        </p:nvSpPr>
        <p:spPr>
          <a:xfrm>
            <a:off x="2600325" y="3409950"/>
            <a:ext cx="525780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0"/>
              </a:lnSpc>
              <a:buNone/>
            </a:pPr>
            <a:r>
              <a:rPr lang="en-US" sz="17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명령어가 아닌 협업 통제 구조를 다룸</a:t>
            </a:r>
            <a:endParaRPr lang="en-US" sz="1725" dirty="0"/>
          </a:p>
        </p:txBody>
      </p:sp>
      <p:sp>
        <p:nvSpPr>
          <p:cNvPr id="11" name="Text 8"/>
          <p:cNvSpPr/>
          <p:nvPr/>
        </p:nvSpPr>
        <p:spPr>
          <a:xfrm>
            <a:off x="7905750" y="3409950"/>
            <a:ext cx="428625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0"/>
              </a:lnSpc>
              <a:buNone/>
            </a:pPr>
            <a:r>
              <a:rPr lang="en-US" sz="17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생성부터 병합까지 표준 절차 학습</a:t>
            </a:r>
            <a:endParaRPr lang="en-US" sz="1725" dirty="0"/>
          </a:p>
        </p:txBody>
      </p:sp>
      <p:sp>
        <p:nvSpPr>
          <p:cNvPr id="12" name="Text 9"/>
          <p:cNvSpPr/>
          <p:nvPr/>
        </p:nvSpPr>
        <p:spPr>
          <a:xfrm>
            <a:off x="2600325" y="4581525"/>
            <a:ext cx="674751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0"/>
              </a:lnSpc>
              <a:buNone/>
            </a:pPr>
            <a:r>
              <a:rPr lang="en-US" sz="17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Owner부터 Guest까지 4단계 역할 구조</a:t>
            </a:r>
            <a:endParaRPr lang="en-US" sz="1725" dirty="0"/>
          </a:p>
        </p:txBody>
      </p:sp>
      <p:sp>
        <p:nvSpPr>
          <p:cNvPr id="13" name="Text 10"/>
          <p:cNvSpPr/>
          <p:nvPr/>
        </p:nvSpPr>
        <p:spPr>
          <a:xfrm>
            <a:off x="7905750" y="4581525"/>
            <a:ext cx="428625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0"/>
              </a:lnSpc>
              <a:buNone/>
            </a:pPr>
            <a:r>
              <a:rPr lang="en-US" sz="17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OpenProject 연동으로 추적성 확보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2600325" y="5781675"/>
            <a:ext cx="473202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0"/>
              </a:lnSpc>
              <a:buNone/>
            </a:pPr>
            <a:r>
              <a:rPr lang="en-US" sz="17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우발적 변경 차단 및 검토 의무화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7905750" y="5781675"/>
            <a:ext cx="428625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0"/>
              </a:lnSpc>
              <a:buNone/>
            </a:pPr>
            <a:r>
              <a:rPr lang="en-US" sz="17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권한·승인·총들 문제 해결 방법 안내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9829800" y="6391275"/>
            <a:ext cx="201168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 OLED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953750" y="190500"/>
            <a:ext cx="102676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EC1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EC1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EC1B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1398240" y="4352925"/>
            <a:ext cx="1089571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982"/>
              </a:lnSpc>
              <a:buNone/>
            </a:pPr>
            <a:r>
              <a:rPr lang="en-US" sz="8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 Maintainer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1274415" y="4800600"/>
            <a:ext cx="1089571" cy="1360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071"/>
              </a:lnSpc>
              <a:buNone/>
            </a:pPr>
            <a:r>
              <a:rPr lang="en-US" sz="90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Developer Guest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324600" y="4648200"/>
            <a:ext cx="2674620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 OpenProject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5814417" y="6705600"/>
            <a:ext cx="534293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43"/>
              </a:lnSpc>
              <a:buNone/>
            </a:pPr>
            <a:r>
              <a:rPr lang="en-US" sz="750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80392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565" y="5307955"/>
            <a:ext cx="694879" cy="73372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7694" y="1652736"/>
            <a:ext cx="950863" cy="96009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4659" y="1707505"/>
            <a:ext cx="963067" cy="91886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7365" y="1666429"/>
            <a:ext cx="999679" cy="92571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6682" y="1652736"/>
            <a:ext cx="975271" cy="953244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228600" y="123825"/>
            <a:ext cx="11963400" cy="351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 / Maintainer / Developer / Guest 역할 구조</a:t>
            </a:r>
            <a:endParaRPr lang="en-US" sz="2325" dirty="0"/>
          </a:p>
        </p:txBody>
      </p:sp>
      <p:sp>
        <p:nvSpPr>
          <p:cNvPr id="12" name="Text 1"/>
          <p:cNvSpPr/>
          <p:nvPr/>
        </p:nvSpPr>
        <p:spPr>
          <a:xfrm>
            <a:off x="352425" y="742950"/>
            <a:ext cx="683514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 프로젝트의 권한 및 책임 범위</a:t>
            </a:r>
            <a:endParaRPr lang="en-US" sz="1950" dirty="0"/>
          </a:p>
        </p:txBody>
      </p:sp>
      <p:sp>
        <p:nvSpPr>
          <p:cNvPr id="13" name="Text 2"/>
          <p:cNvSpPr/>
          <p:nvPr/>
        </p:nvSpPr>
        <p:spPr>
          <a:xfrm>
            <a:off x="1685925" y="5334000"/>
            <a:ext cx="4469130" cy="30673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운영의 핵심 원칙 및 질문</a:t>
            </a:r>
            <a:endParaRPr lang="en-US" sz="1725" dirty="0"/>
          </a:p>
        </p:txBody>
      </p:sp>
      <p:sp>
        <p:nvSpPr>
          <p:cNvPr id="14" name="Text 3"/>
          <p:cNvSpPr/>
          <p:nvPr/>
        </p:nvSpPr>
        <p:spPr>
          <a:xfrm>
            <a:off x="467171" y="2867025"/>
            <a:ext cx="2713583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Owner: 프로젝트 정책과</a:t>
            </a:r>
            <a:pPr algn="ctr"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보안의 최종 책임자</a:t>
            </a:r>
            <a:endParaRPr lang="en-US" sz="1725" dirty="0"/>
          </a:p>
        </p:txBody>
      </p:sp>
      <p:sp>
        <p:nvSpPr>
          <p:cNvPr id="15" name="Text 4"/>
          <p:cNvSpPr/>
          <p:nvPr/>
        </p:nvSpPr>
        <p:spPr>
          <a:xfrm>
            <a:off x="3273177" y="2867025"/>
            <a:ext cx="2797373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Maintainer: 저장소 운영</a:t>
            </a:r>
            <a:pPr algn="ctr"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수립 및 Merge 책임</a:t>
            </a:r>
            <a:endParaRPr lang="en-US" sz="1725" dirty="0"/>
          </a:p>
        </p:txBody>
      </p:sp>
      <p:sp>
        <p:nvSpPr>
          <p:cNvPr id="16" name="Text 5"/>
          <p:cNvSpPr/>
          <p:nvPr/>
        </p:nvSpPr>
        <p:spPr>
          <a:xfrm>
            <a:off x="6336953" y="2867025"/>
            <a:ext cx="2451646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Developer: 기능 구현</a:t>
            </a:r>
            <a:pPr algn="ctr"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MR 생성·리뷰 반영</a:t>
            </a:r>
            <a:endParaRPr lang="en-US" sz="1725" dirty="0"/>
          </a:p>
        </p:txBody>
      </p:sp>
      <p:sp>
        <p:nvSpPr>
          <p:cNvPr id="17" name="Text 6"/>
          <p:cNvSpPr/>
          <p:nvPr/>
        </p:nvSpPr>
        <p:spPr>
          <a:xfrm>
            <a:off x="9193411" y="2867025"/>
            <a:ext cx="2472630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Guest: 코드 변경 없이</a:t>
            </a:r>
            <a:pPr algn="ctr"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현황 추적</a:t>
            </a:r>
            <a:endParaRPr lang="en-US" sz="1725" dirty="0"/>
          </a:p>
        </p:txBody>
      </p:sp>
      <p:sp>
        <p:nvSpPr>
          <p:cNvPr id="18" name="Text 7"/>
          <p:cNvSpPr/>
          <p:nvPr/>
        </p:nvSpPr>
        <p:spPr>
          <a:xfrm>
            <a:off x="469106" y="3619500"/>
            <a:ext cx="2671763" cy="8737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 수준 정책·멤버십 관리,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팀원에게 부여하지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않는 것이 정상</a:t>
            </a:r>
            <a:endParaRPr lang="en-US" sz="1650" dirty="0"/>
          </a:p>
        </p:txBody>
      </p:sp>
      <p:sp>
        <p:nvSpPr>
          <p:cNvPr id="19" name="Text 8"/>
          <p:cNvSpPr/>
          <p:nvPr/>
        </p:nvSpPr>
        <p:spPr>
          <a:xfrm>
            <a:off x="3530798" y="3619500"/>
            <a:ext cx="2367855" cy="8737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 보호 정책 설정,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긴급 롤백·핫픽스 병합 등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역할 수행</a:t>
            </a:r>
            <a:endParaRPr lang="en-US" sz="1650" dirty="0"/>
          </a:p>
        </p:txBody>
      </p:sp>
      <p:sp>
        <p:nvSpPr>
          <p:cNvPr id="20" name="Text 9"/>
          <p:cNvSpPr/>
          <p:nvPr/>
        </p:nvSpPr>
        <p:spPr>
          <a:xfrm>
            <a:off x="6265069" y="3619500"/>
            <a:ext cx="2566988" cy="8737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Feature 브랜치 작업 중심,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직접 Push 없이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리뷰 흐름을 따름</a:t>
            </a:r>
            <a:endParaRPr lang="en-US" sz="1650" dirty="0"/>
          </a:p>
        </p:txBody>
      </p:sp>
      <p:sp>
        <p:nvSpPr>
          <p:cNvPr id="21" name="Text 10"/>
          <p:cNvSpPr/>
          <p:nvPr/>
        </p:nvSpPr>
        <p:spPr>
          <a:xfrm>
            <a:off x="9402068" y="3619500"/>
            <a:ext cx="2074515" cy="8737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이슈·결과 열람만 가능,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이해관계자나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29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참관자에게 적합</a:t>
            </a:r>
            <a:endParaRPr lang="en-US" sz="1650" dirty="0"/>
          </a:p>
        </p:txBody>
      </p:sp>
      <p:sp>
        <p:nvSpPr>
          <p:cNvPr id="22" name="Text 11"/>
          <p:cNvSpPr/>
          <p:nvPr/>
        </p:nvSpPr>
        <p:spPr>
          <a:xfrm>
            <a:off x="802928" y="5753100"/>
            <a:ext cx="11389072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Merge 권한 배분 기준: 기술 숙련도가 아닌 '운영 책임 범위'. 누가 어떤 조건으로 허가하는가와 '어떤 작업이 막기'를 함께 검토.</a:t>
            </a:r>
            <a:endParaRPr lang="en-US" sz="1500" dirty="0"/>
          </a:p>
        </p:txBody>
      </p:sp>
      <p:sp>
        <p:nvSpPr>
          <p:cNvPr id="23" name="Text 12"/>
          <p:cNvSpPr/>
          <p:nvPr/>
        </p:nvSpPr>
        <p:spPr>
          <a:xfrm>
            <a:off x="9734550" y="161925"/>
            <a:ext cx="2294483" cy="4500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75" dirty="0"/>
          </a:p>
        </p:txBody>
      </p:sp>
      <p:sp>
        <p:nvSpPr>
          <p:cNvPr id="24" name="Text 13"/>
          <p:cNvSpPr/>
          <p:nvPr/>
        </p:nvSpPr>
        <p:spPr>
          <a:xfrm>
            <a:off x="9734550" y="6677025"/>
            <a:ext cx="817215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pPr algn="r"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WOLED</a:t>
            </a:r>
            <a:endParaRPr lang="en-US" sz="1125" dirty="0"/>
          </a:p>
        </p:txBody>
      </p:sp>
      <p:sp>
        <p:nvSpPr>
          <p:cNvPr id="25" name="Text 14"/>
          <p:cNvSpPr/>
          <p:nvPr/>
        </p:nvSpPr>
        <p:spPr>
          <a:xfrm>
            <a:off x="10715625" y="6677025"/>
            <a:ext cx="649486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pPr algn="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OLED</a:t>
            </a:r>
            <a:endParaRPr lang="en-US" sz="1050" dirty="0"/>
          </a:p>
        </p:txBody>
      </p:sp>
      <p:sp>
        <p:nvSpPr>
          <p:cNvPr id="26" name="Text 15"/>
          <p:cNvSpPr/>
          <p:nvPr/>
        </p:nvSpPr>
        <p:spPr>
          <a:xfrm>
            <a:off x="9677400" y="266700"/>
            <a:ext cx="1445865" cy="1287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014"/>
              </a:lnSpc>
              <a:buNone/>
            </a:pPr>
            <a:r>
              <a:rPr lang="en-US" sz="975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행터업을 입력해 주세요</a:t>
            </a:r>
            <a:endParaRPr lang="en-US" sz="975" dirty="0"/>
          </a:p>
        </p:txBody>
      </p:sp>
      <p:sp>
        <p:nvSpPr>
          <p:cNvPr id="27" name="Text 16"/>
          <p:cNvSpPr/>
          <p:nvPr/>
        </p:nvSpPr>
        <p:spPr>
          <a:xfrm>
            <a:off x="9734550" y="704850"/>
            <a:ext cx="2451646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965"/>
              </a:lnSpc>
              <a:buNone/>
            </a:pPr>
            <a:r>
              <a:rPr lang="en-US" sz="97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CH05-GitLab-Project-Structure</a:t>
            </a:r>
            <a:endParaRPr lang="en-US" sz="975" dirty="0"/>
          </a:p>
        </p:txBody>
      </p:sp>
      <p:sp>
        <p:nvSpPr>
          <p:cNvPr id="28" name="Text 17"/>
          <p:cNvSpPr/>
          <p:nvPr/>
        </p:nvSpPr>
        <p:spPr>
          <a:xfrm>
            <a:off x="5872609" y="6743700"/>
            <a:ext cx="513308" cy="848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668"/>
              </a:lnSpc>
              <a:buNone/>
            </a:pPr>
            <a:r>
              <a:rPr lang="en-US" sz="67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675" dirty="0"/>
          </a:p>
        </p:txBody>
      </p:sp>
      <p:sp>
        <p:nvSpPr>
          <p:cNvPr id="29" name="Text 18"/>
          <p:cNvSpPr/>
          <p:nvPr/>
        </p:nvSpPr>
        <p:spPr>
          <a:xfrm>
            <a:off x="466725" y="6677025"/>
            <a:ext cx="1714500" cy="1413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14"/>
              </a:lnSpc>
              <a:buNone/>
            </a:pPr>
            <a:r>
              <a:rPr lang="en-US" sz="11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9017"/>
            <a:ext cx="292596" cy="1919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063" y="4341019"/>
            <a:ext cx="1024086" cy="99432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686" y="4320480"/>
            <a:ext cx="1036290" cy="104923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271" y="4327327"/>
            <a:ext cx="1072753" cy="10287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6063" y="2091630"/>
            <a:ext cx="1048494" cy="1014859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6094" y="2071092"/>
            <a:ext cx="963067" cy="9874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086" y="2105323"/>
            <a:ext cx="1024086" cy="994321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228600" y="142875"/>
            <a:ext cx="9875520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13"/>
              </a:lnSpc>
              <a:buNone/>
            </a:pPr>
            <a:r>
              <a:rPr lang="en-US" sz="27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권한 매트릭스로 보면 무엇이 달라지는가</a:t>
            </a:r>
            <a:endParaRPr lang="en-US" sz="2700" dirty="0"/>
          </a:p>
        </p:txBody>
      </p:sp>
      <p:sp>
        <p:nvSpPr>
          <p:cNvPr id="13" name="Text 1"/>
          <p:cNvSpPr/>
          <p:nvPr/>
        </p:nvSpPr>
        <p:spPr>
          <a:xfrm>
            <a:off x="2413546" y="1838325"/>
            <a:ext cx="12561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90"/>
              </a:lnSpc>
              <a:buNone/>
            </a:pPr>
            <a:r>
              <a:rPr lang="en-US" sz="1275" b="1" dirty="0">
                <a:solidFill>
                  <a:srgbClr val="FFFFFF"/>
                </a:solidFill>
              </a:rPr>
              <a:t>1</a:t>
            </a:r>
            <a:endParaRPr lang="en-US" sz="1275" dirty="0"/>
          </a:p>
        </p:txBody>
      </p:sp>
      <p:sp>
        <p:nvSpPr>
          <p:cNvPr id="14" name="Text 2"/>
          <p:cNvSpPr/>
          <p:nvPr/>
        </p:nvSpPr>
        <p:spPr>
          <a:xfrm>
            <a:off x="2238375" y="2228850"/>
            <a:ext cx="2168723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Developer 보호 브랜치</a:t>
            </a:r>
            <a:pPr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병합 불가</a:t>
            </a:r>
            <a:endParaRPr lang="en-US" sz="1500" dirty="0"/>
          </a:p>
        </p:txBody>
      </p:sp>
      <p:sp>
        <p:nvSpPr>
          <p:cNvPr id="15" name="Text 3"/>
          <p:cNvSpPr/>
          <p:nvPr/>
        </p:nvSpPr>
        <p:spPr>
          <a:xfrm>
            <a:off x="6014442" y="1838325"/>
            <a:ext cx="11519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4"/>
          <p:cNvSpPr/>
          <p:nvPr/>
        </p:nvSpPr>
        <p:spPr>
          <a:xfrm>
            <a:off x="5895975" y="2228850"/>
            <a:ext cx="1927771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 보호 설정</a:t>
            </a:r>
            <a:pPr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(Protected Branch)</a:t>
            </a:r>
            <a:endParaRPr lang="en-US" sz="1500" dirty="0"/>
          </a:p>
        </p:txBody>
      </p:sp>
      <p:sp>
        <p:nvSpPr>
          <p:cNvPr id="17" name="Text 5"/>
          <p:cNvSpPr/>
          <p:nvPr/>
        </p:nvSpPr>
        <p:spPr>
          <a:xfrm>
            <a:off x="9672042" y="1838325"/>
            <a:ext cx="11519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6"/>
          <p:cNvSpPr/>
          <p:nvPr/>
        </p:nvSpPr>
        <p:spPr>
          <a:xfrm>
            <a:off x="9553575" y="2228850"/>
            <a:ext cx="1948755" cy="516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MR 생성 및 승인 요청</a:t>
            </a:r>
            <a:pPr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(Developer)</a:t>
            </a:r>
            <a:endParaRPr lang="en-US" sz="1575" dirty="0"/>
          </a:p>
        </p:txBody>
      </p:sp>
      <p:sp>
        <p:nvSpPr>
          <p:cNvPr id="19" name="Text 7"/>
          <p:cNvSpPr/>
          <p:nvPr/>
        </p:nvSpPr>
        <p:spPr>
          <a:xfrm>
            <a:off x="2413546" y="4143375"/>
            <a:ext cx="12561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90"/>
              </a:lnSpc>
              <a:buNone/>
            </a:pPr>
            <a:r>
              <a:rPr lang="en-US" sz="1275" b="1" dirty="0">
                <a:solidFill>
                  <a:srgbClr val="FFFFFF"/>
                </a:solidFill>
              </a:rPr>
              <a:t>4</a:t>
            </a:r>
            <a:endParaRPr lang="en-US" sz="1275" dirty="0"/>
          </a:p>
        </p:txBody>
      </p:sp>
      <p:sp>
        <p:nvSpPr>
          <p:cNvPr id="20" name="Text 8"/>
          <p:cNvSpPr/>
          <p:nvPr/>
        </p:nvSpPr>
        <p:spPr>
          <a:xfrm>
            <a:off x="2238375" y="4524375"/>
            <a:ext cx="2189708" cy="516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승인(Approval)은</a:t>
            </a:r>
            <a:pPr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지정된 승인자만</a:t>
            </a:r>
            <a:endParaRPr lang="en-US" sz="1575" dirty="0"/>
          </a:p>
        </p:txBody>
      </p:sp>
      <p:sp>
        <p:nvSpPr>
          <p:cNvPr id="21" name="Text 9"/>
          <p:cNvSpPr/>
          <p:nvPr/>
        </p:nvSpPr>
        <p:spPr>
          <a:xfrm>
            <a:off x="6014442" y="4143375"/>
            <a:ext cx="11519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10"/>
          <p:cNvSpPr/>
          <p:nvPr/>
        </p:nvSpPr>
        <p:spPr>
          <a:xfrm>
            <a:off x="5895975" y="4524375"/>
            <a:ext cx="1812578" cy="5405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Guest 코드 변경</a:t>
            </a:r>
            <a:pPr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행위행위 전체 제한</a:t>
            </a:r>
            <a:endParaRPr lang="en-US" sz="1650" dirty="0"/>
          </a:p>
        </p:txBody>
      </p:sp>
      <p:sp>
        <p:nvSpPr>
          <p:cNvPr id="23" name="Text 11"/>
          <p:cNvSpPr/>
          <p:nvPr/>
        </p:nvSpPr>
        <p:spPr>
          <a:xfrm>
            <a:off x="9672042" y="4143375"/>
            <a:ext cx="11519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4" name="Text 12"/>
          <p:cNvSpPr/>
          <p:nvPr/>
        </p:nvSpPr>
        <p:spPr>
          <a:xfrm>
            <a:off x="9553575" y="4524375"/>
            <a:ext cx="1624013" cy="516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'책임' 기준의</a:t>
            </a:r>
            <a:pPr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Merge 권한 배분</a:t>
            </a:r>
            <a:endParaRPr lang="en-US" sz="1575" dirty="0"/>
          </a:p>
        </p:txBody>
      </p:sp>
      <p:sp>
        <p:nvSpPr>
          <p:cNvPr id="25" name="Text 13"/>
          <p:cNvSpPr/>
          <p:nvPr/>
        </p:nvSpPr>
        <p:spPr>
          <a:xfrm>
            <a:off x="2238375" y="2914650"/>
            <a:ext cx="1980158" cy="3854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브랜치 병합 권한은</a:t>
            </a:r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Maintainer 이상 전용</a:t>
            </a:r>
            <a:endParaRPr lang="en-US" sz="1275" dirty="0"/>
          </a:p>
        </p:txBody>
      </p:sp>
      <p:sp>
        <p:nvSpPr>
          <p:cNvPr id="26" name="Text 14"/>
          <p:cNvSpPr/>
          <p:nvPr/>
        </p:nvSpPr>
        <p:spPr>
          <a:xfrm>
            <a:off x="5895975" y="2914650"/>
            <a:ext cx="1980158" cy="3854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Maintainer가 설정하며</a:t>
            </a:r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Push 원천 차단 가능</a:t>
            </a:r>
            <a:endParaRPr lang="en-US" sz="1275" dirty="0"/>
          </a:p>
        </p:txBody>
      </p:sp>
      <p:sp>
        <p:nvSpPr>
          <p:cNvPr id="27" name="Text 15"/>
          <p:cNvSpPr/>
          <p:nvPr/>
        </p:nvSpPr>
        <p:spPr>
          <a:xfrm>
            <a:off x="9553575" y="2914650"/>
            <a:ext cx="1822996" cy="3854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구현 후 리뷰어를</a:t>
            </a:r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지정하여 승인 요청 진행</a:t>
            </a:r>
            <a:endParaRPr lang="en-US" sz="1275" dirty="0"/>
          </a:p>
        </p:txBody>
      </p:sp>
      <p:sp>
        <p:nvSpPr>
          <p:cNvPr id="28" name="Text 16"/>
          <p:cNvSpPr/>
          <p:nvPr/>
        </p:nvSpPr>
        <p:spPr>
          <a:xfrm>
            <a:off x="2238375" y="5219700"/>
            <a:ext cx="1980158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Approval Rule에 지정된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승인자 필수</a:t>
            </a:r>
            <a:endParaRPr lang="en-US" sz="1350" dirty="0"/>
          </a:p>
        </p:txBody>
      </p:sp>
      <p:sp>
        <p:nvSpPr>
          <p:cNvPr id="29" name="Text 17"/>
          <p:cNvSpPr/>
          <p:nvPr/>
        </p:nvSpPr>
        <p:spPr>
          <a:xfrm>
            <a:off x="5895975" y="5219700"/>
            <a:ext cx="1948755" cy="4307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이슈 열림 및 결과 확인만</a:t>
            </a:r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허용, MR 생성 불가</a:t>
            </a:r>
            <a:endParaRPr lang="en-US" sz="1425" dirty="0"/>
          </a:p>
        </p:txBody>
      </p:sp>
      <p:sp>
        <p:nvSpPr>
          <p:cNvPr id="30" name="Text 18"/>
          <p:cNvSpPr/>
          <p:nvPr/>
        </p:nvSpPr>
        <p:spPr>
          <a:xfrm>
            <a:off x="9553575" y="5200650"/>
            <a:ext cx="1822996" cy="3854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실력이 아닌 운영 책임을</a:t>
            </a:r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지는 역할에 부여</a:t>
            </a:r>
            <a:endParaRPr lang="en-US" sz="1275" dirty="0"/>
          </a:p>
        </p:txBody>
      </p:sp>
      <p:sp>
        <p:nvSpPr>
          <p:cNvPr id="31" name="Text 19"/>
          <p:cNvSpPr/>
          <p:nvPr/>
        </p:nvSpPr>
        <p:spPr>
          <a:xfrm>
            <a:off x="8696325" y="295275"/>
            <a:ext cx="3467993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CH05 운영 관점의 권한 및 MR We Display.</a:t>
            </a:r>
            <a:endParaRPr lang="en-US" sz="1275" dirty="0"/>
          </a:p>
        </p:txBody>
      </p:sp>
      <p:sp>
        <p:nvSpPr>
          <p:cNvPr id="32" name="Text 20"/>
          <p:cNvSpPr/>
          <p:nvPr/>
        </p:nvSpPr>
        <p:spPr>
          <a:xfrm>
            <a:off x="10829925" y="142875"/>
            <a:ext cx="1026765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Dream.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73" y="6528792"/>
            <a:ext cx="304800" cy="28798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965" y="4731990"/>
            <a:ext cx="1401961" cy="146074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769" y="4731990"/>
            <a:ext cx="1401961" cy="146074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0965" y="3346698"/>
            <a:ext cx="1401961" cy="126176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769" y="3332857"/>
            <a:ext cx="1401961" cy="127545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0965" y="1522363"/>
            <a:ext cx="1401961" cy="1508671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769" y="1522363"/>
            <a:ext cx="1401961" cy="1508671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466725" y="266700"/>
            <a:ext cx="11725275" cy="562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428"/>
              </a:lnSpc>
              <a:buNone/>
            </a:pPr>
            <a:r>
              <a:rPr lang="en-US" sz="30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 프로젝트 구조에서 먼저 봐야 할 것</a:t>
            </a:r>
            <a:endParaRPr lang="en-US" sz="3075" dirty="0"/>
          </a:p>
        </p:txBody>
      </p:sp>
      <p:sp>
        <p:nvSpPr>
          <p:cNvPr id="11" name="Text 1"/>
          <p:cNvSpPr/>
          <p:nvPr/>
        </p:nvSpPr>
        <p:spPr>
          <a:xfrm>
            <a:off x="466725" y="895350"/>
            <a:ext cx="637794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30"/>
              </a:lnSpc>
              <a:buNone/>
            </a:pPr>
            <a:r>
              <a:rPr lang="en-US" sz="23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구성 요소와 통합 운영 관점</a:t>
            </a:r>
            <a:endParaRPr lang="en-US" sz="2325" dirty="0"/>
          </a:p>
        </p:txBody>
      </p:sp>
      <p:sp>
        <p:nvSpPr>
          <p:cNvPr id="12" name="Text 2"/>
          <p:cNvSpPr/>
          <p:nvPr/>
        </p:nvSpPr>
        <p:spPr>
          <a:xfrm>
            <a:off x="2419350" y="1771650"/>
            <a:ext cx="2944118" cy="8639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68"/>
              </a:lnSpc>
              <a:buNone/>
            </a:pPr>
            <a:r>
              <a:rPr lang="en-US" sz="18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저장소 (Repository):</a:t>
            </a:r>
            <a:pPr indent="0" marL="0">
              <a:lnSpc>
                <a:spcPts val="2268"/>
              </a:lnSpc>
              <a:buNone/>
            </a:pPr>
            <a:r>
              <a:rPr lang="en-US" sz="18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68"/>
              </a:lnSpc>
              <a:buNone/>
            </a:pPr>
            <a:r>
              <a:rPr lang="en-US" sz="18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코드의 단일 진실 공급원</a:t>
            </a:r>
            <a:pPr indent="0" marL="0">
              <a:lnSpc>
                <a:spcPts val="2268"/>
              </a:lnSpc>
              <a:buNone/>
            </a:pPr>
            <a:r>
              <a:rPr lang="en-US" sz="18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68"/>
              </a:lnSpc>
              <a:buNone/>
            </a:pPr>
            <a:r>
              <a:rPr lang="en-US" sz="18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변경 이력 기록 및 관리</a:t>
            </a:r>
            <a:endParaRPr lang="en-US" sz="1800" dirty="0"/>
          </a:p>
        </p:txBody>
      </p:sp>
      <p:sp>
        <p:nvSpPr>
          <p:cNvPr id="13" name="Text 3"/>
          <p:cNvSpPr/>
          <p:nvPr/>
        </p:nvSpPr>
        <p:spPr>
          <a:xfrm>
            <a:off x="7905750" y="1771650"/>
            <a:ext cx="3687961" cy="7558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5"/>
              </a:lnSpc>
              <a:buNone/>
            </a:pPr>
            <a:r>
              <a:rPr lang="en-US" sz="15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 (Branch):</a:t>
            </a:r>
            <a:pPr indent="0" marL="0">
              <a:lnSpc>
                <a:spcPts val="1985"/>
              </a:lnSpc>
              <a:buNone/>
            </a:pPr>
            <a:r>
              <a:rPr lang="en-US" sz="15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5"/>
              </a:lnSpc>
              <a:buNone/>
            </a:pPr>
            <a:r>
              <a:rPr lang="en-US" sz="15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병렬 작업을 가능하게 하는 구조</a:t>
            </a:r>
            <a:pPr indent="0" marL="0">
              <a:lnSpc>
                <a:spcPts val="1985"/>
              </a:lnSpc>
              <a:buNone/>
            </a:pPr>
            <a:r>
              <a:rPr lang="en-US" sz="15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5"/>
              </a:lnSpc>
              <a:buNone/>
            </a:pPr>
            <a:r>
              <a:rPr lang="en-US" sz="15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main·develop·feature 등 역할 분리</a:t>
            </a:r>
            <a:endParaRPr lang="en-US" sz="1575" dirty="0"/>
          </a:p>
        </p:txBody>
      </p:sp>
      <p:sp>
        <p:nvSpPr>
          <p:cNvPr id="14" name="Text 4"/>
          <p:cNvSpPr/>
          <p:nvPr/>
        </p:nvSpPr>
        <p:spPr>
          <a:xfrm>
            <a:off x="2419350" y="3333750"/>
            <a:ext cx="2954536" cy="9001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63"/>
              </a:lnSpc>
              <a:buNone/>
            </a:pPr>
            <a:r>
              <a:rPr lang="en-US" sz="18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Merge Request:</a:t>
            </a:r>
            <a:pPr indent="0" marL="0">
              <a:lnSpc>
                <a:spcPts val="2363"/>
              </a:lnSpc>
              <a:buNone/>
            </a:pPr>
            <a:r>
              <a:rPr lang="en-US" sz="18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63"/>
              </a:lnSpc>
              <a:buNone/>
            </a:pPr>
            <a:r>
              <a:rPr lang="en-US" sz="18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반영의 표준 절차</a:t>
            </a:r>
            <a:pPr indent="0" marL="0">
              <a:lnSpc>
                <a:spcPts val="2363"/>
              </a:lnSpc>
              <a:buNone/>
            </a:pPr>
            <a:r>
              <a:rPr lang="en-US" sz="18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63"/>
              </a:lnSpc>
              <a:buNone/>
            </a:pPr>
            <a:r>
              <a:rPr lang="en-US" sz="18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리뷰 및 통합 프로세스</a:t>
            </a:r>
            <a:endParaRPr lang="en-US" sz="1875" dirty="0"/>
          </a:p>
        </p:txBody>
      </p:sp>
      <p:sp>
        <p:nvSpPr>
          <p:cNvPr id="15" name="Text 5"/>
          <p:cNvSpPr/>
          <p:nvPr/>
        </p:nvSpPr>
        <p:spPr>
          <a:xfrm>
            <a:off x="7905750" y="3333750"/>
            <a:ext cx="3111698" cy="8282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74"/>
              </a:lnSpc>
              <a:buNone/>
            </a:pPr>
            <a:r>
              <a:rPr lang="en-US" sz="17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 파이프라인:</a:t>
            </a:r>
            <a:pPr indent="0" marL="0">
              <a:lnSpc>
                <a:spcPts val="2174"/>
              </a:lnSpc>
              <a:buNone/>
            </a:pPr>
            <a:r>
              <a:rPr lang="en-US" sz="17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74"/>
              </a:lnSpc>
              <a:buNone/>
            </a:pPr>
            <a:r>
              <a:rPr lang="en-US" sz="17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자동화된 품질 검증 게이트</a:t>
            </a:r>
            <a:pPr indent="0" marL="0">
              <a:lnSpc>
                <a:spcPts val="2174"/>
              </a:lnSpc>
              <a:buNone/>
            </a:pPr>
            <a:r>
              <a:rPr lang="en-US" sz="17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74"/>
              </a:lnSpc>
              <a:buNone/>
            </a:pPr>
            <a:r>
              <a:rPr lang="en-US" sz="17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빌드·테스트·배포 자동화 실행</a:t>
            </a:r>
            <a:endParaRPr lang="en-US" sz="1725" dirty="0"/>
          </a:p>
        </p:txBody>
      </p:sp>
      <p:sp>
        <p:nvSpPr>
          <p:cNvPr id="16" name="Text 6"/>
          <p:cNvSpPr/>
          <p:nvPr/>
        </p:nvSpPr>
        <p:spPr>
          <a:xfrm>
            <a:off x="2419350" y="4924425"/>
            <a:ext cx="3740348" cy="8639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68"/>
              </a:lnSpc>
              <a:buNone/>
            </a:pPr>
            <a:r>
              <a:rPr lang="en-US" sz="18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Wiki·설정:</a:t>
            </a:r>
            <a:pPr indent="0" marL="0">
              <a:lnSpc>
                <a:spcPts val="2268"/>
              </a:lnSpc>
              <a:buNone/>
            </a:pPr>
            <a:r>
              <a:rPr lang="en-US" sz="18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68"/>
              </a:lnSpc>
              <a:buNone/>
            </a:pPr>
            <a:r>
              <a:rPr lang="en-US" sz="18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표준과 정책 관리</a:t>
            </a:r>
            <a:pPr indent="0" marL="0">
              <a:lnSpc>
                <a:spcPts val="2268"/>
              </a:lnSpc>
              <a:buNone/>
            </a:pPr>
            <a:r>
              <a:rPr lang="en-US" sz="18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68"/>
              </a:lnSpc>
              <a:buNone/>
            </a:pPr>
            <a:r>
              <a:rPr lang="en-US" sz="18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Protected Branch, 승인 규칙 설정</a:t>
            </a:r>
            <a:endParaRPr lang="en-US" sz="1800" dirty="0"/>
          </a:p>
        </p:txBody>
      </p:sp>
      <p:sp>
        <p:nvSpPr>
          <p:cNvPr id="17" name="Text 7"/>
          <p:cNvSpPr/>
          <p:nvPr/>
        </p:nvSpPr>
        <p:spPr>
          <a:xfrm>
            <a:off x="7905750" y="4924425"/>
            <a:ext cx="3394621" cy="9001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63"/>
              </a:lnSpc>
              <a:buNone/>
            </a:pPr>
            <a:r>
              <a:rPr lang="en-US" sz="18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운영 관점:</a:t>
            </a:r>
            <a:pPr indent="0" marL="0">
              <a:lnSpc>
                <a:spcPts val="2363"/>
              </a:lnSpc>
              <a:buNone/>
            </a:pPr>
            <a:r>
              <a:rPr lang="en-US" sz="18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63"/>
              </a:lnSpc>
              <a:buNone/>
            </a:pPr>
            <a:r>
              <a:rPr lang="en-US" sz="18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서로 연결된 시스템으로 이해</a:t>
            </a:r>
            <a:pPr indent="0" marL="0">
              <a:lnSpc>
                <a:spcPts val="2363"/>
              </a:lnSpc>
              <a:buNone/>
            </a:pPr>
            <a:r>
              <a:rPr lang="en-US" sz="18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63"/>
              </a:lnSpc>
              <a:buNone/>
            </a:pPr>
            <a:r>
              <a:rPr lang="en-US" sz="18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흐름 전체를 설계하는 시각</a:t>
            </a:r>
            <a:endParaRPr lang="en-US" sz="1875" dirty="0"/>
          </a:p>
        </p:txBody>
      </p:sp>
      <p:sp>
        <p:nvSpPr>
          <p:cNvPr id="18" name="Text 8"/>
          <p:cNvSpPr/>
          <p:nvPr/>
        </p:nvSpPr>
        <p:spPr>
          <a:xfrm>
            <a:off x="9496425" y="6572250"/>
            <a:ext cx="1246733" cy="1413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11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 WOLED</a:t>
            </a:r>
            <a:endParaRPr lang="en-US" sz="1125" dirty="0"/>
          </a:p>
        </p:txBody>
      </p:sp>
      <p:sp>
        <p:nvSpPr>
          <p:cNvPr id="19" name="Text 9"/>
          <p:cNvSpPr/>
          <p:nvPr/>
        </p:nvSpPr>
        <p:spPr>
          <a:xfrm>
            <a:off x="10829925" y="6572250"/>
            <a:ext cx="1183928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 OLED</a:t>
            </a:r>
            <a:endParaRPr lang="en-US" sz="1200" dirty="0"/>
          </a:p>
        </p:txBody>
      </p:sp>
      <p:sp>
        <p:nvSpPr>
          <p:cNvPr id="20" name="Text 10"/>
          <p:cNvSpPr/>
          <p:nvPr/>
        </p:nvSpPr>
        <p:spPr>
          <a:xfrm>
            <a:off x="9915525" y="323850"/>
            <a:ext cx="2168723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 We Display.</a:t>
            </a:r>
            <a:endParaRPr lang="en-US" sz="1350" dirty="0"/>
          </a:p>
        </p:txBody>
      </p:sp>
      <p:sp>
        <p:nvSpPr>
          <p:cNvPr id="21" name="Text 11"/>
          <p:cNvSpPr/>
          <p:nvPr/>
        </p:nvSpPr>
        <p:spPr>
          <a:xfrm>
            <a:off x="5699224" y="6572250"/>
            <a:ext cx="764828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1200" dirty="0"/>
          </a:p>
        </p:txBody>
      </p:sp>
      <p:sp>
        <p:nvSpPr>
          <p:cNvPr id="22" name="Text 12"/>
          <p:cNvSpPr/>
          <p:nvPr/>
        </p:nvSpPr>
        <p:spPr>
          <a:xfrm>
            <a:off x="533400" y="6572250"/>
            <a:ext cx="2286000" cy="1885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85"/>
              </a:lnSpc>
              <a:buNone/>
            </a:pPr>
            <a:r>
              <a:rPr lang="en-US" sz="15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8784" y="5945832"/>
            <a:ext cx="475357" cy="40451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4267" y="5040511"/>
            <a:ext cx="1426369" cy="50735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5600" y="3552379"/>
            <a:ext cx="1487388" cy="58965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4267" y="2201317"/>
            <a:ext cx="1438573" cy="43204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0698" y="4361557"/>
            <a:ext cx="4376886" cy="77494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67780" y="2187625"/>
            <a:ext cx="2718792" cy="651421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228600" y="142875"/>
            <a:ext cx="932688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protected branch는 왜 필요한가</a:t>
            </a:r>
            <a:endParaRPr lang="en-US" sz="2550" dirty="0"/>
          </a:p>
        </p:txBody>
      </p:sp>
      <p:sp>
        <p:nvSpPr>
          <p:cNvPr id="13" name="Text 1"/>
          <p:cNvSpPr/>
          <p:nvPr/>
        </p:nvSpPr>
        <p:spPr>
          <a:xfrm>
            <a:off x="765721" y="1733550"/>
            <a:ext cx="125611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75" dirty="0"/>
          </a:p>
        </p:txBody>
      </p:sp>
      <p:sp>
        <p:nvSpPr>
          <p:cNvPr id="14" name="Text 2"/>
          <p:cNvSpPr/>
          <p:nvPr/>
        </p:nvSpPr>
        <p:spPr>
          <a:xfrm>
            <a:off x="6375499" y="1733550"/>
            <a:ext cx="136178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425" dirty="0"/>
          </a:p>
        </p:txBody>
      </p:sp>
      <p:sp>
        <p:nvSpPr>
          <p:cNvPr id="15" name="Text 3"/>
          <p:cNvSpPr/>
          <p:nvPr/>
        </p:nvSpPr>
        <p:spPr>
          <a:xfrm>
            <a:off x="765721" y="3962400"/>
            <a:ext cx="125611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75" dirty="0"/>
          </a:p>
        </p:txBody>
      </p:sp>
      <p:sp>
        <p:nvSpPr>
          <p:cNvPr id="16" name="Text 4"/>
          <p:cNvSpPr/>
          <p:nvPr/>
        </p:nvSpPr>
        <p:spPr>
          <a:xfrm>
            <a:off x="6375499" y="3190875"/>
            <a:ext cx="136178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425" dirty="0"/>
          </a:p>
        </p:txBody>
      </p:sp>
      <p:sp>
        <p:nvSpPr>
          <p:cNvPr id="17" name="Text 5"/>
          <p:cNvSpPr/>
          <p:nvPr/>
        </p:nvSpPr>
        <p:spPr>
          <a:xfrm>
            <a:off x="6375499" y="4600575"/>
            <a:ext cx="136178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425" dirty="0"/>
          </a:p>
        </p:txBody>
      </p:sp>
      <p:sp>
        <p:nvSpPr>
          <p:cNvPr id="18" name="Text 6"/>
          <p:cNvSpPr/>
          <p:nvPr/>
        </p:nvSpPr>
        <p:spPr>
          <a:xfrm>
            <a:off x="352425" y="752475"/>
            <a:ext cx="9944100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06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통합 브랜치의 무결성 보호 및 운영 프로세스 강제</a:t>
            </a:r>
            <a:endParaRPr lang="en-US" sz="2175" dirty="0"/>
          </a:p>
        </p:txBody>
      </p:sp>
      <p:sp>
        <p:nvSpPr>
          <p:cNvPr id="19" name="Text 7"/>
          <p:cNvSpPr/>
          <p:nvPr/>
        </p:nvSpPr>
        <p:spPr>
          <a:xfrm>
            <a:off x="1143000" y="1762125"/>
            <a:ext cx="289179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푸시 원천 차단</a:t>
            </a:r>
            <a:endParaRPr lang="en-US" sz="1725" dirty="0"/>
          </a:p>
        </p:txBody>
      </p:sp>
      <p:sp>
        <p:nvSpPr>
          <p:cNvPr id="20" name="Text 8"/>
          <p:cNvSpPr/>
          <p:nvPr/>
        </p:nvSpPr>
        <p:spPr>
          <a:xfrm>
            <a:off x="6753225" y="1762125"/>
            <a:ext cx="289179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병합 권한 역할 제한</a:t>
            </a:r>
            <a:endParaRPr lang="en-US" sz="1725" dirty="0"/>
          </a:p>
        </p:txBody>
      </p:sp>
      <p:sp>
        <p:nvSpPr>
          <p:cNvPr id="21" name="Text 9"/>
          <p:cNvSpPr/>
          <p:nvPr/>
        </p:nvSpPr>
        <p:spPr>
          <a:xfrm>
            <a:off x="1143000" y="3990975"/>
            <a:ext cx="289179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MR 프로세스 강제화</a:t>
            </a:r>
            <a:endParaRPr lang="en-US" sz="1725" dirty="0"/>
          </a:p>
        </p:txBody>
      </p:sp>
      <p:sp>
        <p:nvSpPr>
          <p:cNvPr id="22" name="Text 10"/>
          <p:cNvSpPr/>
          <p:nvPr/>
        </p:nvSpPr>
        <p:spPr>
          <a:xfrm>
            <a:off x="6753225" y="3209925"/>
            <a:ext cx="315468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 추적 가능성 확보</a:t>
            </a:r>
            <a:endParaRPr lang="en-US" sz="1725" dirty="0"/>
          </a:p>
        </p:txBody>
      </p:sp>
      <p:sp>
        <p:nvSpPr>
          <p:cNvPr id="23" name="Text 11"/>
          <p:cNvSpPr/>
          <p:nvPr/>
        </p:nvSpPr>
        <p:spPr>
          <a:xfrm>
            <a:off x="6753225" y="4629150"/>
            <a:ext cx="289179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브랜치에만 적용</a:t>
            </a:r>
            <a:endParaRPr lang="en-US" sz="1725" dirty="0"/>
          </a:p>
        </p:txBody>
      </p:sp>
      <p:sp>
        <p:nvSpPr>
          <p:cNvPr id="24" name="Text 12"/>
          <p:cNvSpPr/>
          <p:nvPr/>
        </p:nvSpPr>
        <p:spPr>
          <a:xfrm>
            <a:off x="7810500" y="219075"/>
            <a:ext cx="3342233" cy="1791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411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CH05. GitLab 프로젝트 구조, 권한 및 MR</a:t>
            </a:r>
            <a:endParaRPr lang="en-US" sz="1425" dirty="0"/>
          </a:p>
        </p:txBody>
      </p:sp>
      <p:sp>
        <p:nvSpPr>
          <p:cNvPr id="25" name="Text 13"/>
          <p:cNvSpPr/>
          <p:nvPr/>
        </p:nvSpPr>
        <p:spPr>
          <a:xfrm>
            <a:off x="1143000" y="3000375"/>
            <a:ext cx="4368998" cy="4595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브랜치에 실수로 코드를 직접 Push하는 것을</a:t>
            </a:r>
            <a:pPr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 차단합니다.</a:t>
            </a:r>
            <a:endParaRPr lang="en-US" sz="1350" dirty="0"/>
          </a:p>
        </p:txBody>
      </p:sp>
      <p:sp>
        <p:nvSpPr>
          <p:cNvPr id="26" name="Text 14"/>
          <p:cNvSpPr/>
          <p:nvPr/>
        </p:nvSpPr>
        <p:spPr>
          <a:xfrm>
            <a:off x="8391525" y="2181225"/>
            <a:ext cx="3614738" cy="4595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Maintainer 이상의 역할만 해당 브랜치에</a:t>
            </a:r>
            <a:pPr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Merge할 수 있도록 제한합니다.</a:t>
            </a:r>
            <a:endParaRPr lang="en-US" sz="1350" dirty="0"/>
          </a:p>
        </p:txBody>
      </p:sp>
      <p:sp>
        <p:nvSpPr>
          <p:cNvPr id="27" name="Text 15"/>
          <p:cNvSpPr/>
          <p:nvPr/>
        </p:nvSpPr>
        <p:spPr>
          <a:xfrm>
            <a:off x="1143000" y="5219700"/>
            <a:ext cx="5144393" cy="4595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변경은 반드시 Merge Request를 통해서만 반영되도록</a:t>
            </a:r>
            <a:pPr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반영되도록 강제합니다.</a:t>
            </a:r>
            <a:endParaRPr lang="en-US" sz="1350" dirty="0"/>
          </a:p>
        </p:txBody>
      </p:sp>
      <p:sp>
        <p:nvSpPr>
          <p:cNvPr id="28" name="Text 16"/>
          <p:cNvSpPr/>
          <p:nvPr/>
        </p:nvSpPr>
        <p:spPr>
          <a:xfrm>
            <a:off x="8391525" y="3600450"/>
            <a:ext cx="3415605" cy="4595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사고 발생 시 누가 어떤 절차를</a:t>
            </a:r>
            <a:pPr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생략했는지 명확히 추적할 수 있습니다.</a:t>
            </a:r>
            <a:endParaRPr lang="en-US" sz="1350" dirty="0"/>
          </a:p>
        </p:txBody>
      </p:sp>
      <p:sp>
        <p:nvSpPr>
          <p:cNvPr id="29" name="Text 17"/>
          <p:cNvSpPr/>
          <p:nvPr/>
        </p:nvSpPr>
        <p:spPr>
          <a:xfrm>
            <a:off x="8391525" y="5019675"/>
            <a:ext cx="3708946" cy="4595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main, develop, release 등 핵심 통합</a:t>
            </a:r>
            <a:pPr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9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브랜치에 선별 적용하는 것이 일반적입니다.</a:t>
            </a:r>
            <a:endParaRPr lang="en-US" sz="1350" dirty="0"/>
          </a:p>
        </p:txBody>
      </p:sp>
      <p:sp>
        <p:nvSpPr>
          <p:cNvPr id="30" name="Text 18"/>
          <p:cNvSpPr/>
          <p:nvPr/>
        </p:nvSpPr>
        <p:spPr>
          <a:xfrm>
            <a:off x="10953750" y="219075"/>
            <a:ext cx="1037183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CB1C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CB1C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CB1C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1919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2886" y="4375398"/>
            <a:ext cx="694879" cy="55542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7161" y="4389090"/>
            <a:ext cx="670471" cy="50050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1898" y="4375398"/>
            <a:ext cx="938659" cy="54173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7977" y="4793605"/>
            <a:ext cx="646063" cy="52119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6259" y="4375398"/>
            <a:ext cx="572988" cy="55542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04071" y="4368403"/>
            <a:ext cx="585192" cy="562273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8180" y="4437013"/>
            <a:ext cx="365671" cy="43204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45961" y="1865263"/>
            <a:ext cx="560784" cy="713184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39286" y="1865263"/>
            <a:ext cx="560784" cy="713184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32463" y="1865263"/>
            <a:ext cx="548580" cy="713184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23098" y="1549896"/>
            <a:ext cx="926455" cy="102170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13584" y="1865263"/>
            <a:ext cx="585192" cy="713184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94557" y="1865263"/>
            <a:ext cx="597396" cy="713184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228600" y="142875"/>
            <a:ext cx="10938510" cy="374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45"/>
              </a:lnSpc>
              <a:buNone/>
            </a:pPr>
            <a:r>
              <a:rPr lang="en-US" sz="24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approval rule은 왜 별도의 품질 게이트인가</a:t>
            </a:r>
            <a:endParaRPr lang="en-US" sz="2475" dirty="0"/>
          </a:p>
        </p:txBody>
      </p:sp>
      <p:sp>
        <p:nvSpPr>
          <p:cNvPr id="20" name="Text 1"/>
          <p:cNvSpPr/>
          <p:nvPr/>
        </p:nvSpPr>
        <p:spPr>
          <a:xfrm>
            <a:off x="542330" y="2019300"/>
            <a:ext cx="105816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MR 제출</a:t>
            </a:r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(Submit MR)</a:t>
            </a:r>
            <a:endParaRPr lang="en-US" sz="1200" dirty="0"/>
          </a:p>
        </p:txBody>
      </p:sp>
      <p:sp>
        <p:nvSpPr>
          <p:cNvPr id="21" name="Text 2"/>
          <p:cNvSpPr/>
          <p:nvPr/>
        </p:nvSpPr>
        <p:spPr>
          <a:xfrm>
            <a:off x="2213967" y="2114550"/>
            <a:ext cx="1791593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90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체크</a:t>
            </a:r>
            <a:pPr algn="ctr" indent="0" marL="0">
              <a:lnSpc>
                <a:spcPts val="1390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90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(Automated Checks)</a:t>
            </a:r>
            <a:endParaRPr lang="en-US" sz="1275" dirty="0"/>
          </a:p>
        </p:txBody>
      </p:sp>
      <p:sp>
        <p:nvSpPr>
          <p:cNvPr id="22" name="Text 3"/>
          <p:cNvSpPr/>
          <p:nvPr/>
        </p:nvSpPr>
        <p:spPr>
          <a:xfrm>
            <a:off x="6605588" y="2114550"/>
            <a:ext cx="17811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소유자 검토</a:t>
            </a:r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(Code Owner Review)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8896350" y="2114550"/>
            <a:ext cx="16764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승인 충족</a:t>
            </a:r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(Final Approval Met)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11172230" y="2114550"/>
            <a:ext cx="639068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53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Merge</a:t>
            </a:r>
            <a:endParaRPr lang="en-US" sz="1425" dirty="0"/>
          </a:p>
        </p:txBody>
      </p:sp>
      <p:sp>
        <p:nvSpPr>
          <p:cNvPr id="25" name="Text 6"/>
          <p:cNvSpPr/>
          <p:nvPr/>
        </p:nvSpPr>
        <p:spPr>
          <a:xfrm>
            <a:off x="850553" y="4991100"/>
            <a:ext cx="984796" cy="2908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45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예방</a:t>
            </a:r>
            <a:pPr algn="ctr" indent="0" marL="0">
              <a:lnSpc>
                <a:spcPts val="1145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145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(Prevention)</a:t>
            </a:r>
            <a:endParaRPr lang="en-US" sz="1050" dirty="0"/>
          </a:p>
        </p:txBody>
      </p:sp>
      <p:sp>
        <p:nvSpPr>
          <p:cNvPr id="26" name="Text 7"/>
          <p:cNvSpPr/>
          <p:nvPr/>
        </p:nvSpPr>
        <p:spPr>
          <a:xfrm>
            <a:off x="2660303" y="4991100"/>
            <a:ext cx="984796" cy="2908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45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분산</a:t>
            </a:r>
            <a:pPr algn="ctr" indent="0" marL="0">
              <a:lnSpc>
                <a:spcPts val="1145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145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(Distribution)</a:t>
            </a:r>
            <a:endParaRPr lang="en-US" sz="1050" dirty="0"/>
          </a:p>
        </p:txBody>
      </p:sp>
      <p:sp>
        <p:nvSpPr>
          <p:cNvPr id="27" name="Text 8"/>
          <p:cNvSpPr/>
          <p:nvPr/>
        </p:nvSpPr>
        <p:spPr>
          <a:xfrm>
            <a:off x="4426148" y="4991100"/>
            <a:ext cx="90100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981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규준 준수</a:t>
            </a:r>
            <a:pPr algn="ctr" indent="0" marL="0">
              <a:lnSpc>
                <a:spcPts val="981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981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(Compliance)</a:t>
            </a:r>
            <a:endParaRPr lang="en-US" sz="900" dirty="0"/>
          </a:p>
        </p:txBody>
      </p:sp>
      <p:sp>
        <p:nvSpPr>
          <p:cNvPr id="28" name="Text 9"/>
          <p:cNvSpPr/>
          <p:nvPr/>
        </p:nvSpPr>
        <p:spPr>
          <a:xfrm>
            <a:off x="6487418" y="4991100"/>
            <a:ext cx="1655415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90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Code Owner 할당</a:t>
            </a:r>
            <a:pPr algn="ctr" indent="0" marL="0">
              <a:lnSpc>
                <a:spcPts val="1390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90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(Leverage Owners)</a:t>
            </a:r>
            <a:endParaRPr lang="en-US" sz="1275" dirty="0"/>
          </a:p>
        </p:txBody>
      </p:sp>
      <p:sp>
        <p:nvSpPr>
          <p:cNvPr id="29" name="Text 10"/>
          <p:cNvSpPr/>
          <p:nvPr/>
        </p:nvSpPr>
        <p:spPr>
          <a:xfrm>
            <a:off x="8196262" y="4991100"/>
            <a:ext cx="178117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승인자 지정</a:t>
            </a:r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(Required Approvers)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10316021" y="4991100"/>
            <a:ext cx="1037183" cy="2908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45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 가능성</a:t>
            </a:r>
            <a:pPr algn="ctr" indent="0" marL="0">
              <a:lnSpc>
                <a:spcPts val="1145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145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(Auditability)</a:t>
            </a:r>
            <a:endParaRPr lang="en-US" sz="1050" dirty="0"/>
          </a:p>
        </p:txBody>
      </p:sp>
      <p:sp>
        <p:nvSpPr>
          <p:cNvPr id="31" name="Text 12"/>
          <p:cNvSpPr/>
          <p:nvPr/>
        </p:nvSpPr>
        <p:spPr>
          <a:xfrm>
            <a:off x="2346424" y="3209925"/>
            <a:ext cx="1603028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테스트, 런팅 등</a:t>
            </a:r>
            <a:endParaRPr lang="en-US" sz="1275" dirty="0"/>
          </a:p>
        </p:txBody>
      </p:sp>
      <p:sp>
        <p:nvSpPr>
          <p:cNvPr id="32" name="Text 13"/>
          <p:cNvSpPr/>
          <p:nvPr/>
        </p:nvSpPr>
        <p:spPr>
          <a:xfrm>
            <a:off x="4719638" y="3209925"/>
            <a:ext cx="1152525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동료 검토 개시</a:t>
            </a:r>
            <a:endParaRPr lang="en-US" sz="1425" dirty="0"/>
          </a:p>
        </p:txBody>
      </p:sp>
      <p:sp>
        <p:nvSpPr>
          <p:cNvPr id="33" name="Text 14"/>
          <p:cNvSpPr/>
          <p:nvPr/>
        </p:nvSpPr>
        <p:spPr>
          <a:xfrm>
            <a:off x="6737896" y="3209925"/>
            <a:ext cx="1592461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범위 변경 확인</a:t>
            </a:r>
            <a:endParaRPr lang="en-US" sz="1425" dirty="0"/>
          </a:p>
        </p:txBody>
      </p:sp>
      <p:sp>
        <p:nvSpPr>
          <p:cNvPr id="34" name="Text 15"/>
          <p:cNvSpPr/>
          <p:nvPr/>
        </p:nvSpPr>
        <p:spPr>
          <a:xfrm>
            <a:off x="9187309" y="3209925"/>
            <a:ext cx="1141958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승인 완료</a:t>
            </a:r>
            <a:endParaRPr lang="en-US" sz="1275" dirty="0"/>
          </a:p>
        </p:txBody>
      </p:sp>
      <p:sp>
        <p:nvSpPr>
          <p:cNvPr id="35" name="Text 16"/>
          <p:cNvSpPr/>
          <p:nvPr/>
        </p:nvSpPr>
        <p:spPr>
          <a:xfrm>
            <a:off x="10953750" y="190500"/>
            <a:ext cx="1026765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390"/>
              </a:lnSpc>
              <a:buNone/>
            </a:pPr>
            <a:r>
              <a:rPr lang="en-US" sz="1275" b="1" dirty="0">
                <a:solidFill>
                  <a:srgbClr val="EC1C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390"/>
              </a:lnSpc>
              <a:buNone/>
            </a:pPr>
            <a:r>
              <a:rPr lang="en-US" sz="1275" b="1" dirty="0">
                <a:solidFill>
                  <a:srgbClr val="EC1C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390"/>
              </a:lnSpc>
              <a:buNone/>
            </a:pPr>
            <a:r>
              <a:rPr lang="en-US" sz="1275" b="1" dirty="0">
                <a:solidFill>
                  <a:srgbClr val="EC1C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75" dirty="0"/>
          </a:p>
        </p:txBody>
      </p:sp>
      <p:sp>
        <p:nvSpPr>
          <p:cNvPr id="36" name="Text 17"/>
          <p:cNvSpPr/>
          <p:nvPr/>
        </p:nvSpPr>
        <p:spPr>
          <a:xfrm>
            <a:off x="1447800" y="3962400"/>
            <a:ext cx="57150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규칙: 운영 위험 차단을 위한 필수 통제</a:t>
            </a:r>
            <a:endParaRPr lang="en-US" sz="1500" dirty="0"/>
          </a:p>
        </p:txBody>
      </p:sp>
      <p:sp>
        <p:nvSpPr>
          <p:cNvPr id="37" name="Text 18"/>
          <p:cNvSpPr/>
          <p:nvPr/>
        </p:nvSpPr>
        <p:spPr>
          <a:xfrm>
            <a:off x="7648575" y="3962400"/>
            <a:ext cx="43434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규칙: 시스템화된 협업의 약속</a:t>
            </a:r>
            <a:endParaRPr lang="en-US" sz="1500" dirty="0"/>
          </a:p>
        </p:txBody>
      </p:sp>
      <p:sp>
        <p:nvSpPr>
          <p:cNvPr id="38" name="Text 19"/>
          <p:cNvSpPr/>
          <p:nvPr/>
        </p:nvSpPr>
        <p:spPr>
          <a:xfrm>
            <a:off x="516136" y="5467350"/>
            <a:ext cx="1634430" cy="516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54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환경으로 위험한</a:t>
            </a:r>
            <a:pPr algn="ctr" indent="0" marL="0">
              <a:lnSpc>
                <a:spcPts val="1354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54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변경사항이 유출되는 것을</a:t>
            </a:r>
            <a:pPr algn="ctr" indent="0" marL="0">
              <a:lnSpc>
                <a:spcPts val="1354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54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사전에 방지</a:t>
            </a:r>
            <a:endParaRPr lang="en-US" sz="1050" dirty="0"/>
          </a:p>
        </p:txBody>
      </p:sp>
      <p:sp>
        <p:nvSpPr>
          <p:cNvPr id="39" name="Text 20"/>
          <p:cNvSpPr/>
          <p:nvPr/>
        </p:nvSpPr>
        <p:spPr>
          <a:xfrm>
            <a:off x="2349252" y="5467350"/>
            <a:ext cx="1540073" cy="5527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단독 병합을 불허하고,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전체가 품질을 함께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책임지는 구조</a:t>
            </a:r>
            <a:endParaRPr lang="en-US" sz="1125" dirty="0"/>
          </a:p>
        </p:txBody>
      </p:sp>
      <p:sp>
        <p:nvSpPr>
          <p:cNvPr id="40" name="Text 21"/>
          <p:cNvSpPr/>
          <p:nvPr/>
        </p:nvSpPr>
        <p:spPr>
          <a:xfrm>
            <a:off x="4120455" y="5467350"/>
            <a:ext cx="1550640" cy="5527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및 배포 영향이 큰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변경에 대한 명확한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 기준 마련</a:t>
            </a:r>
            <a:endParaRPr lang="en-US" sz="1125" dirty="0"/>
          </a:p>
        </p:txBody>
      </p:sp>
      <p:sp>
        <p:nvSpPr>
          <p:cNvPr id="41" name="Text 22"/>
          <p:cNvSpPr/>
          <p:nvPr/>
        </p:nvSpPr>
        <p:spPr>
          <a:xfrm>
            <a:off x="6484590" y="5467350"/>
            <a:ext cx="1718221" cy="5527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 소재가 분명한 파일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담당자가 변경사항을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반드시 검토하도록 강제</a:t>
            </a:r>
            <a:endParaRPr lang="en-US" sz="1125" dirty="0"/>
          </a:p>
        </p:txBody>
      </p:sp>
      <p:sp>
        <p:nvSpPr>
          <p:cNvPr id="42" name="Text 23"/>
          <p:cNvSpPr/>
          <p:nvPr/>
        </p:nvSpPr>
        <p:spPr>
          <a:xfrm>
            <a:off x="8320534" y="5467350"/>
            <a:ext cx="1561058" cy="5527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보가, 인프라 등 중요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시 특정 전문가의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승인을 의무화</a:t>
            </a:r>
            <a:endParaRPr lang="en-US" sz="1125" dirty="0"/>
          </a:p>
        </p:txBody>
      </p:sp>
      <p:sp>
        <p:nvSpPr>
          <p:cNvPr id="43" name="Text 24"/>
          <p:cNvSpPr/>
          <p:nvPr/>
        </p:nvSpPr>
        <p:spPr>
          <a:xfrm>
            <a:off x="10028337" y="5467350"/>
            <a:ext cx="1707803" cy="5527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누가 어떤 근거로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승인했는지 명확한 이력을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남겨 투명성 확보</a:t>
            </a:r>
            <a:endParaRPr lang="en-US" sz="1125" dirty="0"/>
          </a:p>
        </p:txBody>
      </p:sp>
      <p:sp>
        <p:nvSpPr>
          <p:cNvPr id="44" name="Text 25"/>
          <p:cNvSpPr/>
          <p:nvPr/>
        </p:nvSpPr>
        <p:spPr>
          <a:xfrm>
            <a:off x="5810696" y="6705600"/>
            <a:ext cx="618083" cy="1131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91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617940"/>
            <a:ext cx="268188" cy="23991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059" y="2626519"/>
            <a:ext cx="1706761" cy="128929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1584" y="2660898"/>
            <a:ext cx="1097161" cy="127545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361" y="2599134"/>
            <a:ext cx="1645890" cy="122753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4792" y="2750046"/>
            <a:ext cx="1133773" cy="102170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38125" y="142875"/>
            <a:ext cx="7440930" cy="3690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6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MR lifecycle을 단계별로 읽기</a:t>
            </a:r>
            <a:endParaRPr lang="en-US" sz="2325" dirty="0"/>
          </a:p>
        </p:txBody>
      </p:sp>
      <p:sp>
        <p:nvSpPr>
          <p:cNvPr id="9" name="Text 1"/>
          <p:cNvSpPr/>
          <p:nvPr/>
        </p:nvSpPr>
        <p:spPr>
          <a:xfrm>
            <a:off x="10316021" y="6562725"/>
            <a:ext cx="1665833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73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 OLED</a:t>
            </a:r>
            <a:endParaRPr lang="en-US" sz="1725" dirty="0"/>
          </a:p>
        </p:txBody>
      </p:sp>
      <p:sp>
        <p:nvSpPr>
          <p:cNvPr id="10" name="Text 2"/>
          <p:cNvSpPr/>
          <p:nvPr/>
        </p:nvSpPr>
        <p:spPr>
          <a:xfrm>
            <a:off x="361950" y="742950"/>
            <a:ext cx="569976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 MR 핵심 단계 4단계 요약</a:t>
            </a:r>
            <a:endParaRPr lang="en-US" sz="1650" dirty="0"/>
          </a:p>
        </p:txBody>
      </p:sp>
      <p:sp>
        <p:nvSpPr>
          <p:cNvPr id="11" name="Text 3"/>
          <p:cNvSpPr/>
          <p:nvPr/>
        </p:nvSpPr>
        <p:spPr>
          <a:xfrm>
            <a:off x="1095375" y="1943100"/>
            <a:ext cx="2057400" cy="2838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준비 및 제출</a:t>
            </a:r>
            <a:endParaRPr lang="en-US" sz="1500" dirty="0"/>
          </a:p>
        </p:txBody>
      </p:sp>
      <p:sp>
        <p:nvSpPr>
          <p:cNvPr id="12" name="Text 4"/>
          <p:cNvSpPr/>
          <p:nvPr/>
        </p:nvSpPr>
        <p:spPr>
          <a:xfrm>
            <a:off x="3971925" y="1943100"/>
            <a:ext cx="2057400" cy="2838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검증 및 수정</a:t>
            </a:r>
            <a:endParaRPr lang="en-US" sz="1500" dirty="0"/>
          </a:p>
        </p:txBody>
      </p:sp>
      <p:sp>
        <p:nvSpPr>
          <p:cNvPr id="13" name="Text 5"/>
          <p:cNvSpPr/>
          <p:nvPr/>
        </p:nvSpPr>
        <p:spPr>
          <a:xfrm>
            <a:off x="6981825" y="1943100"/>
            <a:ext cx="1600200" cy="2838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최종 승인</a:t>
            </a:r>
            <a:endParaRPr lang="en-US" sz="1500" dirty="0"/>
          </a:p>
        </p:txBody>
      </p:sp>
      <p:sp>
        <p:nvSpPr>
          <p:cNvPr id="14" name="Text 6"/>
          <p:cNvSpPr/>
          <p:nvPr/>
        </p:nvSpPr>
        <p:spPr>
          <a:xfrm>
            <a:off x="9686925" y="1943100"/>
            <a:ext cx="2057400" cy="2838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병합 및 검증</a:t>
            </a:r>
            <a:endParaRPr lang="en-US" sz="1500" dirty="0"/>
          </a:p>
        </p:txBody>
      </p:sp>
      <p:sp>
        <p:nvSpPr>
          <p:cNvPr id="15" name="Text 7"/>
          <p:cNvSpPr/>
          <p:nvPr/>
        </p:nvSpPr>
        <p:spPr>
          <a:xfrm>
            <a:off x="9216330" y="257175"/>
            <a:ext cx="2975521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CH05 GitLab 프로젝트 구조와 MR</a:t>
            </a:r>
            <a:endParaRPr lang="en-US" sz="1350" dirty="0"/>
          </a:p>
        </p:txBody>
      </p:sp>
      <p:sp>
        <p:nvSpPr>
          <p:cNvPr id="16" name="Text 8"/>
          <p:cNvSpPr/>
          <p:nvPr/>
        </p:nvSpPr>
        <p:spPr>
          <a:xfrm>
            <a:off x="685800" y="4495800"/>
            <a:ext cx="3771900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피처 브랜치 생성 및 작업 커밋 Push</a:t>
            </a:r>
            <a:endParaRPr lang="en-US" sz="1125" dirty="0"/>
          </a:p>
        </p:txBody>
      </p:sp>
      <p:sp>
        <p:nvSpPr>
          <p:cNvPr id="17" name="Text 9"/>
          <p:cNvSpPr/>
          <p:nvPr/>
        </p:nvSpPr>
        <p:spPr>
          <a:xfrm>
            <a:off x="685800" y="4924425"/>
            <a:ext cx="4114800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Merge Request 생성 및 설명 기술</a:t>
            </a:r>
            <a:endParaRPr lang="en-US" sz="1125" dirty="0"/>
          </a:p>
        </p:txBody>
      </p:sp>
      <p:sp>
        <p:nvSpPr>
          <p:cNvPr id="18" name="Text 10"/>
          <p:cNvSpPr/>
          <p:nvPr/>
        </p:nvSpPr>
        <p:spPr>
          <a:xfrm>
            <a:off x="685800" y="5353050"/>
            <a:ext cx="3703320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51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소스/타겟 브랜치, 변경 목적, 테스트 결과 명시</a:t>
            </a:r>
            <a:endParaRPr lang="en-US" sz="900" dirty="0"/>
          </a:p>
        </p:txBody>
      </p:sp>
      <p:sp>
        <p:nvSpPr>
          <p:cNvPr id="19" name="Text 11"/>
          <p:cNvSpPr/>
          <p:nvPr/>
        </p:nvSpPr>
        <p:spPr>
          <a:xfrm>
            <a:off x="3514725" y="4495800"/>
            <a:ext cx="3600450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리뷰어 배정 및 리뷰 코멘트 수렴</a:t>
            </a:r>
            <a:endParaRPr lang="en-US" sz="1125" dirty="0"/>
          </a:p>
        </p:txBody>
      </p:sp>
      <p:sp>
        <p:nvSpPr>
          <p:cNvPr id="20" name="Text 12"/>
          <p:cNvSpPr/>
          <p:nvPr/>
        </p:nvSpPr>
        <p:spPr>
          <a:xfrm>
            <a:off x="3514725" y="4924425"/>
            <a:ext cx="3771900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피드백 반영 후 수정 커밋 추가 Push</a:t>
            </a:r>
            <a:endParaRPr lang="en-US" sz="1125" dirty="0"/>
          </a:p>
        </p:txBody>
      </p:sp>
      <p:sp>
        <p:nvSpPr>
          <p:cNvPr id="21" name="Text 13"/>
          <p:cNvSpPr/>
          <p:nvPr/>
        </p:nvSpPr>
        <p:spPr>
          <a:xfrm>
            <a:off x="3514725" y="5353050"/>
            <a:ext cx="4000500" cy="1852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6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CI 파이프라인 실행 및 성공 조건 충족</a:t>
            </a:r>
            <a:endParaRPr lang="en-US" sz="1050" dirty="0"/>
          </a:p>
        </p:txBody>
      </p:sp>
      <p:sp>
        <p:nvSpPr>
          <p:cNvPr id="22" name="Text 14"/>
          <p:cNvSpPr/>
          <p:nvPr/>
        </p:nvSpPr>
        <p:spPr>
          <a:xfrm>
            <a:off x="6381750" y="4495800"/>
            <a:ext cx="4114800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지정된 Approver의 최종 확인 및 승인</a:t>
            </a:r>
            <a:endParaRPr lang="en-US" sz="1125" dirty="0"/>
          </a:p>
        </p:txBody>
      </p:sp>
      <p:sp>
        <p:nvSpPr>
          <p:cNvPr id="23" name="Text 15"/>
          <p:cNvSpPr/>
          <p:nvPr/>
        </p:nvSpPr>
        <p:spPr>
          <a:xfrm>
            <a:off x="6477000" y="4924425"/>
            <a:ext cx="3943350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정의된 Approval Rule 준수 필수</a:t>
            </a:r>
            <a:endParaRPr lang="en-US" sz="1125" dirty="0"/>
          </a:p>
        </p:txBody>
      </p:sp>
      <p:sp>
        <p:nvSpPr>
          <p:cNvPr id="24" name="Text 16"/>
          <p:cNvSpPr/>
          <p:nvPr/>
        </p:nvSpPr>
        <p:spPr>
          <a:xfrm>
            <a:off x="9220200" y="4495800"/>
            <a:ext cx="2971800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Maintainer에 의한 MR 병합(Merge)</a:t>
            </a:r>
            <a:endParaRPr lang="en-US" sz="1125" dirty="0"/>
          </a:p>
        </p:txBody>
      </p:sp>
      <p:sp>
        <p:nvSpPr>
          <p:cNvPr id="25" name="Text 17"/>
          <p:cNvSpPr/>
          <p:nvPr/>
        </p:nvSpPr>
        <p:spPr>
          <a:xfrm>
            <a:off x="9220200" y="4924425"/>
            <a:ext cx="2971800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병합 후 파이프라인 및 배포 결과 확인</a:t>
            </a:r>
            <a:endParaRPr lang="en-US" sz="1125" dirty="0"/>
          </a:p>
        </p:txBody>
      </p:sp>
      <p:sp>
        <p:nvSpPr>
          <p:cNvPr id="26" name="Text 18"/>
          <p:cNvSpPr/>
          <p:nvPr/>
        </p:nvSpPr>
        <p:spPr>
          <a:xfrm>
            <a:off x="466725" y="6638925"/>
            <a:ext cx="171450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26"/>
              </a:lnSpc>
              <a:buNone/>
            </a:pPr>
            <a:r>
              <a:rPr lang="en-US" sz="1125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96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7953" y="4251871"/>
            <a:ext cx="767953" cy="93255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0157" y="2455069"/>
            <a:ext cx="767953" cy="93255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1765" y="4944517"/>
            <a:ext cx="341263" cy="322213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863" y="4965055"/>
            <a:ext cx="1072753" cy="94639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1765" y="3524994"/>
            <a:ext cx="341263" cy="308521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863" y="3559225"/>
            <a:ext cx="1292275" cy="966936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1765" y="2064246"/>
            <a:ext cx="341263" cy="322213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0863" y="2084784"/>
            <a:ext cx="1292275" cy="1014859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228600" y="142875"/>
            <a:ext cx="544068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MR은 무엇이 다른가</a:t>
            </a:r>
            <a:endParaRPr lang="en-US" sz="2550" dirty="0"/>
          </a:p>
        </p:txBody>
      </p:sp>
      <p:sp>
        <p:nvSpPr>
          <p:cNvPr id="15" name="Text 1"/>
          <p:cNvSpPr/>
          <p:nvPr/>
        </p:nvSpPr>
        <p:spPr>
          <a:xfrm>
            <a:off x="1143000" y="1428750"/>
            <a:ext cx="8915400" cy="3318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13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성공 요소 (Key Success Factors)</a:t>
            </a:r>
            <a:endParaRPr lang="en-US" sz="1950" dirty="0"/>
          </a:p>
        </p:txBody>
      </p:sp>
      <p:sp>
        <p:nvSpPr>
          <p:cNvPr id="16" name="Text 2"/>
          <p:cNvSpPr/>
          <p:nvPr/>
        </p:nvSpPr>
        <p:spPr>
          <a:xfrm>
            <a:off x="7802314" y="1628775"/>
            <a:ext cx="2273498" cy="3318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613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제목 작성</a:t>
            </a:r>
            <a:endParaRPr lang="en-US" sz="1950" dirty="0"/>
          </a:p>
        </p:txBody>
      </p:sp>
      <p:sp>
        <p:nvSpPr>
          <p:cNvPr id="17" name="Text 3"/>
          <p:cNvSpPr/>
          <p:nvPr/>
        </p:nvSpPr>
        <p:spPr>
          <a:xfrm>
            <a:off x="6686550" y="228600"/>
            <a:ext cx="5505450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Ch05: GitLab Structure, Permissions &amp; MR</a:t>
            </a:r>
            <a:endParaRPr lang="en-US" sz="1650" dirty="0"/>
          </a:p>
        </p:txBody>
      </p:sp>
      <p:sp>
        <p:nvSpPr>
          <p:cNvPr id="18" name="Text 4"/>
          <p:cNvSpPr/>
          <p:nvPr/>
        </p:nvSpPr>
        <p:spPr>
          <a:xfrm>
            <a:off x="6869906" y="2038350"/>
            <a:ext cx="4138613" cy="326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제목만으로 변경 목적을 파악 가능해야 함</a:t>
            </a:r>
            <a:endParaRPr lang="en-US" sz="1725" dirty="0"/>
          </a:p>
        </p:txBody>
      </p:sp>
      <p:sp>
        <p:nvSpPr>
          <p:cNvPr id="19" name="Text 5"/>
          <p:cNvSpPr/>
          <p:nvPr/>
        </p:nvSpPr>
        <p:spPr>
          <a:xfrm>
            <a:off x="6996113" y="3486150"/>
            <a:ext cx="3876675" cy="326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범위 분리</a:t>
            </a:r>
            <a:endParaRPr lang="en-US" sz="1725" dirty="0"/>
          </a:p>
        </p:txBody>
      </p:sp>
      <p:sp>
        <p:nvSpPr>
          <p:cNvPr id="20" name="Text 6"/>
          <p:cNvSpPr/>
          <p:nvPr/>
        </p:nvSpPr>
        <p:spPr>
          <a:xfrm>
            <a:off x="6996113" y="3876675"/>
            <a:ext cx="3876675" cy="326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MR에 하나의 목적만 포함할 것</a:t>
            </a:r>
            <a:endParaRPr lang="en-US" sz="1725" dirty="0"/>
          </a:p>
        </p:txBody>
      </p:sp>
      <p:sp>
        <p:nvSpPr>
          <p:cNvPr id="21" name="Text 7"/>
          <p:cNvSpPr/>
          <p:nvPr/>
        </p:nvSpPr>
        <p:spPr>
          <a:xfrm>
            <a:off x="7400330" y="5334000"/>
            <a:ext cx="3153668" cy="326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구체적인 검증 증거 포함</a:t>
            </a:r>
            <a:endParaRPr lang="en-US" sz="1725" dirty="0"/>
          </a:p>
        </p:txBody>
      </p:sp>
      <p:sp>
        <p:nvSpPr>
          <p:cNvPr id="22" name="Text 8"/>
          <p:cNvSpPr/>
          <p:nvPr/>
        </p:nvSpPr>
        <p:spPr>
          <a:xfrm>
            <a:off x="6998940" y="5724525"/>
            <a:ext cx="3813721" cy="326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스크린샷·로그 등 테스트 결과를 첨부</a:t>
            </a:r>
            <a:endParaRPr lang="en-US" sz="1725" dirty="0"/>
          </a:p>
        </p:txBody>
      </p:sp>
      <p:sp>
        <p:nvSpPr>
          <p:cNvPr id="23" name="Text 9"/>
          <p:cNvSpPr/>
          <p:nvPr/>
        </p:nvSpPr>
        <p:spPr>
          <a:xfrm>
            <a:off x="10953750" y="190500"/>
            <a:ext cx="1037183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1275" b="1" dirty="0">
                <a:solidFill>
                  <a:srgbClr val="CB1D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148"/>
              </a:lnSpc>
              <a:buNone/>
            </a:pPr>
            <a:r>
              <a:rPr lang="en-US" sz="1275" b="1" dirty="0">
                <a:solidFill>
                  <a:srgbClr val="CB1D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148"/>
              </a:lnSpc>
              <a:buNone/>
            </a:pPr>
            <a:r>
              <a:rPr lang="en-US" sz="1275" b="1" dirty="0">
                <a:solidFill>
                  <a:srgbClr val="CB1D5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75" dirty="0"/>
          </a:p>
        </p:txBody>
      </p:sp>
      <p:sp>
        <p:nvSpPr>
          <p:cNvPr id="24" name="Text 10"/>
          <p:cNvSpPr/>
          <p:nvPr/>
        </p:nvSpPr>
        <p:spPr>
          <a:xfrm>
            <a:off x="2486025" y="2247900"/>
            <a:ext cx="2263140" cy="3122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59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연결된 이슈 명시</a:t>
            </a:r>
            <a:endParaRPr lang="en-US" sz="1650" dirty="0"/>
          </a:p>
        </p:txBody>
      </p:sp>
      <p:sp>
        <p:nvSpPr>
          <p:cNvPr id="25" name="Text 11"/>
          <p:cNvSpPr/>
          <p:nvPr/>
        </p:nvSpPr>
        <p:spPr>
          <a:xfrm>
            <a:off x="2486025" y="3810000"/>
            <a:ext cx="3268980" cy="3122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59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리뷰 포인트 가이드 제공</a:t>
            </a:r>
            <a:endParaRPr lang="en-US" sz="1650" dirty="0"/>
          </a:p>
        </p:txBody>
      </p:sp>
      <p:sp>
        <p:nvSpPr>
          <p:cNvPr id="26" name="Text 12"/>
          <p:cNvSpPr/>
          <p:nvPr/>
        </p:nvSpPr>
        <p:spPr>
          <a:xfrm>
            <a:off x="2486025" y="5267325"/>
            <a:ext cx="2514600" cy="3122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59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리뷰어 부담 최소화</a:t>
            </a:r>
            <a:endParaRPr lang="en-US" sz="1650" dirty="0"/>
          </a:p>
        </p:txBody>
      </p:sp>
      <p:sp>
        <p:nvSpPr>
          <p:cNvPr id="27" name="Text 13"/>
          <p:cNvSpPr/>
          <p:nvPr/>
        </p:nvSpPr>
        <p:spPr>
          <a:xfrm>
            <a:off x="2486025" y="2619375"/>
            <a:ext cx="2629793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 이슈 번호를 MR 설명에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반드시 링크</a:t>
            </a:r>
            <a:endParaRPr lang="en-US" sz="1500" dirty="0"/>
          </a:p>
        </p:txBody>
      </p:sp>
      <p:sp>
        <p:nvSpPr>
          <p:cNvPr id="28" name="Text 14"/>
          <p:cNvSpPr/>
          <p:nvPr/>
        </p:nvSpPr>
        <p:spPr>
          <a:xfrm>
            <a:off x="2486025" y="4181475"/>
            <a:ext cx="4343400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리뷰어가 집중할 부분을 명확히 안내</a:t>
            </a:r>
            <a:endParaRPr lang="en-US" sz="1500" dirty="0"/>
          </a:p>
        </p:txBody>
      </p:sp>
      <p:sp>
        <p:nvSpPr>
          <p:cNvPr id="29" name="Text 15"/>
          <p:cNvSpPr/>
          <p:nvPr/>
        </p:nvSpPr>
        <p:spPr>
          <a:xfrm>
            <a:off x="2486025" y="5610225"/>
            <a:ext cx="4572000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과도한 변경량은 리뷰 품질을 저하시킴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9017"/>
            <a:ext cx="280392" cy="178296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19198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2573" y="4498777"/>
            <a:ext cx="597396" cy="73372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8086" y="3415159"/>
            <a:ext cx="1072753" cy="98062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8792" y="2420838"/>
            <a:ext cx="767953" cy="8160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4996" y="4512469"/>
            <a:ext cx="1011882" cy="767953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4996" y="3504307"/>
            <a:ext cx="1036290" cy="870942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4996" y="2441377"/>
            <a:ext cx="1011882" cy="884634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285750" y="142875"/>
            <a:ext cx="11906250" cy="3634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61"/>
              </a:lnSpc>
              <a:buNone/>
            </a:pPr>
            <a:r>
              <a:rPr lang="en-US" sz="26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reviewer와 approver를 왜 구분해야 하는가</a:t>
            </a:r>
            <a:endParaRPr lang="en-US" sz="2625" dirty="0"/>
          </a:p>
        </p:txBody>
      </p:sp>
      <p:sp>
        <p:nvSpPr>
          <p:cNvPr id="13" name="Text 1"/>
          <p:cNvSpPr/>
          <p:nvPr/>
        </p:nvSpPr>
        <p:spPr>
          <a:xfrm>
            <a:off x="914400" y="2362200"/>
            <a:ext cx="3436590" cy="9135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기술 검토 &amp; 품질 확보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스타일, 로직 오류, 성능 등을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면밀히 검토하여 개선 의견 제시.</a:t>
            </a:r>
            <a:endParaRPr lang="en-US" sz="1725" dirty="0"/>
          </a:p>
        </p:txBody>
      </p:sp>
      <p:sp>
        <p:nvSpPr>
          <p:cNvPr id="14" name="Text 2"/>
          <p:cNvSpPr/>
          <p:nvPr/>
        </p:nvSpPr>
        <p:spPr>
          <a:xfrm>
            <a:off x="914400" y="3486150"/>
            <a:ext cx="1728788" cy="4424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61"/>
              </a:lnSpc>
              <a:buNone/>
            </a:pPr>
            <a:r>
              <a:rPr lang="en-US" sz="9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구현 방식 평가</a:t>
            </a:r>
            <a:pPr indent="0" marL="0">
              <a:lnSpc>
                <a:spcPts val="1161"/>
              </a:lnSpc>
              <a:buNone/>
            </a:pPr>
            <a:r>
              <a:rPr lang="en-US" sz="9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161"/>
              </a:lnSpc>
              <a:buNone/>
            </a:pPr>
            <a:r>
              <a:rPr lang="en-US" sz="9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구현이 "어떻게" 최선으로</a:t>
            </a:r>
            <a:pPr indent="0" marL="0">
              <a:lnSpc>
                <a:spcPts val="1161"/>
              </a:lnSpc>
              <a:buNone/>
            </a:pPr>
            <a:r>
              <a:rPr lang="en-US" sz="9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161"/>
              </a:lnSpc>
              <a:buNone/>
            </a:pPr>
            <a:r>
              <a:rPr lang="en-US" sz="9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이루어질 것인가를 고민.</a:t>
            </a:r>
            <a:endParaRPr lang="en-US" sz="900" dirty="0"/>
          </a:p>
        </p:txBody>
      </p:sp>
      <p:sp>
        <p:nvSpPr>
          <p:cNvPr id="15" name="Text 3"/>
          <p:cNvSpPr/>
          <p:nvPr/>
        </p:nvSpPr>
        <p:spPr>
          <a:xfrm>
            <a:off x="914400" y="4600575"/>
            <a:ext cx="2252663" cy="58980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48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지식 공유 &amp; 피드백</a:t>
            </a:r>
            <a:pPr indent="0" marL="0">
              <a:lnSpc>
                <a:spcPts val="1548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48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변경 요점 및 기술적 피드백</a:t>
            </a:r>
            <a:pPr indent="0" marL="0">
              <a:lnSpc>
                <a:spcPts val="1548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48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전달로 코드 품질 향상.</a:t>
            </a:r>
            <a:endParaRPr lang="en-US" sz="1200" dirty="0"/>
          </a:p>
        </p:txBody>
      </p:sp>
      <p:sp>
        <p:nvSpPr>
          <p:cNvPr id="16" name="Text 4"/>
          <p:cNvSpPr/>
          <p:nvPr/>
        </p:nvSpPr>
        <p:spPr>
          <a:xfrm>
            <a:off x="6934200" y="2362200"/>
            <a:ext cx="3457575" cy="9135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운영 위험 &amp; 정책 확인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보안, 컴플라이언스, 배포 영향 등을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종합적으로 평가.</a:t>
            </a:r>
            <a:endParaRPr lang="en-US" sz="1725" dirty="0"/>
          </a:p>
        </p:txBody>
      </p:sp>
      <p:sp>
        <p:nvSpPr>
          <p:cNvPr id="17" name="Text 5"/>
          <p:cNvSpPr/>
          <p:nvPr/>
        </p:nvSpPr>
        <p:spPr>
          <a:xfrm>
            <a:off x="6934200" y="3486150"/>
            <a:ext cx="1582043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968"/>
              </a:lnSpc>
              <a:buNone/>
            </a:pPr>
            <a:r>
              <a:rPr lang="en-US" sz="7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최종 방합 결정</a:t>
            </a:r>
            <a:pPr indent="0" marL="0">
              <a:lnSpc>
                <a:spcPts val="968"/>
              </a:lnSpc>
              <a:buNone/>
            </a:pPr>
            <a:r>
              <a:rPr lang="en-US" sz="7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968"/>
              </a:lnSpc>
              <a:buNone/>
            </a:pPr>
            <a:r>
              <a:rPr lang="en-US" sz="7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사항을 운영 환경에 "반영해도</a:t>
            </a:r>
            <a:pPr indent="0" marL="0">
              <a:lnSpc>
                <a:spcPts val="968"/>
              </a:lnSpc>
              <a:buNone/>
            </a:pPr>
            <a:r>
              <a:rPr lang="en-US" sz="7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968"/>
              </a:lnSpc>
              <a:buNone/>
            </a:pPr>
            <a:r>
              <a:rPr lang="en-US" sz="7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되는가"를 기준으로 결정.</a:t>
            </a:r>
            <a:endParaRPr lang="en-US" sz="750" dirty="0"/>
          </a:p>
        </p:txBody>
      </p:sp>
      <p:sp>
        <p:nvSpPr>
          <p:cNvPr id="18" name="Text 6"/>
          <p:cNvSpPr/>
          <p:nvPr/>
        </p:nvSpPr>
        <p:spPr>
          <a:xfrm>
            <a:off x="6934200" y="4600575"/>
            <a:ext cx="1843980" cy="3687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968"/>
              </a:lnSpc>
              <a:buNone/>
            </a:pPr>
            <a:r>
              <a:rPr lang="en-US" sz="7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승인 책임 명확화</a:t>
            </a:r>
            <a:pPr indent="0" marL="0">
              <a:lnSpc>
                <a:spcPts val="968"/>
              </a:lnSpc>
              <a:buNone/>
            </a:pPr>
            <a:r>
              <a:rPr lang="en-US" sz="7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968"/>
              </a:lnSpc>
              <a:buNone/>
            </a:pPr>
            <a:r>
              <a:rPr lang="en-US" sz="7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감사(audit) 기록 확보를 위해 승인</a:t>
            </a:r>
            <a:pPr indent="0" marL="0">
              <a:lnSpc>
                <a:spcPts val="968"/>
              </a:lnSpc>
              <a:buNone/>
            </a:pPr>
            <a:r>
              <a:rPr lang="en-US" sz="7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968"/>
              </a:lnSpc>
              <a:buNone/>
            </a:pPr>
            <a:r>
              <a:rPr lang="en-US" sz="7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주체를 명확히 정의하여 책임 소재 규명.</a:t>
            </a:r>
            <a:endParaRPr lang="en-US" sz="750" dirty="0"/>
          </a:p>
        </p:txBody>
      </p:sp>
      <p:sp>
        <p:nvSpPr>
          <p:cNvPr id="19" name="Text 7"/>
          <p:cNvSpPr/>
          <p:nvPr/>
        </p:nvSpPr>
        <p:spPr>
          <a:xfrm>
            <a:off x="10896600" y="161925"/>
            <a:ext cx="1089571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E639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E639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E639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00" dirty="0"/>
          </a:p>
        </p:txBody>
      </p:sp>
      <p:sp>
        <p:nvSpPr>
          <p:cNvPr id="20" name="Text 8"/>
          <p:cNvSpPr/>
          <p:nvPr/>
        </p:nvSpPr>
        <p:spPr>
          <a:xfrm>
            <a:off x="2640806" y="1752600"/>
            <a:ext cx="576263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리뷰어</a:t>
            </a:r>
            <a:endParaRPr lang="en-US" sz="1500" dirty="0"/>
          </a:p>
        </p:txBody>
      </p:sp>
      <p:sp>
        <p:nvSpPr>
          <p:cNvPr id="21" name="Text 9"/>
          <p:cNvSpPr/>
          <p:nvPr/>
        </p:nvSpPr>
        <p:spPr>
          <a:xfrm>
            <a:off x="8774906" y="1752600"/>
            <a:ext cx="576263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승인자</a:t>
            </a:r>
            <a:endParaRPr lang="en-US" sz="1500" dirty="0"/>
          </a:p>
        </p:txBody>
      </p:sp>
      <p:sp>
        <p:nvSpPr>
          <p:cNvPr id="22" name="Text 10"/>
          <p:cNvSpPr/>
          <p:nvPr/>
        </p:nvSpPr>
        <p:spPr>
          <a:xfrm>
            <a:off x="2044452" y="6296025"/>
            <a:ext cx="8245673" cy="1966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 MR 생성 화면에서 Reviewer와 Approver를 별도로 지정하여 체계적인 코드 검토 프로세스를 운영합니다.</a:t>
            </a:r>
            <a:endParaRPr lang="en-US" sz="1200" dirty="0"/>
          </a:p>
        </p:txBody>
      </p:sp>
      <p:sp>
        <p:nvSpPr>
          <p:cNvPr id="23" name="Text 11"/>
          <p:cNvSpPr/>
          <p:nvPr/>
        </p:nvSpPr>
        <p:spPr>
          <a:xfrm>
            <a:off x="495300" y="6638925"/>
            <a:ext cx="1714500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  <p:sp>
        <p:nvSpPr>
          <p:cNvPr id="24" name="Text 12"/>
          <p:cNvSpPr/>
          <p:nvPr/>
        </p:nvSpPr>
        <p:spPr>
          <a:xfrm>
            <a:off x="5876925" y="6705600"/>
            <a:ext cx="419100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99"/>
              </a:lnSpc>
              <a:buNone/>
            </a:pPr>
            <a:r>
              <a:rPr lang="en-US" sz="8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80392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8361" y="5774382"/>
            <a:ext cx="353467" cy="46627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671" y="1515517"/>
            <a:ext cx="816769" cy="78864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6792" y="1515517"/>
            <a:ext cx="633859" cy="78179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0" y="1563588"/>
            <a:ext cx="853380" cy="678805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85750" y="142875"/>
            <a:ext cx="1126998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000000"/>
                </a:solidFill>
              </a:rPr>
              <a:t>Wiki, repo docs, Pages의 용도 구분</a:t>
            </a:r>
            <a:endParaRPr lang="en-US" sz="2550" dirty="0"/>
          </a:p>
        </p:txBody>
      </p:sp>
      <p:sp>
        <p:nvSpPr>
          <p:cNvPr id="11" name="Text 1"/>
          <p:cNvSpPr/>
          <p:nvPr/>
        </p:nvSpPr>
        <p:spPr>
          <a:xfrm>
            <a:off x="361950" y="742950"/>
            <a:ext cx="768096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000000"/>
                </a:solidFill>
              </a:rPr>
              <a:t>GitLab 문서화 채널별 역할과 선택 기준</a:t>
            </a:r>
            <a:endParaRPr lang="en-US" sz="2100" dirty="0"/>
          </a:p>
        </p:txBody>
      </p:sp>
      <p:sp>
        <p:nvSpPr>
          <p:cNvPr id="12" name="Text 2"/>
          <p:cNvSpPr/>
          <p:nvPr/>
        </p:nvSpPr>
        <p:spPr>
          <a:xfrm>
            <a:off x="922883" y="2495550"/>
            <a:ext cx="2744986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</a:rPr>
              <a:t>Wiki (팀 운영 지식베이스)</a:t>
            </a:r>
            <a:endParaRPr lang="en-US" sz="1950" dirty="0"/>
          </a:p>
        </p:txBody>
      </p:sp>
      <p:sp>
        <p:nvSpPr>
          <p:cNvPr id="13" name="Text 3"/>
          <p:cNvSpPr/>
          <p:nvPr/>
        </p:nvSpPr>
        <p:spPr>
          <a:xfrm>
            <a:off x="4260503" y="2495550"/>
            <a:ext cx="3708946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</a:rPr>
              <a:t>Repo Docs (코드 버전 연동 문서)</a:t>
            </a:r>
            <a:endParaRPr lang="en-US" sz="1950" dirty="0"/>
          </a:p>
        </p:txBody>
      </p:sp>
      <p:sp>
        <p:nvSpPr>
          <p:cNvPr id="14" name="Text 4"/>
          <p:cNvSpPr/>
          <p:nvPr/>
        </p:nvSpPr>
        <p:spPr>
          <a:xfrm>
            <a:off x="8268146" y="2495550"/>
            <a:ext cx="3342233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</a:rPr>
              <a:t>Pages (정적 사이트 외부 배포)</a:t>
            </a:r>
            <a:endParaRPr lang="en-US" sz="1950" dirty="0"/>
          </a:p>
        </p:txBody>
      </p:sp>
      <p:sp>
        <p:nvSpPr>
          <p:cNvPr id="15" name="Text 5"/>
          <p:cNvSpPr/>
          <p:nvPr/>
        </p:nvSpPr>
        <p:spPr>
          <a:xfrm>
            <a:off x="1057275" y="6000750"/>
            <a:ext cx="314325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80"/>
              </a:lnSpc>
              <a:buNone/>
            </a:pPr>
            <a:r>
              <a:rPr lang="en-US" sz="1725" b="1" dirty="0">
                <a:solidFill>
                  <a:srgbClr val="000000"/>
                </a:solidFill>
              </a:rPr>
              <a:t>핵심 선택 기준: 리뷰 필요 여부</a:t>
            </a:r>
            <a:endParaRPr lang="en-US" sz="1725" dirty="0"/>
          </a:p>
        </p:txBody>
      </p:sp>
      <p:sp>
        <p:nvSpPr>
          <p:cNvPr id="16" name="Text 6"/>
          <p:cNvSpPr/>
          <p:nvPr/>
        </p:nvSpPr>
        <p:spPr>
          <a:xfrm>
            <a:off x="771525" y="2971800"/>
            <a:ext cx="3321248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팀 운영 가이드, 온보딩, Runbook 등</a:t>
            </a:r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코드와 분리된 문서 관리</a:t>
            </a:r>
            <a:endParaRPr lang="en-US" sz="1725" dirty="0"/>
          </a:p>
        </p:txBody>
      </p:sp>
      <p:sp>
        <p:nvSpPr>
          <p:cNvPr id="17" name="Text 7"/>
          <p:cNvSpPr/>
          <p:nvPr/>
        </p:nvSpPr>
        <p:spPr>
          <a:xfrm>
            <a:off x="771525" y="3571875"/>
            <a:ext cx="3090863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빠른 수정 및 조회 가능, 협업 지식</a:t>
            </a:r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저장소</a:t>
            </a:r>
            <a:endParaRPr lang="en-US" sz="1725" dirty="0"/>
          </a:p>
        </p:txBody>
      </p:sp>
      <p:sp>
        <p:nvSpPr>
          <p:cNvPr id="18" name="Text 8"/>
          <p:cNvSpPr/>
          <p:nvPr/>
        </p:nvSpPr>
        <p:spPr>
          <a:xfrm>
            <a:off x="771525" y="4171950"/>
            <a:ext cx="657225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예) 팀 규칙, 회의록, 긴급 조치 가이드</a:t>
            </a:r>
            <a:endParaRPr lang="en-US" sz="1725" dirty="0"/>
          </a:p>
        </p:txBody>
      </p:sp>
      <p:sp>
        <p:nvSpPr>
          <p:cNvPr id="19" name="Text 9"/>
          <p:cNvSpPr/>
          <p:nvPr/>
        </p:nvSpPr>
        <p:spPr>
          <a:xfrm>
            <a:off x="4619625" y="2971800"/>
            <a:ext cx="3520380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API 명세, 설계 문서 등 메인 리포지토리</a:t>
            </a:r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내에서 코드와 함께 버전 관리</a:t>
            </a:r>
            <a:endParaRPr lang="en-US" sz="1725" dirty="0"/>
          </a:p>
        </p:txBody>
      </p:sp>
      <p:sp>
        <p:nvSpPr>
          <p:cNvPr id="20" name="Text 10"/>
          <p:cNvSpPr/>
          <p:nvPr/>
        </p:nvSpPr>
        <p:spPr>
          <a:xfrm>
            <a:off x="4619625" y="3571875"/>
            <a:ext cx="3562350" cy="516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Merge Request (MR) 프로세스 내에서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코드와 통합 리뷰 필수</a:t>
            </a:r>
            <a:endParaRPr lang="en-US" sz="1575" dirty="0"/>
          </a:p>
        </p:txBody>
      </p:sp>
      <p:sp>
        <p:nvSpPr>
          <p:cNvPr id="21" name="Text 11"/>
          <p:cNvSpPr/>
          <p:nvPr/>
        </p:nvSpPr>
        <p:spPr>
          <a:xfrm>
            <a:off x="4619625" y="4171950"/>
            <a:ext cx="525780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예) API 문서, 아키텍처 설계</a:t>
            </a:r>
            <a:endParaRPr lang="en-US" sz="1725" dirty="0"/>
          </a:p>
        </p:txBody>
      </p:sp>
      <p:sp>
        <p:nvSpPr>
          <p:cNvPr id="22" name="Text 12"/>
          <p:cNvSpPr/>
          <p:nvPr/>
        </p:nvSpPr>
        <p:spPr>
          <a:xfrm>
            <a:off x="8477250" y="2971800"/>
            <a:ext cx="3530798" cy="84787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CI/CD 파이프라인으로 빌드된 산출물을</a:t>
            </a:r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외부에 공개할 때 사용하는 정적 배포</a:t>
            </a:r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채널</a:t>
            </a:r>
            <a:endParaRPr lang="en-US" sz="1725" dirty="0"/>
          </a:p>
        </p:txBody>
      </p:sp>
      <p:sp>
        <p:nvSpPr>
          <p:cNvPr id="23" name="Text 13"/>
          <p:cNvSpPr/>
          <p:nvPr/>
        </p:nvSpPr>
        <p:spPr>
          <a:xfrm>
            <a:off x="8477250" y="3810000"/>
            <a:ext cx="371475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웹사이트 형태로 배포 및 접근 가능</a:t>
            </a:r>
            <a:endParaRPr lang="en-US" sz="1725" dirty="0"/>
          </a:p>
        </p:txBody>
      </p:sp>
      <p:sp>
        <p:nvSpPr>
          <p:cNvPr id="24" name="Text 14"/>
          <p:cNvSpPr/>
          <p:nvPr/>
        </p:nvSpPr>
        <p:spPr>
          <a:xfrm>
            <a:off x="8477250" y="4171950"/>
            <a:ext cx="371475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• 예) 제품 설명서, 기술 블로그</a:t>
            </a:r>
            <a:endParaRPr lang="en-US" sz="1725" dirty="0"/>
          </a:p>
        </p:txBody>
      </p:sp>
      <p:sp>
        <p:nvSpPr>
          <p:cNvPr id="25" name="Text 15"/>
          <p:cNvSpPr/>
          <p:nvPr/>
        </p:nvSpPr>
        <p:spPr>
          <a:xfrm>
            <a:off x="7296150" y="5781675"/>
            <a:ext cx="4895850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예 -&gt; Repo Docs 채널 (MR을 통한 코드&amp;문서 통합 리뷰)</a:t>
            </a:r>
            <a:endParaRPr lang="en-US" sz="1500" dirty="0"/>
          </a:p>
        </p:txBody>
      </p:sp>
      <p:sp>
        <p:nvSpPr>
          <p:cNvPr id="26" name="Text 16"/>
          <p:cNvSpPr/>
          <p:nvPr/>
        </p:nvSpPr>
        <p:spPr>
          <a:xfrm>
            <a:off x="7296150" y="6210300"/>
            <a:ext cx="4895850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아니오 -&gt; Wiki 채널 (단독 수정 및 조회)</a:t>
            </a:r>
            <a:endParaRPr lang="en-US" sz="1500" dirty="0"/>
          </a:p>
        </p:txBody>
      </p:sp>
      <p:sp>
        <p:nvSpPr>
          <p:cNvPr id="27" name="Text 17"/>
          <p:cNvSpPr/>
          <p:nvPr/>
        </p:nvSpPr>
        <p:spPr>
          <a:xfrm>
            <a:off x="9142958" y="742950"/>
            <a:ext cx="3048893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CH05. GitLab 프로젝트 구조 및 권한</a:t>
            </a:r>
            <a:endParaRPr lang="en-US" sz="1500" dirty="0"/>
          </a:p>
        </p:txBody>
      </p:sp>
      <p:sp>
        <p:nvSpPr>
          <p:cNvPr id="28" name="Text 18"/>
          <p:cNvSpPr/>
          <p:nvPr/>
        </p:nvSpPr>
        <p:spPr>
          <a:xfrm>
            <a:off x="1023342" y="4857750"/>
            <a:ext cx="2629793" cy="4765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7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*주의: 코드 종속 문서 보관 시 버전</a:t>
            </a:r>
            <a:pPr algn="ctr" indent="0" marL="0">
              <a:lnSpc>
                <a:spcPts val="1877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algn="ctr" indent="0" marL="0">
              <a:lnSpc>
                <a:spcPts val="1877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버전 불일치 위험 발생*</a:t>
            </a:r>
            <a:endParaRPr lang="en-US" sz="1350" dirty="0"/>
          </a:p>
        </p:txBody>
      </p:sp>
      <p:sp>
        <p:nvSpPr>
          <p:cNvPr id="29" name="Text 19"/>
          <p:cNvSpPr/>
          <p:nvPr/>
        </p:nvSpPr>
        <p:spPr>
          <a:xfrm>
            <a:off x="4467225" y="4953000"/>
            <a:ext cx="3352800" cy="23827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7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*코드 변경과 함께 리뷰가 필요한 경우 사용*</a:t>
            </a:r>
            <a:endParaRPr lang="en-US" sz="1350" dirty="0"/>
          </a:p>
        </p:txBody>
      </p:sp>
      <p:sp>
        <p:nvSpPr>
          <p:cNvPr id="30" name="Text 20"/>
          <p:cNvSpPr/>
          <p:nvPr/>
        </p:nvSpPr>
        <p:spPr>
          <a:xfrm>
            <a:off x="9496425" y="190500"/>
            <a:ext cx="2556421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B5001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You Dream,</a:t>
            </a:r>
            <a:pPr algn="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B5001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algn="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B5001D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We Display.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9017"/>
            <a:ext cx="292596" cy="18514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17940"/>
            <a:ext cx="255984" cy="23991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584" y="4958209"/>
            <a:ext cx="353467" cy="41820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584" y="3950196"/>
            <a:ext cx="353467" cy="411361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5584" y="3209479"/>
            <a:ext cx="353467" cy="23306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7788" y="2948880"/>
            <a:ext cx="316855" cy="23991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5279" y="5294263"/>
            <a:ext cx="353467" cy="294829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7569" y="5273725"/>
            <a:ext cx="255984" cy="329059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30180" y="3394621"/>
            <a:ext cx="1877467" cy="1446907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59" y="4889748"/>
            <a:ext cx="560784" cy="596503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8659" y="3922663"/>
            <a:ext cx="560784" cy="582811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3067" y="2962573"/>
            <a:ext cx="487561" cy="54858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285750" y="171450"/>
            <a:ext cx="8549640" cy="3594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31"/>
              </a:lnSpc>
              <a:buNone/>
            </a:pPr>
            <a:r>
              <a:rPr lang="en-US" sz="255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 Wiki 운영 예제와 주의점</a:t>
            </a:r>
            <a:endParaRPr lang="en-US" sz="2550" dirty="0"/>
          </a:p>
        </p:txBody>
      </p:sp>
      <p:sp>
        <p:nvSpPr>
          <p:cNvPr id="17" name="Text 1"/>
          <p:cNvSpPr/>
          <p:nvPr/>
        </p:nvSpPr>
        <p:spPr>
          <a:xfrm>
            <a:off x="352425" y="762000"/>
            <a:ext cx="3291840" cy="2972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활용과 관리 전략</a:t>
            </a:r>
            <a:endParaRPr lang="en-US" sz="1800" dirty="0"/>
          </a:p>
        </p:txBody>
      </p:sp>
      <p:sp>
        <p:nvSpPr>
          <p:cNvPr id="18" name="Text 2"/>
          <p:cNvSpPr/>
          <p:nvPr/>
        </p:nvSpPr>
        <p:spPr>
          <a:xfrm>
            <a:off x="1752600" y="2971800"/>
            <a:ext cx="2160270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FAQ 문서 관리</a:t>
            </a:r>
            <a:endParaRPr lang="en-US" sz="1575" dirty="0"/>
          </a:p>
        </p:txBody>
      </p:sp>
      <p:sp>
        <p:nvSpPr>
          <p:cNvPr id="19" name="Text 3"/>
          <p:cNvSpPr/>
          <p:nvPr/>
        </p:nvSpPr>
        <p:spPr>
          <a:xfrm>
            <a:off x="1752600" y="3962400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Runbook(런북) 작성</a:t>
            </a:r>
            <a:endParaRPr lang="en-US" sz="1500" dirty="0"/>
          </a:p>
        </p:txBody>
      </p:sp>
      <p:sp>
        <p:nvSpPr>
          <p:cNvPr id="20" name="Text 4"/>
          <p:cNvSpPr/>
          <p:nvPr/>
        </p:nvSpPr>
        <p:spPr>
          <a:xfrm>
            <a:off x="1752600" y="4953000"/>
            <a:ext cx="2160270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온보딩 가이드</a:t>
            </a:r>
            <a:endParaRPr lang="en-US" sz="1575" dirty="0"/>
          </a:p>
        </p:txBody>
      </p:sp>
      <p:sp>
        <p:nvSpPr>
          <p:cNvPr id="21" name="Text 5"/>
          <p:cNvSpPr/>
          <p:nvPr/>
        </p:nvSpPr>
        <p:spPr>
          <a:xfrm>
            <a:off x="9001125" y="2971800"/>
            <a:ext cx="22860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비동기화 주의</a:t>
            </a:r>
            <a:endParaRPr lang="en-US" sz="1500" dirty="0"/>
          </a:p>
        </p:txBody>
      </p:sp>
      <p:sp>
        <p:nvSpPr>
          <p:cNvPr id="22" name="Text 6"/>
          <p:cNvSpPr/>
          <p:nvPr/>
        </p:nvSpPr>
        <p:spPr>
          <a:xfrm>
            <a:off x="9001125" y="3962400"/>
            <a:ext cx="192024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갱신 책임 지정</a:t>
            </a:r>
            <a:endParaRPr lang="en-US" sz="1575" dirty="0"/>
          </a:p>
        </p:txBody>
      </p:sp>
      <p:sp>
        <p:nvSpPr>
          <p:cNvPr id="23" name="Text 7"/>
          <p:cNvSpPr/>
          <p:nvPr/>
        </p:nvSpPr>
        <p:spPr>
          <a:xfrm>
            <a:off x="9001125" y="4953000"/>
            <a:ext cx="31908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Wiki vs 저장소 문서 구분 원칙</a:t>
            </a:r>
            <a:endParaRPr lang="en-US" sz="1575" dirty="0"/>
          </a:p>
        </p:txBody>
      </p:sp>
      <p:sp>
        <p:nvSpPr>
          <p:cNvPr id="24" name="Text 8"/>
          <p:cNvSpPr/>
          <p:nvPr/>
        </p:nvSpPr>
        <p:spPr>
          <a:xfrm>
            <a:off x="3558927" y="2343150"/>
            <a:ext cx="1749623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39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예시 &amp; 관리 전략</a:t>
            </a:r>
            <a:endParaRPr lang="en-US" sz="1425" dirty="0"/>
          </a:p>
        </p:txBody>
      </p:sp>
      <p:sp>
        <p:nvSpPr>
          <p:cNvPr id="25" name="Text 9"/>
          <p:cNvSpPr/>
          <p:nvPr/>
        </p:nvSpPr>
        <p:spPr>
          <a:xfrm>
            <a:off x="9363075" y="2343150"/>
            <a:ext cx="1466850" cy="1748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77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주의점 &amp; 구분 원칙</a:t>
            </a:r>
            <a:endParaRPr lang="en-US" sz="1275" dirty="0"/>
          </a:p>
        </p:txBody>
      </p:sp>
      <p:sp>
        <p:nvSpPr>
          <p:cNvPr id="26" name="Text 10"/>
          <p:cNvSpPr/>
          <p:nvPr/>
        </p:nvSpPr>
        <p:spPr>
          <a:xfrm>
            <a:off x="1752600" y="3276600"/>
            <a:ext cx="6629400" cy="21148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65"/>
              </a:lnSpc>
              <a:buNone/>
            </a:pPr>
            <a:r>
              <a:rPr lang="en-US" sz="15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묻는 질문을 Wiki에 축적하여 팀 지식 자산화</a:t>
            </a:r>
            <a:endParaRPr lang="en-US" sz="1500" dirty="0"/>
          </a:p>
        </p:txBody>
      </p:sp>
      <p:sp>
        <p:nvSpPr>
          <p:cNvPr id="27" name="Text 11"/>
          <p:cNvSpPr/>
          <p:nvPr/>
        </p:nvSpPr>
        <p:spPr>
          <a:xfrm>
            <a:off x="1752600" y="4267200"/>
            <a:ext cx="5943600" cy="21148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65"/>
              </a:lnSpc>
              <a:buNone/>
            </a:pPr>
            <a:r>
              <a:rPr lang="en-US" sz="15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장애 대응 절차와 비상 연락망을 Wiki에 명시</a:t>
            </a:r>
            <a:endParaRPr lang="en-US" sz="1500" dirty="0"/>
          </a:p>
        </p:txBody>
      </p:sp>
      <p:sp>
        <p:nvSpPr>
          <p:cNvPr id="28" name="Text 12"/>
          <p:cNvSpPr/>
          <p:nvPr/>
        </p:nvSpPr>
        <p:spPr>
          <a:xfrm>
            <a:off x="1752600" y="5257800"/>
            <a:ext cx="5029200" cy="21148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65"/>
              </a:lnSpc>
              <a:buNone/>
            </a:pPr>
            <a:r>
              <a:rPr lang="en-US" sz="15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인력 교육 및 초기 설정 절차 안내</a:t>
            </a:r>
            <a:endParaRPr lang="en-US" sz="1500" dirty="0"/>
          </a:p>
        </p:txBody>
      </p:sp>
      <p:sp>
        <p:nvSpPr>
          <p:cNvPr id="29" name="Text 13"/>
          <p:cNvSpPr/>
          <p:nvPr/>
        </p:nvSpPr>
        <p:spPr>
          <a:xfrm>
            <a:off x="9001125" y="3228975"/>
            <a:ext cx="2839343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82"/>
              </a:lnSpc>
              <a:buNone/>
            </a:pPr>
            <a:r>
              <a:rPr lang="en-US" sz="14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변경 시 Wiki 문서 미갱신으로</a:t>
            </a:r>
            <a:pPr indent="0" marL="0">
              <a:lnSpc>
                <a:spcPts val="1582"/>
              </a:lnSpc>
              <a:buNone/>
            </a:pPr>
            <a:r>
              <a:rPr lang="en-US" sz="14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82"/>
              </a:lnSpc>
              <a:buNone/>
            </a:pPr>
            <a:r>
              <a:rPr lang="en-US" sz="14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괴리 발생 가능</a:t>
            </a:r>
            <a:endParaRPr lang="en-US" sz="1425" dirty="0"/>
          </a:p>
        </p:txBody>
      </p:sp>
      <p:sp>
        <p:nvSpPr>
          <p:cNvPr id="30" name="Text 14"/>
          <p:cNvSpPr/>
          <p:nvPr/>
        </p:nvSpPr>
        <p:spPr>
          <a:xfrm>
            <a:off x="9001125" y="4219575"/>
            <a:ext cx="2105918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82"/>
              </a:lnSpc>
              <a:buNone/>
            </a:pPr>
            <a:r>
              <a:rPr lang="en-US" sz="14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담당자를 명시하여 최신화</a:t>
            </a:r>
            <a:pPr indent="0" marL="0">
              <a:lnSpc>
                <a:spcPts val="1582"/>
              </a:lnSpc>
              <a:buNone/>
            </a:pPr>
            <a:r>
              <a:rPr lang="en-US" sz="14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82"/>
              </a:lnSpc>
              <a:buNone/>
            </a:pPr>
            <a:r>
              <a:rPr lang="en-US" sz="14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책임을 명확히 부여</a:t>
            </a:r>
            <a:endParaRPr lang="en-US" sz="1425" dirty="0"/>
          </a:p>
        </p:txBody>
      </p:sp>
      <p:sp>
        <p:nvSpPr>
          <p:cNvPr id="31" name="Text 15"/>
          <p:cNvSpPr/>
          <p:nvPr/>
        </p:nvSpPr>
        <p:spPr>
          <a:xfrm>
            <a:off x="9001125" y="5219700"/>
            <a:ext cx="2954536" cy="4229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65"/>
              </a:lnSpc>
              <a:buNone/>
            </a:pPr>
            <a:r>
              <a:rPr lang="en-US" sz="15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코드와 생명주기를 같이하는 문서는</a:t>
            </a:r>
            <a:pPr indent="0" marL="0">
              <a:lnSpc>
                <a:spcPts val="1665"/>
              </a:lnSpc>
              <a:buNone/>
            </a:pPr>
            <a:r>
              <a:rPr lang="en-US" sz="15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65"/>
              </a:lnSpc>
              <a:buNone/>
            </a:pPr>
            <a:r>
              <a:rPr lang="en-US" sz="15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docs/ 폴더에 관리</a:t>
            </a:r>
            <a:endParaRPr lang="en-US" sz="1500" dirty="0"/>
          </a:p>
        </p:txBody>
      </p:sp>
      <p:sp>
        <p:nvSpPr>
          <p:cNvPr id="32" name="Text 16"/>
          <p:cNvSpPr/>
          <p:nvPr/>
        </p:nvSpPr>
        <p:spPr>
          <a:xfrm>
            <a:off x="10410825" y="295275"/>
            <a:ext cx="1603028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499"/>
              </a:lnSpc>
              <a:buNone/>
            </a:pPr>
            <a:r>
              <a:rPr lang="en-US" sz="1350" b="1" dirty="0">
                <a:solidFill>
                  <a:srgbClr val="D904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499"/>
              </a:lnSpc>
              <a:buNone/>
            </a:pPr>
            <a:r>
              <a:rPr lang="en-US" sz="1350" b="1" dirty="0">
                <a:solidFill>
                  <a:srgbClr val="D904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499"/>
              </a:lnSpc>
              <a:buNone/>
            </a:pPr>
            <a:r>
              <a:rPr lang="en-US" sz="1350" b="1" dirty="0">
                <a:solidFill>
                  <a:srgbClr val="D904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350" dirty="0"/>
          </a:p>
        </p:txBody>
      </p:sp>
      <p:sp>
        <p:nvSpPr>
          <p:cNvPr id="33" name="Text 17"/>
          <p:cNvSpPr/>
          <p:nvPr/>
        </p:nvSpPr>
        <p:spPr>
          <a:xfrm>
            <a:off x="10429875" y="276225"/>
            <a:ext cx="40853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CH05</a:t>
            </a:r>
            <a:endParaRPr lang="en-US" sz="1125" dirty="0"/>
          </a:p>
        </p:txBody>
      </p:sp>
      <p:sp>
        <p:nvSpPr>
          <p:cNvPr id="34" name="Text 18"/>
          <p:cNvSpPr/>
          <p:nvPr/>
        </p:nvSpPr>
        <p:spPr>
          <a:xfrm>
            <a:off x="466725" y="6629400"/>
            <a:ext cx="1714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  <p:sp>
        <p:nvSpPr>
          <p:cNvPr id="35" name="Text 19"/>
          <p:cNvSpPr/>
          <p:nvPr/>
        </p:nvSpPr>
        <p:spPr>
          <a:xfrm>
            <a:off x="10145464" y="6657975"/>
            <a:ext cx="38754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6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pPr algn="ctr" indent="0" marL="0">
              <a:lnSpc>
                <a:spcPts val="600"/>
              </a:lnSpc>
              <a:buNone/>
            </a:pPr>
            <a:r>
              <a:rPr lang="en-US" sz="6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600"/>
              </a:lnSpc>
              <a:buNone/>
            </a:pPr>
            <a:r>
              <a:rPr lang="en-US" sz="6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WOLED</a:t>
            </a:r>
            <a:endParaRPr lang="en-US" sz="600" dirty="0"/>
          </a:p>
        </p:txBody>
      </p:sp>
      <p:sp>
        <p:nvSpPr>
          <p:cNvPr id="36" name="Text 20"/>
          <p:cNvSpPr/>
          <p:nvPr/>
        </p:nvSpPr>
        <p:spPr>
          <a:xfrm>
            <a:off x="11005096" y="6657975"/>
            <a:ext cx="335161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600"/>
              </a:lnSpc>
              <a:buNone/>
            </a:pPr>
            <a:r>
              <a:rPr lang="en-US" sz="6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pPr algn="ctr" indent="0" marL="0">
              <a:lnSpc>
                <a:spcPts val="600"/>
              </a:lnSpc>
              <a:buNone/>
            </a:pPr>
            <a:r>
              <a:rPr lang="en-US" sz="6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600"/>
              </a:lnSpc>
              <a:buNone/>
            </a:pPr>
            <a:r>
              <a:rPr lang="en-US" sz="6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OLED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1919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675" y="4498777"/>
            <a:ext cx="1231255" cy="42505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380" y="4491930"/>
            <a:ext cx="463153" cy="44574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0290" y="2585442"/>
            <a:ext cx="1072753" cy="94639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9765" y="2736205"/>
            <a:ext cx="1267867" cy="630882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4580" y="2557909"/>
            <a:ext cx="1060698" cy="94639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2165" y="2599134"/>
            <a:ext cx="1109365" cy="905173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8086" y="2729359"/>
            <a:ext cx="1389757" cy="665113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659" y="2551063"/>
            <a:ext cx="1109365" cy="1008013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09671" y="185142"/>
            <a:ext cx="304800" cy="301675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228600" y="123825"/>
            <a:ext cx="1196340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제목 : OpenProject와 GitLab 연결의 이점</a:t>
            </a:r>
            <a:endParaRPr lang="en-US" sz="2550" dirty="0"/>
          </a:p>
        </p:txBody>
      </p:sp>
      <p:sp>
        <p:nvSpPr>
          <p:cNvPr id="16" name="Text 1"/>
          <p:cNvSpPr/>
          <p:nvPr/>
        </p:nvSpPr>
        <p:spPr>
          <a:xfrm>
            <a:off x="1447800" y="4514850"/>
            <a:ext cx="4316611" cy="10724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15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요구사항-코드 추적성 확보</a:t>
            </a:r>
            <a:pPr indent="0" marL="0">
              <a:lnSpc>
                <a:spcPts val="2815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815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일감과 MR을 직접 연결</a:t>
            </a:r>
            <a:pPr indent="0" marL="0">
              <a:lnSpc>
                <a:spcPts val="2815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815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표준화된 브랜치명 형식(‘op-123’) 사용</a:t>
            </a:r>
            <a:endParaRPr lang="en-US" sz="2025" dirty="0"/>
          </a:p>
        </p:txBody>
      </p:sp>
      <p:sp>
        <p:nvSpPr>
          <p:cNvPr id="17" name="Text 2"/>
          <p:cNvSpPr/>
          <p:nvPr/>
        </p:nvSpPr>
        <p:spPr>
          <a:xfrm>
            <a:off x="352425" y="742950"/>
            <a:ext cx="802386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가시성과 개발 추적성을 위한 핵심 통합 전략</a:t>
            </a:r>
            <a:endParaRPr lang="en-US" sz="1950" dirty="0"/>
          </a:p>
        </p:txBody>
      </p:sp>
      <p:sp>
        <p:nvSpPr>
          <p:cNvPr id="18" name="Text 3"/>
          <p:cNvSpPr/>
          <p:nvPr/>
        </p:nvSpPr>
        <p:spPr>
          <a:xfrm>
            <a:off x="6500813" y="5267325"/>
            <a:ext cx="1362075" cy="3854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 없이</a:t>
            </a:r>
            <a:pPr algn="ctr"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OpenProject에서</a:t>
            </a:r>
            <a:endParaRPr lang="en-US" sz="1275" dirty="0"/>
          </a:p>
        </p:txBody>
      </p:sp>
      <p:sp>
        <p:nvSpPr>
          <p:cNvPr id="19" name="Text 4"/>
          <p:cNvSpPr/>
          <p:nvPr/>
        </p:nvSpPr>
        <p:spPr>
          <a:xfrm>
            <a:off x="2768352" y="1895475"/>
            <a:ext cx="911423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이점</a:t>
            </a:r>
            <a:endParaRPr lang="en-US" sz="1500" dirty="0"/>
          </a:p>
        </p:txBody>
      </p:sp>
      <p:sp>
        <p:nvSpPr>
          <p:cNvPr id="20" name="Text 5"/>
          <p:cNvSpPr/>
          <p:nvPr/>
        </p:nvSpPr>
        <p:spPr>
          <a:xfrm>
            <a:off x="8367712" y="1895475"/>
            <a:ext cx="1152525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및 정책</a:t>
            </a:r>
            <a:endParaRPr lang="en-US" sz="1500" dirty="0"/>
          </a:p>
        </p:txBody>
      </p:sp>
      <p:sp>
        <p:nvSpPr>
          <p:cNvPr id="21" name="Text 6"/>
          <p:cNvSpPr/>
          <p:nvPr/>
        </p:nvSpPr>
        <p:spPr>
          <a:xfrm>
            <a:off x="10953750" y="190500"/>
            <a:ext cx="984796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B500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B500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B500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7286" y="5664696"/>
            <a:ext cx="609600" cy="115207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796" y="6652171"/>
            <a:ext cx="292596" cy="20568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098" y="1961257"/>
            <a:ext cx="11301859" cy="4142184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28600" y="190500"/>
            <a:ext cx="11963400" cy="3400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흐름: MR, protected branch, approval, Wiki, OpenProject</a:t>
            </a:r>
            <a:endParaRPr lang="en-US" sz="2250" dirty="0"/>
          </a:p>
        </p:txBody>
      </p:sp>
      <p:sp>
        <p:nvSpPr>
          <p:cNvPr id="9" name="Text 1"/>
          <p:cNvSpPr/>
          <p:nvPr/>
        </p:nvSpPr>
        <p:spPr>
          <a:xfrm>
            <a:off x="352425" y="742950"/>
            <a:ext cx="10896600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헤드라인 / Headline CH05 실습: Git 프로젝트 관리 정책 운영</a:t>
            </a:r>
            <a:endParaRPr lang="en-US" sz="1650" dirty="0"/>
          </a:p>
        </p:txBody>
      </p:sp>
      <p:sp>
        <p:nvSpPr>
          <p:cNvPr id="10" name="Text 2"/>
          <p:cNvSpPr/>
          <p:nvPr/>
        </p:nvSpPr>
        <p:spPr>
          <a:xfrm>
            <a:off x="9496425" y="190500"/>
            <a:ext cx="1498253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676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협티업을 입력해 주세요</a:t>
            </a:r>
            <a:endParaRPr lang="en-US" sz="1125" dirty="0"/>
          </a:p>
        </p:txBody>
      </p:sp>
      <p:sp>
        <p:nvSpPr>
          <p:cNvPr id="11" name="Text 3"/>
          <p:cNvSpPr/>
          <p:nvPr/>
        </p:nvSpPr>
        <p:spPr>
          <a:xfrm>
            <a:off x="10953750" y="190500"/>
            <a:ext cx="1037183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676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676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676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  <p:sp>
        <p:nvSpPr>
          <p:cNvPr id="12" name="Text 4"/>
          <p:cNvSpPr/>
          <p:nvPr/>
        </p:nvSpPr>
        <p:spPr>
          <a:xfrm>
            <a:off x="466725" y="6638925"/>
            <a:ext cx="1714500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  <p:sp>
        <p:nvSpPr>
          <p:cNvPr id="13" name="Text 5"/>
          <p:cNvSpPr/>
          <p:nvPr/>
        </p:nvSpPr>
        <p:spPr>
          <a:xfrm>
            <a:off x="5876925" y="6705600"/>
            <a:ext cx="419100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9017"/>
            <a:ext cx="292596" cy="19883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5192" y="3826669"/>
            <a:ext cx="743694" cy="79548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055" y="3826669"/>
            <a:ext cx="780157" cy="795486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271" y="3833515"/>
            <a:ext cx="780157" cy="77494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5192" y="2201317"/>
            <a:ext cx="767953" cy="69264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4055" y="2167086"/>
            <a:ext cx="780157" cy="767953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228600" y="142875"/>
            <a:ext cx="10938510" cy="374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45"/>
              </a:lnSpc>
              <a:buNone/>
            </a:pPr>
            <a:r>
              <a:rPr lang="en-US" sz="24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실패 시나리오: 권한, 승인, merge, 연동</a:t>
            </a:r>
            <a:endParaRPr lang="en-US" sz="2475" dirty="0"/>
          </a:p>
        </p:txBody>
      </p:sp>
      <p:sp>
        <p:nvSpPr>
          <p:cNvPr id="12" name="Text 1"/>
          <p:cNvSpPr/>
          <p:nvPr/>
        </p:nvSpPr>
        <p:spPr>
          <a:xfrm>
            <a:off x="352425" y="742950"/>
            <a:ext cx="861822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 운영 상의 주요 실패 사례 및 해결 방안</a:t>
            </a:r>
            <a:endParaRPr lang="en-US" sz="1950" dirty="0"/>
          </a:p>
        </p:txBody>
      </p:sp>
      <p:sp>
        <p:nvSpPr>
          <p:cNvPr id="13" name="Text 2"/>
          <p:cNvSpPr/>
          <p:nvPr/>
        </p:nvSpPr>
        <p:spPr>
          <a:xfrm>
            <a:off x="2456408" y="5372100"/>
            <a:ext cx="7355086" cy="6134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권한, 승인, 브랜치 보호를 유기적으로 통합 설계하여</a:t>
            </a:r>
            <a:pPr algn="ctr"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415"/>
              </a:lnSpc>
              <a:buNone/>
            </a:pPr>
            <a:r>
              <a:rPr lang="en-US" sz="1725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시스템적인 보호~장치를 마련하는 것이 안정적 운영의 핵심입니다.</a:t>
            </a:r>
            <a:endParaRPr lang="en-US" sz="1725" dirty="0"/>
          </a:p>
        </p:txBody>
      </p:sp>
      <p:sp>
        <p:nvSpPr>
          <p:cNvPr id="14" name="Text 3"/>
          <p:cNvSpPr/>
          <p:nvPr/>
        </p:nvSpPr>
        <p:spPr>
          <a:xfrm>
            <a:off x="1933575" y="2085975"/>
            <a:ext cx="2336453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Merge 버튼 비활성화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분석</a:t>
            </a:r>
            <a:endParaRPr lang="en-US" sz="1650" dirty="0"/>
          </a:p>
        </p:txBody>
      </p:sp>
      <p:sp>
        <p:nvSpPr>
          <p:cNvPr id="15" name="Text 4"/>
          <p:cNvSpPr/>
          <p:nvPr/>
        </p:nvSpPr>
        <p:spPr>
          <a:xfrm>
            <a:off x="5591175" y="2143125"/>
            <a:ext cx="2022128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 불만 시 접근법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분석</a:t>
            </a:r>
            <a:endParaRPr lang="en-US" sz="1650" dirty="0"/>
          </a:p>
        </p:txBody>
      </p:sp>
      <p:sp>
        <p:nvSpPr>
          <p:cNvPr id="16" name="Text 5"/>
          <p:cNvSpPr/>
          <p:nvPr/>
        </p:nvSpPr>
        <p:spPr>
          <a:xfrm>
            <a:off x="9191625" y="2114550"/>
            <a:ext cx="2294483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후 문제 발생 대응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분석</a:t>
            </a:r>
            <a:endParaRPr lang="en-US" sz="1650" dirty="0"/>
          </a:p>
        </p:txBody>
      </p:sp>
      <p:sp>
        <p:nvSpPr>
          <p:cNvPr id="17" name="Text 6"/>
          <p:cNvSpPr/>
          <p:nvPr/>
        </p:nvSpPr>
        <p:spPr>
          <a:xfrm>
            <a:off x="1933575" y="3686175"/>
            <a:ext cx="1770608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 브랜치 파손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예방 설계</a:t>
            </a:r>
            <a:endParaRPr lang="en-US" sz="1650" dirty="0"/>
          </a:p>
        </p:txBody>
      </p:sp>
      <p:sp>
        <p:nvSpPr>
          <p:cNvPr id="18" name="Text 7"/>
          <p:cNvSpPr/>
          <p:nvPr/>
        </p:nvSpPr>
        <p:spPr>
          <a:xfrm>
            <a:off x="5591175" y="3686175"/>
            <a:ext cx="1739205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설계 관점의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원칙</a:t>
            </a:r>
            <a:endParaRPr lang="en-US" sz="1650" dirty="0"/>
          </a:p>
        </p:txBody>
      </p:sp>
      <p:sp>
        <p:nvSpPr>
          <p:cNvPr id="19" name="Text 8"/>
          <p:cNvSpPr/>
          <p:nvPr/>
        </p:nvSpPr>
        <p:spPr>
          <a:xfrm>
            <a:off x="9191625" y="3686175"/>
            <a:ext cx="1414463" cy="5825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시나리오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교훈</a:t>
            </a:r>
            <a:endParaRPr lang="en-US" sz="1650" dirty="0"/>
          </a:p>
        </p:txBody>
      </p:sp>
      <p:sp>
        <p:nvSpPr>
          <p:cNvPr id="20" name="Text 9"/>
          <p:cNvSpPr/>
          <p:nvPr/>
        </p:nvSpPr>
        <p:spPr>
          <a:xfrm>
            <a:off x="891927" y="1800225"/>
            <a:ext cx="7322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51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Text 10"/>
          <p:cNvSpPr/>
          <p:nvPr/>
        </p:nvSpPr>
        <p:spPr>
          <a:xfrm>
            <a:off x="4491930" y="1800225"/>
            <a:ext cx="83790" cy="1852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11"/>
          <p:cNvSpPr/>
          <p:nvPr/>
        </p:nvSpPr>
        <p:spPr>
          <a:xfrm>
            <a:off x="8082855" y="1800225"/>
            <a:ext cx="83790" cy="1852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Text 12"/>
          <p:cNvSpPr/>
          <p:nvPr/>
        </p:nvSpPr>
        <p:spPr>
          <a:xfrm>
            <a:off x="891480" y="3514725"/>
            <a:ext cx="83790" cy="1852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50" dirty="0"/>
          </a:p>
        </p:txBody>
      </p:sp>
      <p:sp>
        <p:nvSpPr>
          <p:cNvPr id="24" name="Text 13"/>
          <p:cNvSpPr/>
          <p:nvPr/>
        </p:nvSpPr>
        <p:spPr>
          <a:xfrm>
            <a:off x="4491930" y="3514725"/>
            <a:ext cx="83790" cy="1852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50" dirty="0"/>
          </a:p>
        </p:txBody>
      </p:sp>
      <p:sp>
        <p:nvSpPr>
          <p:cNvPr id="25" name="Text 14"/>
          <p:cNvSpPr/>
          <p:nvPr/>
        </p:nvSpPr>
        <p:spPr>
          <a:xfrm>
            <a:off x="8082855" y="3514725"/>
            <a:ext cx="83790" cy="1852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050" dirty="0"/>
          </a:p>
        </p:txBody>
      </p:sp>
      <p:sp>
        <p:nvSpPr>
          <p:cNvPr id="26" name="Text 15"/>
          <p:cNvSpPr/>
          <p:nvPr/>
        </p:nvSpPr>
        <p:spPr>
          <a:xfrm>
            <a:off x="2209800" y="2752725"/>
            <a:ext cx="292608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권한·승인·파이프라인·통합</a:t>
            </a:r>
            <a:endParaRPr lang="en-US" sz="1200" dirty="0"/>
          </a:p>
        </p:txBody>
      </p:sp>
      <p:sp>
        <p:nvSpPr>
          <p:cNvPr id="27" name="Text 16"/>
          <p:cNvSpPr/>
          <p:nvPr/>
        </p:nvSpPr>
        <p:spPr>
          <a:xfrm>
            <a:off x="5648325" y="2524125"/>
            <a:ext cx="1917353" cy="4307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권한 불만 전 프로세스</a:t>
            </a:r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병목 원인 파악</a:t>
            </a:r>
            <a:endParaRPr lang="en-US" sz="1425" dirty="0"/>
          </a:p>
        </p:txBody>
      </p:sp>
      <p:sp>
        <p:nvSpPr>
          <p:cNvPr id="28" name="Text 17"/>
          <p:cNvSpPr/>
          <p:nvPr/>
        </p:nvSpPr>
        <p:spPr>
          <a:xfrm>
            <a:off x="9248775" y="2552700"/>
            <a:ext cx="2022128" cy="4307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승인 기록으로 책임 추적</a:t>
            </a:r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원인 분석</a:t>
            </a:r>
            <a:endParaRPr lang="en-US" sz="1425" dirty="0"/>
          </a:p>
        </p:txBody>
      </p:sp>
      <p:sp>
        <p:nvSpPr>
          <p:cNvPr id="29" name="Text 18"/>
          <p:cNvSpPr/>
          <p:nvPr/>
        </p:nvSpPr>
        <p:spPr>
          <a:xfrm>
            <a:off x="1990725" y="4324350"/>
            <a:ext cx="1990725" cy="4307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Protected Branch로</a:t>
            </a:r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Push 차단</a:t>
            </a:r>
            <a:endParaRPr lang="en-US" sz="1425" dirty="0"/>
          </a:p>
        </p:txBody>
      </p:sp>
      <p:sp>
        <p:nvSpPr>
          <p:cNvPr id="30" name="Text 19"/>
          <p:cNvSpPr/>
          <p:nvPr/>
        </p:nvSpPr>
        <p:spPr>
          <a:xfrm>
            <a:off x="5648325" y="4324350"/>
            <a:ext cx="2294483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사람 동기가 아닌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시스템적 보호 장치로 접근</a:t>
            </a:r>
            <a:endParaRPr lang="en-US" sz="1500" dirty="0"/>
          </a:p>
        </p:txBody>
      </p:sp>
      <p:sp>
        <p:nvSpPr>
          <p:cNvPr id="31" name="Text 20"/>
          <p:cNvSpPr/>
          <p:nvPr/>
        </p:nvSpPr>
        <p:spPr>
          <a:xfrm>
            <a:off x="9248775" y="4324350"/>
            <a:ext cx="2074515" cy="3854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권한·승인·브랜치 보호를</a:t>
            </a:r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설계해야 안정적</a:t>
            </a:r>
            <a:endParaRPr lang="en-US" sz="1275" dirty="0"/>
          </a:p>
        </p:txBody>
      </p:sp>
      <p:sp>
        <p:nvSpPr>
          <p:cNvPr id="32" name="Text 21"/>
          <p:cNvSpPr/>
          <p:nvPr/>
        </p:nvSpPr>
        <p:spPr>
          <a:xfrm>
            <a:off x="10410825" y="171450"/>
            <a:ext cx="1582043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26"/>
              </a:lnSpc>
              <a:buNone/>
            </a:pPr>
            <a:r>
              <a:rPr lang="en-US" sz="1125" b="1" dirty="0">
                <a:solidFill>
                  <a:srgbClr val="A02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226"/>
              </a:lnSpc>
              <a:buNone/>
            </a:pPr>
            <a:r>
              <a:rPr lang="en-US" sz="1125" b="1" dirty="0">
                <a:solidFill>
                  <a:srgbClr val="A02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226"/>
              </a:lnSpc>
              <a:buNone/>
            </a:pPr>
            <a:r>
              <a:rPr lang="en-US" sz="1125" b="1" dirty="0">
                <a:solidFill>
                  <a:srgbClr val="A02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  <p:sp>
        <p:nvSpPr>
          <p:cNvPr id="33" name="Text 22"/>
          <p:cNvSpPr/>
          <p:nvPr/>
        </p:nvSpPr>
        <p:spPr>
          <a:xfrm>
            <a:off x="1028700" y="2457450"/>
            <a:ext cx="1543050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76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Merge</a:t>
            </a:r>
            <a:endParaRPr lang="en-US" sz="1125" dirty="0"/>
          </a:p>
        </p:txBody>
      </p:sp>
      <p:sp>
        <p:nvSpPr>
          <p:cNvPr id="34" name="Text 23"/>
          <p:cNvSpPr/>
          <p:nvPr/>
        </p:nvSpPr>
        <p:spPr>
          <a:xfrm>
            <a:off x="8582025" y="266700"/>
            <a:ext cx="2514600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45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05: GitLab 운영 모범 사례</a:t>
            </a:r>
            <a:endParaRPr lang="en-US" sz="1050" dirty="0"/>
          </a:p>
        </p:txBody>
      </p:sp>
      <p:sp>
        <p:nvSpPr>
          <p:cNvPr id="35" name="Text 24"/>
          <p:cNvSpPr/>
          <p:nvPr/>
        </p:nvSpPr>
        <p:spPr>
          <a:xfrm>
            <a:off x="228600" y="6638925"/>
            <a:ext cx="171450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26"/>
              </a:lnSpc>
              <a:buNone/>
            </a:pPr>
            <a:r>
              <a:rPr lang="en-US" sz="1125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  <p:sp>
        <p:nvSpPr>
          <p:cNvPr id="36" name="Text 25"/>
          <p:cNvSpPr/>
          <p:nvPr/>
        </p:nvSpPr>
        <p:spPr>
          <a:xfrm>
            <a:off x="9997380" y="6667500"/>
            <a:ext cx="502890" cy="2384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938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pPr algn="ctr" indent="0" marL="0">
              <a:lnSpc>
                <a:spcPts val="938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938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WOLED</a:t>
            </a:r>
            <a:endParaRPr lang="en-US" sz="675" dirty="0"/>
          </a:p>
        </p:txBody>
      </p:sp>
      <p:sp>
        <p:nvSpPr>
          <p:cNvPr id="37" name="Text 26"/>
          <p:cNvSpPr/>
          <p:nvPr/>
        </p:nvSpPr>
        <p:spPr>
          <a:xfrm>
            <a:off x="10716518" y="6667500"/>
            <a:ext cx="607665" cy="2384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938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pPr algn="ctr" indent="0" marL="0">
              <a:lnSpc>
                <a:spcPts val="938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938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OLED</a:t>
            </a:r>
            <a:endParaRPr lang="en-US" sz="675" dirty="0"/>
          </a:p>
        </p:txBody>
      </p:sp>
      <p:sp>
        <p:nvSpPr>
          <p:cNvPr id="38" name="Text 27"/>
          <p:cNvSpPr/>
          <p:nvPr/>
        </p:nvSpPr>
        <p:spPr>
          <a:xfrm>
            <a:off x="5871567" y="6705600"/>
            <a:ext cx="534293" cy="1105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71"/>
              </a:lnSpc>
              <a:buNone/>
            </a:pPr>
            <a:r>
              <a:rPr lang="en-US" sz="675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6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1919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071" y="4800600"/>
            <a:ext cx="1072753" cy="83656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1561" y="4793605"/>
            <a:ext cx="609600" cy="76795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8659" y="4793605"/>
            <a:ext cx="865584" cy="72687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9482" y="4786759"/>
            <a:ext cx="2889498" cy="91886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067" y="4581079"/>
            <a:ext cx="2840682" cy="1261765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285750" y="142875"/>
            <a:ext cx="11906250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13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CH05 요약: GitLab은 협업 운영과 통제의 레이어다</a:t>
            </a:r>
            <a:endParaRPr lang="en-US" sz="2700" dirty="0"/>
          </a:p>
        </p:txBody>
      </p:sp>
      <p:sp>
        <p:nvSpPr>
          <p:cNvPr id="12" name="Text 1"/>
          <p:cNvSpPr/>
          <p:nvPr/>
        </p:nvSpPr>
        <p:spPr>
          <a:xfrm>
            <a:off x="1553468" y="2790825"/>
            <a:ext cx="1445865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0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및 권한</a:t>
            </a:r>
            <a:endParaRPr lang="en-US" sz="2100" dirty="0"/>
          </a:p>
        </p:txBody>
      </p:sp>
      <p:sp>
        <p:nvSpPr>
          <p:cNvPr id="13" name="Text 2"/>
          <p:cNvSpPr/>
          <p:nvPr/>
        </p:nvSpPr>
        <p:spPr>
          <a:xfrm>
            <a:off x="5343971" y="2790825"/>
            <a:ext cx="1456283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0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절차 및 검토</a:t>
            </a:r>
            <a:endParaRPr lang="en-US" sz="2100" dirty="0"/>
          </a:p>
        </p:txBody>
      </p:sp>
      <p:sp>
        <p:nvSpPr>
          <p:cNvPr id="14" name="Text 3"/>
          <p:cNvSpPr/>
          <p:nvPr/>
        </p:nvSpPr>
        <p:spPr>
          <a:xfrm>
            <a:off x="8858696" y="2790825"/>
            <a:ext cx="2084933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0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관리 및 예고</a:t>
            </a:r>
            <a:endParaRPr lang="en-US" sz="2100" dirty="0"/>
          </a:p>
        </p:txBody>
      </p:sp>
      <p:sp>
        <p:nvSpPr>
          <p:cNvPr id="15" name="Text 4"/>
          <p:cNvSpPr/>
          <p:nvPr/>
        </p:nvSpPr>
        <p:spPr>
          <a:xfrm>
            <a:off x="5573018" y="2057400"/>
            <a:ext cx="1026765" cy="282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포인트</a:t>
            </a:r>
            <a:endParaRPr lang="en-US" sz="1725" dirty="0"/>
          </a:p>
        </p:txBody>
      </p:sp>
      <p:sp>
        <p:nvSpPr>
          <p:cNvPr id="16" name="Text 5"/>
          <p:cNvSpPr/>
          <p:nvPr/>
        </p:nvSpPr>
        <p:spPr>
          <a:xfrm>
            <a:off x="762000" y="3276600"/>
            <a:ext cx="3426023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역할 매트릭스: 책임 기반 권한 설계</a:t>
            </a:r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(실력 아닌 운영 책임 기준)</a:t>
            </a:r>
            <a:endParaRPr lang="en-US" sz="1725" dirty="0"/>
          </a:p>
        </p:txBody>
      </p:sp>
      <p:sp>
        <p:nvSpPr>
          <p:cNvPr id="17" name="Text 6"/>
          <p:cNvSpPr/>
          <p:nvPr/>
        </p:nvSpPr>
        <p:spPr>
          <a:xfrm>
            <a:off x="762000" y="3895725"/>
            <a:ext cx="3488978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45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Protected Branch: main/release</a:t>
            </a:r>
            <a:pPr indent="0" marL="0">
              <a:lnSpc>
                <a:spcPts val="1645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45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 직접 Push 차단 및 MR 강제</a:t>
            </a:r>
            <a:endParaRPr lang="en-US" sz="1275" dirty="0"/>
          </a:p>
        </p:txBody>
      </p:sp>
      <p:sp>
        <p:nvSpPr>
          <p:cNvPr id="18" name="Text 7"/>
          <p:cNvSpPr/>
          <p:nvPr/>
        </p:nvSpPr>
        <p:spPr>
          <a:xfrm>
            <a:off x="4686300" y="3276600"/>
            <a:ext cx="3258443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Approval Rule: 동료 리뷰 의무화,</a:t>
            </a:r>
            <a:pPr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승인 인원 지정</a:t>
            </a:r>
            <a:endParaRPr lang="en-US" sz="1500" dirty="0"/>
          </a:p>
        </p:txBody>
      </p:sp>
      <p:sp>
        <p:nvSpPr>
          <p:cNvPr id="19" name="Text 8"/>
          <p:cNvSpPr/>
          <p:nvPr/>
        </p:nvSpPr>
        <p:spPr>
          <a:xfrm>
            <a:off x="4686300" y="3895725"/>
            <a:ext cx="2912715" cy="77420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MR 라이프사이클:</a:t>
            </a:r>
            <a:pPr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Push → MR → 리뷰 → 승인 →</a:t>
            </a:r>
            <a:pPr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Merge 8단계 표준 절차</a:t>
            </a:r>
            <a:endParaRPr lang="en-US" sz="1575" dirty="0"/>
          </a:p>
        </p:txBody>
      </p:sp>
      <p:sp>
        <p:nvSpPr>
          <p:cNvPr id="20" name="Text 9"/>
          <p:cNvSpPr/>
          <p:nvPr/>
        </p:nvSpPr>
        <p:spPr>
          <a:xfrm>
            <a:off x="8420100" y="3276600"/>
            <a:ext cx="3415605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Wiki vs 저장소 문서: 운영 가이드와</a:t>
            </a:r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연동 문서의 목적별 관리</a:t>
            </a:r>
            <a:endParaRPr lang="en-US" sz="1725" dirty="0"/>
          </a:p>
        </p:txBody>
      </p:sp>
      <p:sp>
        <p:nvSpPr>
          <p:cNvPr id="21" name="Text 10"/>
          <p:cNvSpPr/>
          <p:nvPr/>
        </p:nvSpPr>
        <p:spPr>
          <a:xfrm>
            <a:off x="8420100" y="3895725"/>
            <a:ext cx="3499396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다음 장 예고: CH06 실습</a:t>
            </a:r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(브랜치 충돌 생성, 해결, 안전한 물백)</a:t>
            </a:r>
            <a:endParaRPr lang="en-US" sz="1725" dirty="0"/>
          </a:p>
        </p:txBody>
      </p:sp>
      <p:sp>
        <p:nvSpPr>
          <p:cNvPr id="22" name="Text 11"/>
          <p:cNvSpPr/>
          <p:nvPr/>
        </p:nvSpPr>
        <p:spPr>
          <a:xfrm>
            <a:off x="8851553" y="5629275"/>
            <a:ext cx="356146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Wiki</a:t>
            </a:r>
            <a:endParaRPr lang="en-US" sz="1050" dirty="0"/>
          </a:p>
        </p:txBody>
      </p:sp>
      <p:sp>
        <p:nvSpPr>
          <p:cNvPr id="23" name="Text 12"/>
          <p:cNvSpPr/>
          <p:nvPr/>
        </p:nvSpPr>
        <p:spPr>
          <a:xfrm>
            <a:off x="9522619" y="5629275"/>
            <a:ext cx="890588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Repo Docs</a:t>
            </a:r>
            <a:endParaRPr lang="en-US" sz="1050" dirty="0"/>
          </a:p>
        </p:txBody>
      </p:sp>
      <p:sp>
        <p:nvSpPr>
          <p:cNvPr id="24" name="Text 13"/>
          <p:cNvSpPr/>
          <p:nvPr/>
        </p:nvSpPr>
        <p:spPr>
          <a:xfrm>
            <a:off x="9858375" y="6657975"/>
            <a:ext cx="712440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51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pPr indent="0" marL="0">
              <a:lnSpc>
                <a:spcPts val="1451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51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WOLED</a:t>
            </a:r>
            <a:endParaRPr lang="en-US" sz="1125" dirty="0"/>
          </a:p>
        </p:txBody>
      </p:sp>
      <p:sp>
        <p:nvSpPr>
          <p:cNvPr id="25" name="Text 14"/>
          <p:cNvSpPr/>
          <p:nvPr/>
        </p:nvSpPr>
        <p:spPr>
          <a:xfrm>
            <a:off x="10782300" y="6657975"/>
            <a:ext cx="565696" cy="2949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61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pPr indent="0" marL="0">
              <a:lnSpc>
                <a:spcPts val="1161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161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OLED</a:t>
            </a:r>
            <a:endParaRPr lang="en-US" sz="900" dirty="0"/>
          </a:p>
        </p:txBody>
      </p:sp>
      <p:sp>
        <p:nvSpPr>
          <p:cNvPr id="26" name="Text 15"/>
          <p:cNvSpPr/>
          <p:nvPr/>
        </p:nvSpPr>
        <p:spPr>
          <a:xfrm>
            <a:off x="10896600" y="190500"/>
            <a:ext cx="1047750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1125" b="1" dirty="0">
                <a:solidFill>
                  <a:srgbClr val="CB11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Dream.</a:t>
            </a:r>
            <a:pPr algn="r" indent="0" marL="0">
              <a:lnSpc>
                <a:spcPts val="1114"/>
              </a:lnSpc>
              <a:buNone/>
            </a:pPr>
            <a:r>
              <a:rPr lang="en-US" sz="1125" b="1" dirty="0">
                <a:solidFill>
                  <a:srgbClr val="CB11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114"/>
              </a:lnSpc>
              <a:buNone/>
            </a:pPr>
            <a:r>
              <a:rPr lang="en-US" sz="1125" b="1" dirty="0">
                <a:solidFill>
                  <a:srgbClr val="CB11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2026-04-10T20:53:32Z</dcterms:created>
  <dcterms:modified xsi:type="dcterms:W3CDTF">2026-04-10T20:53:32Z</dcterms:modified>
</cp:coreProperties>
</file>